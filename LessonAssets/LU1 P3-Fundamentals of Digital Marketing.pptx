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3" r:id="rId3"/>
    <p:sldId id="264" r:id="rId4"/>
    <p:sldId id="267" r:id="rId5"/>
    <p:sldId id="269" r:id="rId6"/>
    <p:sldId id="270" r:id="rId7"/>
    <p:sldId id="271" r:id="rId8"/>
    <p:sldId id="272" r:id="rId9"/>
    <p:sldId id="274" r:id="rId10"/>
    <p:sldId id="301" r:id="rId11"/>
    <p:sldId id="273" r:id="rId12"/>
    <p:sldId id="275" r:id="rId13"/>
    <p:sldId id="276" r:id="rId14"/>
    <p:sldId id="277" r:id="rId15"/>
    <p:sldId id="278" r:id="rId16"/>
    <p:sldId id="297" r:id="rId17"/>
    <p:sldId id="302" r:id="rId18"/>
    <p:sldId id="279" r:id="rId19"/>
    <p:sldId id="280" r:id="rId20"/>
    <p:sldId id="281" r:id="rId21"/>
    <p:sldId id="282" r:id="rId22"/>
    <p:sldId id="283" r:id="rId23"/>
    <p:sldId id="284" r:id="rId24"/>
    <p:sldId id="298" r:id="rId25"/>
    <p:sldId id="303" r:id="rId26"/>
    <p:sldId id="285" r:id="rId27"/>
    <p:sldId id="286" r:id="rId28"/>
    <p:sldId id="287" r:id="rId29"/>
    <p:sldId id="299" r:id="rId30"/>
    <p:sldId id="304" r:id="rId31"/>
    <p:sldId id="288" r:id="rId32"/>
    <p:sldId id="289" r:id="rId33"/>
    <p:sldId id="290" r:id="rId34"/>
    <p:sldId id="295" r:id="rId3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CC41E"/>
    <a:srgbClr val="4FA1FB"/>
    <a:srgbClr val="90C4F4"/>
    <a:srgbClr val="0A779E"/>
    <a:srgbClr val="32C0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59" d="100"/>
          <a:sy n="59" d="100"/>
        </p:scale>
        <p:origin x="1500" y="5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4834CCB0-2B6F-4E24-A91F-C0AF8782BFC7}"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74D3A7-7D3D-4CD8-B2CB-FC4A9642F7B7}" type="slidenum">
              <a:rPr lang="en-US" smtClean="0"/>
              <a:t>‹#›</a:t>
            </a:fld>
            <a:endParaRPr lang="en-US"/>
          </a:p>
        </p:txBody>
      </p:sp>
    </p:spTree>
    <p:extLst>
      <p:ext uri="{BB962C8B-B14F-4D97-AF65-F5344CB8AC3E}">
        <p14:creationId xmlns:p14="http://schemas.microsoft.com/office/powerpoint/2010/main" val="12602667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62000"/>
          </a:xfrm>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457200" y="1066800"/>
            <a:ext cx="8229600" cy="5059363"/>
          </a:xfrm>
        </p:spPr>
        <p:txBody>
          <a:bodyPr/>
          <a:lstStyle>
            <a:lvl1pPr>
              <a:defRPr sz="2400"/>
            </a:lvl1pPr>
            <a:lvl2pPr>
              <a:defRPr sz="2000"/>
            </a:lvl2pPr>
            <a:lvl3pPr>
              <a:defRPr sz="1800"/>
            </a:lvl3pPr>
            <a:lvl4pPr>
              <a:defRPr sz="16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4834CCB0-2B6F-4E24-A91F-C0AF8782BFC7}"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74D3A7-7D3D-4CD8-B2CB-FC4A9642F7B7}" type="slidenum">
              <a:rPr lang="en-US" smtClean="0"/>
              <a:t>‹#›</a:t>
            </a:fld>
            <a:endParaRPr lang="en-US"/>
          </a:p>
        </p:txBody>
      </p:sp>
      <p:cxnSp>
        <p:nvCxnSpPr>
          <p:cNvPr id="8" name="Straight Connector 7"/>
          <p:cNvCxnSpPr/>
          <p:nvPr userDrawn="1"/>
        </p:nvCxnSpPr>
        <p:spPr>
          <a:xfrm>
            <a:off x="457200" y="849552"/>
            <a:ext cx="8229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386832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34CCB0-2B6F-4E24-A91F-C0AF8782BFC7}"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74D3A7-7D3D-4CD8-B2CB-FC4A9642F7B7}" type="slidenum">
              <a:rPr lang="en-US" smtClean="0"/>
              <a:t>‹#›</a:t>
            </a:fld>
            <a:endParaRPr lang="en-US"/>
          </a:p>
        </p:txBody>
      </p:sp>
    </p:spTree>
    <p:extLst>
      <p:ext uri="{BB962C8B-B14F-4D97-AF65-F5344CB8AC3E}">
        <p14:creationId xmlns:p14="http://schemas.microsoft.com/office/powerpoint/2010/main" val="25790026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834CCB0-2B6F-4E24-A91F-C0AF8782BFC7}" type="datetimeFigureOut">
              <a:rPr lang="en-US" smtClean="0"/>
              <a:t>6/4/2026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74D3A7-7D3D-4CD8-B2CB-FC4A9642F7B7}" type="slidenum">
              <a:rPr lang="en-US" smtClean="0"/>
              <a:t>‹#›</a:t>
            </a:fld>
            <a:endParaRPr lang="en-US"/>
          </a:p>
        </p:txBody>
      </p:sp>
    </p:spTree>
    <p:extLst>
      <p:ext uri="{BB962C8B-B14F-4D97-AF65-F5344CB8AC3E}">
        <p14:creationId xmlns:p14="http://schemas.microsoft.com/office/powerpoint/2010/main" val="35625984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834CCB0-2B6F-4E24-A91F-C0AF8782BFC7}" type="datetimeFigureOut">
              <a:rPr lang="en-US" smtClean="0"/>
              <a:t>6/4/2026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D74D3A7-7D3D-4CD8-B2CB-FC4A9642F7B7}" type="slidenum">
              <a:rPr lang="en-US" smtClean="0"/>
              <a:t>‹#›</a:t>
            </a:fld>
            <a:endParaRPr lang="en-US"/>
          </a:p>
        </p:txBody>
      </p:sp>
    </p:spTree>
    <p:extLst>
      <p:ext uri="{BB962C8B-B14F-4D97-AF65-F5344CB8AC3E}">
        <p14:creationId xmlns:p14="http://schemas.microsoft.com/office/powerpoint/2010/main" val="36552640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834CCB0-2B6F-4E24-A91F-C0AF8782BFC7}" type="datetimeFigureOut">
              <a:rPr lang="en-US" smtClean="0"/>
              <a:t>6/4/2026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D74D3A7-7D3D-4CD8-B2CB-FC4A9642F7B7}" type="slidenum">
              <a:rPr lang="en-US" smtClean="0"/>
              <a:t>‹#›</a:t>
            </a:fld>
            <a:endParaRPr lang="en-US"/>
          </a:p>
        </p:txBody>
      </p:sp>
    </p:spTree>
    <p:extLst>
      <p:ext uri="{BB962C8B-B14F-4D97-AF65-F5344CB8AC3E}">
        <p14:creationId xmlns:p14="http://schemas.microsoft.com/office/powerpoint/2010/main" val="22229348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34CCB0-2B6F-4E24-A91F-C0AF8782BFC7}" type="datetimeFigureOut">
              <a:rPr lang="en-US" smtClean="0"/>
              <a:t>6/4/2026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D74D3A7-7D3D-4CD8-B2CB-FC4A9642F7B7}" type="slidenum">
              <a:rPr lang="en-US" smtClean="0"/>
              <a:t>‹#›</a:t>
            </a:fld>
            <a:endParaRPr lang="en-US"/>
          </a:p>
        </p:txBody>
      </p:sp>
    </p:spTree>
    <p:extLst>
      <p:ext uri="{BB962C8B-B14F-4D97-AF65-F5344CB8AC3E}">
        <p14:creationId xmlns:p14="http://schemas.microsoft.com/office/powerpoint/2010/main" val="27424115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834CCB0-2B6F-4E24-A91F-C0AF8782BFC7}" type="datetimeFigureOut">
              <a:rPr lang="en-US" smtClean="0"/>
              <a:t>6/4/2026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74D3A7-7D3D-4CD8-B2CB-FC4A9642F7B7}" type="slidenum">
              <a:rPr lang="en-US" smtClean="0"/>
              <a:t>‹#›</a:t>
            </a:fld>
            <a:endParaRPr lang="en-US"/>
          </a:p>
        </p:txBody>
      </p:sp>
    </p:spTree>
    <p:extLst>
      <p:ext uri="{BB962C8B-B14F-4D97-AF65-F5344CB8AC3E}">
        <p14:creationId xmlns:p14="http://schemas.microsoft.com/office/powerpoint/2010/main" val="33268985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834CCB0-2B6F-4E24-A91F-C0AF8782BFC7}" type="datetimeFigureOut">
              <a:rPr lang="en-US" smtClean="0"/>
              <a:t>6/4/2026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74D3A7-7D3D-4CD8-B2CB-FC4A9642F7B7}" type="slidenum">
              <a:rPr lang="en-US" smtClean="0"/>
              <a:t>‹#›</a:t>
            </a:fld>
            <a:endParaRPr lang="en-US"/>
          </a:p>
        </p:txBody>
      </p:sp>
    </p:spTree>
    <p:extLst>
      <p:ext uri="{BB962C8B-B14F-4D97-AF65-F5344CB8AC3E}">
        <p14:creationId xmlns:p14="http://schemas.microsoft.com/office/powerpoint/2010/main" val="12184346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834CCB0-2B6F-4E24-A91F-C0AF8782BFC7}"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74D3A7-7D3D-4CD8-B2CB-FC4A9642F7B7}" type="slidenum">
              <a:rPr lang="en-US" smtClean="0"/>
              <a:t>‹#›</a:t>
            </a:fld>
            <a:endParaRPr lang="en-US"/>
          </a:p>
        </p:txBody>
      </p:sp>
    </p:spTree>
    <p:extLst>
      <p:ext uri="{BB962C8B-B14F-4D97-AF65-F5344CB8AC3E}">
        <p14:creationId xmlns:p14="http://schemas.microsoft.com/office/powerpoint/2010/main" val="17618847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834CCB0-2B6F-4E24-A91F-C0AF8782BFC7}"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74D3A7-7D3D-4CD8-B2CB-FC4A9642F7B7}" type="slidenum">
              <a:rPr lang="en-US" smtClean="0"/>
              <a:t>‹#›</a:t>
            </a:fld>
            <a:endParaRPr lang="en-US"/>
          </a:p>
        </p:txBody>
      </p:sp>
    </p:spTree>
    <p:extLst>
      <p:ext uri="{BB962C8B-B14F-4D97-AF65-F5344CB8AC3E}">
        <p14:creationId xmlns:p14="http://schemas.microsoft.com/office/powerpoint/2010/main" val="29756954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34CCB0-2B6F-4E24-A91F-C0AF8782BFC7}" type="datetimeFigureOut">
              <a:rPr lang="en-US" smtClean="0"/>
              <a:t>6/4/2026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74D3A7-7D3D-4CD8-B2CB-FC4A9642F7B7}" type="slidenum">
              <a:rPr lang="en-US" smtClean="0"/>
              <a:t>‹#›</a:t>
            </a:fld>
            <a:endParaRPr lang="en-US"/>
          </a:p>
        </p:txBody>
      </p:sp>
    </p:spTree>
    <p:extLst>
      <p:ext uri="{BB962C8B-B14F-4D97-AF65-F5344CB8AC3E}">
        <p14:creationId xmlns:p14="http://schemas.microsoft.com/office/powerpoint/2010/main" val="39527888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www.skype.com/en" TargetMode="External"/><Relationship Id="rId2" Type="http://schemas.openxmlformats.org/officeDocument/2006/relationships/hyperlink" Target="https://hangouts.google.com/" TargetMode="Externa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hyperlink" Target="http://www.gotomeeting.com/"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www.wufoo.com/" TargetMode="External"/><Relationship Id="rId2" Type="http://schemas.openxmlformats.org/officeDocument/2006/relationships/hyperlink" Target="http://www.surveymonkey.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Digital Marketing Essentials</a:t>
            </a:r>
          </a:p>
        </p:txBody>
      </p:sp>
      <p:sp>
        <p:nvSpPr>
          <p:cNvPr id="3" name="Subtitle 2"/>
          <p:cNvSpPr>
            <a:spLocks noGrp="1"/>
          </p:cNvSpPr>
          <p:nvPr>
            <p:ph type="subTitle" idx="1"/>
          </p:nvPr>
        </p:nvSpPr>
        <p:spPr/>
        <p:txBody>
          <a:bodyPr/>
          <a:lstStyle/>
          <a:p>
            <a:r>
              <a:rPr lang="en-US" dirty="0"/>
              <a:t>Part 3: Market Research</a:t>
            </a:r>
          </a:p>
        </p:txBody>
      </p:sp>
    </p:spTree>
    <p:extLst>
      <p:ext uri="{BB962C8B-B14F-4D97-AF65-F5344CB8AC3E}">
        <p14:creationId xmlns:p14="http://schemas.microsoft.com/office/powerpoint/2010/main" val="19413332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Learning Objectives</a:t>
            </a:r>
          </a:p>
        </p:txBody>
      </p:sp>
      <p:sp>
        <p:nvSpPr>
          <p:cNvPr id="3" name="Content Placeholder 2"/>
          <p:cNvSpPr>
            <a:spLocks noGrp="1"/>
          </p:cNvSpPr>
          <p:nvPr>
            <p:ph idx="1"/>
          </p:nvPr>
        </p:nvSpPr>
        <p:spPr/>
        <p:txBody>
          <a:bodyPr/>
          <a:lstStyle/>
          <a:p>
            <a:pPr marL="0" lvl="0" indent="0">
              <a:buNone/>
            </a:pPr>
            <a:r>
              <a:rPr lang="en-US" dirty="0">
                <a:solidFill>
                  <a:schemeClr val="accent6"/>
                </a:solidFill>
              </a:rPr>
              <a:t>At the end of this session, you will be able to </a:t>
            </a:r>
          </a:p>
          <a:p>
            <a:pPr lvl="0"/>
            <a:r>
              <a:rPr lang="en-US" dirty="0"/>
              <a:t>Understand why online market research is crucial to any marketing endeavor</a:t>
            </a:r>
          </a:p>
          <a:p>
            <a:pPr lvl="0"/>
            <a:r>
              <a:rPr lang="en-US" dirty="0"/>
              <a:t>Understand the most important concepts you need to know in order to start conducting research</a:t>
            </a:r>
          </a:p>
          <a:p>
            <a:pPr lvl="0"/>
            <a:r>
              <a:rPr lang="en-US" dirty="0"/>
              <a:t>User several methods for conducting online research, including surveys, online focus groups and online monitoring</a:t>
            </a:r>
          </a:p>
          <a:p>
            <a:pPr lvl="0"/>
            <a:r>
              <a:rPr lang="en-US" dirty="0"/>
              <a:t>Discuss what problems and pitfalls to avoid when researching online</a:t>
            </a:r>
          </a:p>
        </p:txBody>
      </p:sp>
    </p:spTree>
    <p:extLst>
      <p:ext uri="{BB962C8B-B14F-4D97-AF65-F5344CB8AC3E}">
        <p14:creationId xmlns:p14="http://schemas.microsoft.com/office/powerpoint/2010/main" val="40053589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Importance of Market Research</a:t>
            </a:r>
          </a:p>
        </p:txBody>
      </p:sp>
      <p:sp>
        <p:nvSpPr>
          <p:cNvPr id="3" name="Content Placeholder 2"/>
          <p:cNvSpPr>
            <a:spLocks noGrp="1"/>
          </p:cNvSpPr>
          <p:nvPr>
            <p:ph idx="1"/>
          </p:nvPr>
        </p:nvSpPr>
        <p:spPr/>
        <p:txBody>
          <a:bodyPr/>
          <a:lstStyle/>
          <a:p>
            <a:r>
              <a:rPr lang="en-US" dirty="0"/>
              <a:t>Why do we conduct market research?</a:t>
            </a:r>
          </a:p>
          <a:p>
            <a:pPr lvl="1"/>
            <a:r>
              <a:rPr lang="en-US" dirty="0"/>
              <a:t>To understand current trends</a:t>
            </a:r>
          </a:p>
          <a:p>
            <a:pPr lvl="1"/>
            <a:r>
              <a:rPr lang="en-US" dirty="0"/>
              <a:t>To understand customer needs</a:t>
            </a:r>
          </a:p>
          <a:p>
            <a:pPr lvl="1"/>
            <a:r>
              <a:rPr lang="en-US" dirty="0"/>
              <a:t>To get to know popular opinions</a:t>
            </a:r>
          </a:p>
          <a:p>
            <a:pPr lvl="1"/>
            <a:r>
              <a:rPr lang="en-US" dirty="0"/>
              <a:t>To understand our competitors</a:t>
            </a:r>
          </a:p>
        </p:txBody>
      </p:sp>
      <p:pic>
        <p:nvPicPr>
          <p:cNvPr id="1026" name="Picture 2" descr="http://www.marketresearchlatinamerica.com/wp-content/market-research-methods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3581400"/>
            <a:ext cx="2895600" cy="23622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533400" y="4114800"/>
            <a:ext cx="4572000" cy="1477328"/>
          </a:xfrm>
          <a:prstGeom prst="rect">
            <a:avLst/>
          </a:prstGeom>
          <a:ln>
            <a:solidFill>
              <a:schemeClr val="accent1"/>
            </a:solidFill>
          </a:ln>
        </p:spPr>
        <p:txBody>
          <a:bodyPr>
            <a:spAutoFit/>
          </a:bodyPr>
          <a:lstStyle/>
          <a:p>
            <a:r>
              <a:rPr lang="en-US" dirty="0"/>
              <a:t>Market research involves systematically gathering, recording and analyzing data about customers, competitors and the market, and turning this data into insight that can drive marketing strategies and campaigns.</a:t>
            </a:r>
          </a:p>
        </p:txBody>
      </p:sp>
    </p:spTree>
    <p:extLst>
      <p:ext uri="{BB962C8B-B14F-4D97-AF65-F5344CB8AC3E}">
        <p14:creationId xmlns:p14="http://schemas.microsoft.com/office/powerpoint/2010/main" val="23542074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Online Market Research</a:t>
            </a:r>
          </a:p>
        </p:txBody>
      </p:sp>
      <p:sp>
        <p:nvSpPr>
          <p:cNvPr id="3" name="Content Placeholder 2"/>
          <p:cNvSpPr>
            <a:spLocks noGrp="1"/>
          </p:cNvSpPr>
          <p:nvPr>
            <p:ph idx="1"/>
          </p:nvPr>
        </p:nvSpPr>
        <p:spPr/>
        <p:txBody>
          <a:bodyPr/>
          <a:lstStyle/>
          <a:p>
            <a:r>
              <a:rPr lang="en-US" dirty="0"/>
              <a:t>The process of using digital tools, data and connections to obtain valuable insights about a brand’s target audience (learning about your audience by engaging and observing them online)</a:t>
            </a:r>
          </a:p>
          <a:p>
            <a:endParaRPr lang="en-US" dirty="0"/>
          </a:p>
        </p:txBody>
      </p:sp>
      <p:pic>
        <p:nvPicPr>
          <p:cNvPr id="3074" name="Picture 2" descr="http://www.swift-research.co.uk/images%5Cpages%5COnline_Research_Methodologies.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95800" y="3048000"/>
            <a:ext cx="3077919" cy="23050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56377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concepts in market research</a:t>
            </a:r>
          </a:p>
        </p:txBody>
      </p:sp>
      <p:sp>
        <p:nvSpPr>
          <p:cNvPr id="3" name="Content Placeholder 2"/>
          <p:cNvSpPr>
            <a:spLocks noGrp="1"/>
          </p:cNvSpPr>
          <p:nvPr>
            <p:ph idx="1"/>
          </p:nvPr>
        </p:nvSpPr>
        <p:spPr/>
        <p:txBody>
          <a:bodyPr/>
          <a:lstStyle/>
          <a:p>
            <a:pPr marL="0" indent="0">
              <a:buNone/>
            </a:pPr>
            <a:r>
              <a:rPr lang="en-US" dirty="0">
                <a:solidFill>
                  <a:schemeClr val="accent6">
                    <a:lumMod val="75000"/>
                  </a:schemeClr>
                </a:solidFill>
              </a:rPr>
              <a:t>Four Key Concepts</a:t>
            </a:r>
          </a:p>
          <a:p>
            <a:r>
              <a:rPr lang="en-US" dirty="0"/>
              <a:t>Research methodology</a:t>
            </a:r>
          </a:p>
          <a:p>
            <a:r>
              <a:rPr lang="en-US" dirty="0"/>
              <a:t>Qualitative and quantitative data</a:t>
            </a:r>
          </a:p>
          <a:p>
            <a:r>
              <a:rPr lang="en-US" dirty="0"/>
              <a:t>Primary and secondary research</a:t>
            </a:r>
          </a:p>
          <a:p>
            <a:r>
              <a:rPr lang="en-US" dirty="0"/>
              <a:t>Sampling</a:t>
            </a:r>
          </a:p>
        </p:txBody>
      </p:sp>
    </p:spTree>
    <p:extLst>
      <p:ext uri="{BB962C8B-B14F-4D97-AF65-F5344CB8AC3E}">
        <p14:creationId xmlns:p14="http://schemas.microsoft.com/office/powerpoint/2010/main" val="31880388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Research methodology</a:t>
            </a:r>
          </a:p>
        </p:txBody>
      </p:sp>
      <p:sp>
        <p:nvSpPr>
          <p:cNvPr id="3" name="Content Placeholder 2"/>
          <p:cNvSpPr>
            <a:spLocks noGrp="1"/>
          </p:cNvSpPr>
          <p:nvPr>
            <p:ph idx="1"/>
          </p:nvPr>
        </p:nvSpPr>
        <p:spPr/>
        <p:txBody>
          <a:bodyPr/>
          <a:lstStyle/>
          <a:p>
            <a:r>
              <a:rPr lang="en-US" dirty="0"/>
              <a:t>A research methodology is the process you should follow in order to conduct accurate and valuable research. </a:t>
            </a:r>
          </a:p>
          <a:p>
            <a:r>
              <a:rPr lang="en-US" dirty="0"/>
              <a:t>Research should involve certain steps:</a:t>
            </a:r>
          </a:p>
          <a:p>
            <a:pPr marL="857250" lvl="1" indent="-457200">
              <a:buFont typeface="+mj-lt"/>
              <a:buAutoNum type="arabicPeriod"/>
            </a:pPr>
            <a:r>
              <a:rPr lang="en-US" dirty="0"/>
              <a:t>Establish the goals of the project (define your research question)</a:t>
            </a:r>
          </a:p>
          <a:p>
            <a:pPr marL="857250" lvl="1" indent="-457200">
              <a:buFont typeface="+mj-lt"/>
              <a:buAutoNum type="arabicPeriod"/>
            </a:pPr>
            <a:r>
              <a:rPr lang="en-US" dirty="0"/>
              <a:t>Determine your sample</a:t>
            </a:r>
          </a:p>
          <a:p>
            <a:pPr marL="857250" lvl="1" indent="-457200">
              <a:buFont typeface="+mj-lt"/>
              <a:buAutoNum type="arabicPeriod"/>
            </a:pPr>
            <a:r>
              <a:rPr lang="en-US" dirty="0"/>
              <a:t>Choose a data collection method</a:t>
            </a:r>
          </a:p>
          <a:p>
            <a:pPr marL="857250" lvl="1" indent="-457200">
              <a:buFont typeface="+mj-lt"/>
              <a:buAutoNum type="arabicPeriod"/>
            </a:pPr>
            <a:r>
              <a:rPr lang="en-US" dirty="0"/>
              <a:t>Collect data</a:t>
            </a:r>
          </a:p>
          <a:p>
            <a:pPr marL="857250" lvl="1" indent="-457200">
              <a:buFont typeface="+mj-lt"/>
              <a:buAutoNum type="arabicPeriod"/>
            </a:pPr>
            <a:r>
              <a:rPr lang="en-US" dirty="0"/>
              <a:t>Analyze the results</a:t>
            </a:r>
          </a:p>
          <a:p>
            <a:pPr marL="857250" lvl="1" indent="-457200">
              <a:buFont typeface="+mj-lt"/>
              <a:buAutoNum type="arabicPeriod"/>
            </a:pPr>
            <a:r>
              <a:rPr lang="en-US" dirty="0"/>
              <a:t>Formulate conclusions and actionable insights (for example, producing reports)</a:t>
            </a:r>
          </a:p>
          <a:p>
            <a:pPr lvl="1"/>
            <a:endParaRPr lang="en-US" dirty="0"/>
          </a:p>
          <a:p>
            <a:endParaRPr lang="en-US" dirty="0"/>
          </a:p>
        </p:txBody>
      </p:sp>
    </p:spTree>
    <p:extLst>
      <p:ext uri="{BB962C8B-B14F-4D97-AF65-F5344CB8AC3E}">
        <p14:creationId xmlns:p14="http://schemas.microsoft.com/office/powerpoint/2010/main" val="28866745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Primary and Secondary Research</a:t>
            </a:r>
          </a:p>
        </p:txBody>
      </p:sp>
      <p:sp>
        <p:nvSpPr>
          <p:cNvPr id="3" name="Content Placeholder 2"/>
          <p:cNvSpPr>
            <a:spLocks noGrp="1"/>
          </p:cNvSpPr>
          <p:nvPr>
            <p:ph idx="1"/>
          </p:nvPr>
        </p:nvSpPr>
        <p:spPr/>
        <p:txBody>
          <a:bodyPr/>
          <a:lstStyle/>
          <a:p>
            <a:r>
              <a:rPr lang="en-US" dirty="0"/>
              <a:t>Primary research based on primary data</a:t>
            </a:r>
          </a:p>
          <a:p>
            <a:r>
              <a:rPr lang="en-US" dirty="0"/>
              <a:t>Secondary research based on secondary data</a:t>
            </a:r>
          </a:p>
          <a:p>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347204126"/>
              </p:ext>
            </p:extLst>
          </p:nvPr>
        </p:nvGraphicFramePr>
        <p:xfrm>
          <a:off x="533400" y="2286000"/>
          <a:ext cx="8077200" cy="3393440"/>
        </p:xfrm>
        <a:graphic>
          <a:graphicData uri="http://schemas.openxmlformats.org/drawingml/2006/table">
            <a:tbl>
              <a:tblPr firstRow="1" bandRow="1">
                <a:tableStyleId>{5C22544A-7EE6-4342-B048-85BDC9FD1C3A}</a:tableStyleId>
              </a:tblPr>
              <a:tblGrid>
                <a:gridCol w="1600200">
                  <a:extLst>
                    <a:ext uri="{9D8B030D-6E8A-4147-A177-3AD203B41FA5}">
                      <a16:colId xmlns:a16="http://schemas.microsoft.com/office/drawing/2014/main" val="20000"/>
                    </a:ext>
                  </a:extLst>
                </a:gridCol>
                <a:gridCol w="3124200">
                  <a:extLst>
                    <a:ext uri="{9D8B030D-6E8A-4147-A177-3AD203B41FA5}">
                      <a16:colId xmlns:a16="http://schemas.microsoft.com/office/drawing/2014/main" val="20001"/>
                    </a:ext>
                  </a:extLst>
                </a:gridCol>
                <a:gridCol w="3352800">
                  <a:extLst>
                    <a:ext uri="{9D8B030D-6E8A-4147-A177-3AD203B41FA5}">
                      <a16:colId xmlns:a16="http://schemas.microsoft.com/office/drawing/2014/main" val="20002"/>
                    </a:ext>
                  </a:extLst>
                </a:gridCol>
              </a:tblGrid>
              <a:tr h="370840">
                <a:tc>
                  <a:txBody>
                    <a:bodyPr/>
                    <a:lstStyle/>
                    <a:p>
                      <a:endParaRPr lang="en-US" dirty="0"/>
                    </a:p>
                  </a:txBody>
                  <a:tcPr/>
                </a:tc>
                <a:tc>
                  <a:txBody>
                    <a:bodyPr/>
                    <a:lstStyle/>
                    <a:p>
                      <a:r>
                        <a:rPr lang="en-US" dirty="0"/>
                        <a:t>Primary Research</a:t>
                      </a:r>
                    </a:p>
                  </a:txBody>
                  <a:tcPr/>
                </a:tc>
                <a:tc>
                  <a:txBody>
                    <a:bodyPr/>
                    <a:lstStyle/>
                    <a:p>
                      <a:r>
                        <a:rPr lang="en-US" dirty="0"/>
                        <a:t>Secondary Research</a:t>
                      </a:r>
                    </a:p>
                  </a:txBody>
                  <a:tcPr/>
                </a:tc>
                <a:extLst>
                  <a:ext uri="{0D108BD9-81ED-4DB2-BD59-A6C34878D82A}">
                    <a16:rowId xmlns:a16="http://schemas.microsoft.com/office/drawing/2014/main" val="10000"/>
                  </a:ext>
                </a:extLst>
              </a:tr>
              <a:tr h="370840">
                <a:tc>
                  <a:txBody>
                    <a:bodyPr/>
                    <a:lstStyle/>
                    <a:p>
                      <a:r>
                        <a:rPr lang="en-US" dirty="0"/>
                        <a:t>Data</a:t>
                      </a:r>
                    </a:p>
                  </a:txBody>
                  <a:tcPr/>
                </a:tc>
                <a:tc>
                  <a:txBody>
                    <a:bodyPr/>
                    <a:lstStyle/>
                    <a:p>
                      <a:r>
                        <a:rPr lang="en-US" dirty="0"/>
                        <a:t>New data is gathered for particular product or hypothesis. (</a:t>
                      </a:r>
                      <a:r>
                        <a:rPr lang="en-US" sz="1800" kern="1200" dirty="0">
                          <a:solidFill>
                            <a:schemeClr val="dk1"/>
                          </a:solidFill>
                          <a:effectLst/>
                          <a:latin typeface="+mn-lt"/>
                          <a:ea typeface="+mn-ea"/>
                          <a:cs typeface="+mn-cs"/>
                        </a:rPr>
                        <a:t>information does not exist already or is not accessible)</a:t>
                      </a:r>
                      <a:endParaRPr lang="en-US" dirty="0"/>
                    </a:p>
                  </a:txBody>
                  <a:tcPr/>
                </a:tc>
                <a:tc>
                  <a:txBody>
                    <a:bodyPr/>
                    <a:lstStyle/>
                    <a:p>
                      <a:r>
                        <a:rPr lang="en-US" dirty="0"/>
                        <a:t>Uses</a:t>
                      </a:r>
                      <a:r>
                        <a:rPr lang="en-US" baseline="0" dirty="0"/>
                        <a:t> existing, published data as a source of information. (may not be sufficient to solve the problem at hand, since data are gathered for general purpose)</a:t>
                      </a:r>
                    </a:p>
                  </a:txBody>
                  <a:tcPr/>
                </a:tc>
                <a:extLst>
                  <a:ext uri="{0D108BD9-81ED-4DB2-BD59-A6C34878D82A}">
                    <a16:rowId xmlns:a16="http://schemas.microsoft.com/office/drawing/2014/main" val="10001"/>
                  </a:ext>
                </a:extLst>
              </a:tr>
              <a:tr h="370840">
                <a:tc>
                  <a:txBody>
                    <a:bodyPr/>
                    <a:lstStyle/>
                    <a:p>
                      <a:r>
                        <a:rPr lang="en-US" dirty="0"/>
                        <a:t>Cost</a:t>
                      </a:r>
                    </a:p>
                  </a:txBody>
                  <a:tcPr/>
                </a:tc>
                <a:tc>
                  <a:txBody>
                    <a:bodyPr/>
                    <a:lstStyle/>
                    <a:p>
                      <a:r>
                        <a:rPr lang="en-US" dirty="0"/>
                        <a:t>High</a:t>
                      </a:r>
                    </a:p>
                  </a:txBody>
                  <a:tcPr/>
                </a:tc>
                <a:tc>
                  <a:txBody>
                    <a:bodyPr/>
                    <a:lstStyle/>
                    <a:p>
                      <a:r>
                        <a:rPr lang="en-US" dirty="0"/>
                        <a:t>Comparatively low</a:t>
                      </a:r>
                    </a:p>
                  </a:txBody>
                  <a:tcPr/>
                </a:tc>
                <a:extLst>
                  <a:ext uri="{0D108BD9-81ED-4DB2-BD59-A6C34878D82A}">
                    <a16:rowId xmlns:a16="http://schemas.microsoft.com/office/drawing/2014/main" val="10002"/>
                  </a:ext>
                </a:extLst>
              </a:tr>
              <a:tr h="370840">
                <a:tc>
                  <a:txBody>
                    <a:bodyPr/>
                    <a:lstStyle/>
                    <a:p>
                      <a:r>
                        <a:rPr lang="en-US" dirty="0"/>
                        <a:t>Data collection</a:t>
                      </a:r>
                    </a:p>
                  </a:txBody>
                  <a:tcPr/>
                </a:tc>
                <a:tc>
                  <a:txBody>
                    <a:bodyPr/>
                    <a:lstStyle/>
                    <a:p>
                      <a:r>
                        <a:rPr lang="en-US" dirty="0"/>
                        <a:t>Survey, focus groups, research panels, research communities</a:t>
                      </a:r>
                    </a:p>
                  </a:txBody>
                  <a:tcPr/>
                </a:tc>
                <a:tc>
                  <a:txBody>
                    <a:bodyPr/>
                    <a:lstStyle/>
                    <a:p>
                      <a:r>
                        <a:rPr lang="en-US" dirty="0"/>
                        <a:t>Sales</a:t>
                      </a:r>
                      <a:r>
                        <a:rPr lang="en-US" baseline="0" dirty="0"/>
                        <a:t> reports, web analytics, Facebook insights, customers communication records, search results (from search engines)</a:t>
                      </a:r>
                      <a:endParaRPr lang="en-US"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5237426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lumMod val="75000"/>
                  </a:schemeClr>
                </a:solidFill>
              </a:rPr>
              <a:t>Primary and Secondary Research</a:t>
            </a:r>
          </a:p>
        </p:txBody>
      </p:sp>
      <p:sp>
        <p:nvSpPr>
          <p:cNvPr id="3" name="Content Placeholder 2"/>
          <p:cNvSpPr>
            <a:spLocks noGrp="1"/>
          </p:cNvSpPr>
          <p:nvPr>
            <p:ph idx="1"/>
          </p:nvPr>
        </p:nvSpPr>
        <p:spPr/>
        <p:txBody>
          <a:bodyPr>
            <a:normAutofit/>
          </a:bodyPr>
          <a:lstStyle/>
          <a:p>
            <a:pPr marL="0" indent="0">
              <a:buNone/>
            </a:pPr>
            <a:r>
              <a:rPr lang="en-US" dirty="0">
                <a:solidFill>
                  <a:schemeClr val="accent6"/>
                </a:solidFill>
              </a:rPr>
              <a:t>The Internet and secondary research</a:t>
            </a:r>
          </a:p>
          <a:p>
            <a:r>
              <a:rPr lang="en-US" dirty="0"/>
              <a:t>Research based on secondary data should precede primary data research. It should be used in establishing the context and parameters for primary research:</a:t>
            </a:r>
          </a:p>
          <a:p>
            <a:pPr lvl="1"/>
            <a:r>
              <a:rPr lang="en-US" dirty="0"/>
              <a:t>The data can provide enough information to solve the problem at hand, thereby negating the need for further research.</a:t>
            </a:r>
          </a:p>
          <a:p>
            <a:pPr lvl="1"/>
            <a:r>
              <a:rPr lang="en-US" dirty="0"/>
              <a:t>Secondary data can provide sources for hypotheses that can be explored through primary research.</a:t>
            </a:r>
          </a:p>
          <a:p>
            <a:pPr lvl="1"/>
            <a:r>
              <a:rPr lang="en-US" dirty="0"/>
              <a:t>Sifting through secondary data is a necessary precursor for primary research, as it can provide information relevant to sample sizes and audience, for example.</a:t>
            </a:r>
          </a:p>
          <a:p>
            <a:pPr lvl="1"/>
            <a:r>
              <a:rPr lang="en-US" dirty="0"/>
              <a:t>The data can be used as a reference base to measure the accuracy of primary research.</a:t>
            </a:r>
          </a:p>
        </p:txBody>
      </p:sp>
    </p:spTree>
    <p:extLst>
      <p:ext uri="{BB962C8B-B14F-4D97-AF65-F5344CB8AC3E}">
        <p14:creationId xmlns:p14="http://schemas.microsoft.com/office/powerpoint/2010/main" val="37870351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lumMod val="75000"/>
                  </a:schemeClr>
                </a:solidFill>
              </a:rPr>
              <a:t>Primary and Secondary Research</a:t>
            </a:r>
          </a:p>
        </p:txBody>
      </p:sp>
      <p:sp>
        <p:nvSpPr>
          <p:cNvPr id="3" name="Content Placeholder 2"/>
          <p:cNvSpPr>
            <a:spLocks noGrp="1"/>
          </p:cNvSpPr>
          <p:nvPr>
            <p:ph idx="1"/>
          </p:nvPr>
        </p:nvSpPr>
        <p:spPr>
          <a:xfrm>
            <a:off x="457200" y="1112837"/>
            <a:ext cx="8229600" cy="5059363"/>
          </a:xfrm>
        </p:spPr>
        <p:txBody>
          <a:bodyPr>
            <a:normAutofit fontScale="92500"/>
          </a:bodyPr>
          <a:lstStyle/>
          <a:p>
            <a:pPr marL="0" indent="0">
              <a:buNone/>
            </a:pPr>
            <a:r>
              <a:rPr lang="en-US" dirty="0">
                <a:solidFill>
                  <a:schemeClr val="accent6"/>
                </a:solidFill>
              </a:rPr>
              <a:t>The Internet and primary research</a:t>
            </a:r>
          </a:p>
          <a:p>
            <a:r>
              <a:rPr lang="en-US" dirty="0"/>
              <a:t>Primary research involves gathering data for a specific research task.</a:t>
            </a:r>
          </a:p>
          <a:p>
            <a:r>
              <a:rPr lang="en-US" dirty="0"/>
              <a:t>Primary research can be either qualitative or quantitative.</a:t>
            </a:r>
          </a:p>
          <a:p>
            <a:r>
              <a:rPr lang="en-US" dirty="0"/>
              <a:t>Primary research can be used to explore a market and can help to develop the hypotheses or research questions that must be answered by further research. </a:t>
            </a:r>
          </a:p>
          <a:p>
            <a:r>
              <a:rPr lang="en-US" dirty="0"/>
              <a:t>Generally, </a:t>
            </a:r>
            <a:r>
              <a:rPr lang="en-US" dirty="0">
                <a:solidFill>
                  <a:srgbClr val="C00000"/>
                </a:solidFill>
              </a:rPr>
              <a:t>qualitative data </a:t>
            </a:r>
            <a:r>
              <a:rPr lang="en-US" dirty="0"/>
              <a:t>is gathered at this stage. For example, online research communities can be used to identify consumer needs that are not being met and to brainstorm possible solutions. </a:t>
            </a:r>
          </a:p>
          <a:p>
            <a:r>
              <a:rPr lang="en-US" dirty="0"/>
              <a:t>Further </a:t>
            </a:r>
            <a:r>
              <a:rPr lang="en-US" dirty="0">
                <a:solidFill>
                  <a:srgbClr val="C00000"/>
                </a:solidFill>
              </a:rPr>
              <a:t>quantitative research </a:t>
            </a:r>
            <a:r>
              <a:rPr lang="en-US" dirty="0"/>
              <a:t>can investigate what proportion of consumers share these problems and which potential solutions best meet those needs.</a:t>
            </a:r>
          </a:p>
          <a:p>
            <a:endParaRPr lang="en-US" dirty="0"/>
          </a:p>
        </p:txBody>
      </p:sp>
    </p:spTree>
    <p:extLst>
      <p:ext uri="{BB962C8B-B14F-4D97-AF65-F5344CB8AC3E}">
        <p14:creationId xmlns:p14="http://schemas.microsoft.com/office/powerpoint/2010/main" val="9603974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A6868-925A-4474-BADE-0F2FE98BFCE3}"/>
              </a:ext>
            </a:extLst>
          </p:cNvPr>
          <p:cNvSpPr>
            <a:spLocks noGrp="1"/>
          </p:cNvSpPr>
          <p:nvPr>
            <p:ph type="title"/>
          </p:nvPr>
        </p:nvSpPr>
        <p:spPr/>
        <p:txBody>
          <a:bodyPr/>
          <a:lstStyle/>
          <a:p>
            <a:r>
              <a:rPr lang="en-SG" dirty="0"/>
              <a:t>Activity 2</a:t>
            </a:r>
          </a:p>
        </p:txBody>
      </p:sp>
      <p:sp>
        <p:nvSpPr>
          <p:cNvPr id="3" name="Content Placeholder 2">
            <a:extLst>
              <a:ext uri="{FF2B5EF4-FFF2-40B4-BE49-F238E27FC236}">
                <a16:creationId xmlns:a16="http://schemas.microsoft.com/office/drawing/2014/main" id="{541B55AB-DC60-4B83-BEFC-9DE283A4DF90}"/>
              </a:ext>
            </a:extLst>
          </p:cNvPr>
          <p:cNvSpPr>
            <a:spLocks noGrp="1"/>
          </p:cNvSpPr>
          <p:nvPr>
            <p:ph idx="1"/>
          </p:nvPr>
        </p:nvSpPr>
        <p:spPr/>
        <p:txBody>
          <a:bodyPr>
            <a:normAutofit lnSpcReduction="10000"/>
          </a:bodyPr>
          <a:lstStyle/>
          <a:p>
            <a:pPr marL="0" indent="0">
              <a:buNone/>
            </a:pPr>
            <a:r>
              <a:rPr lang="en-US" dirty="0"/>
              <a:t>During the management meeting of </a:t>
            </a:r>
            <a:r>
              <a:rPr lang="en-US" dirty="0" err="1"/>
              <a:t>ProTrainHub</a:t>
            </a:r>
            <a:r>
              <a:rPr lang="en-US" dirty="0"/>
              <a:t>, an online training provider, </a:t>
            </a:r>
            <a:r>
              <a:rPr lang="en-US" b="1" dirty="0"/>
              <a:t>the director wants to</a:t>
            </a:r>
            <a:r>
              <a:rPr lang="en-US" dirty="0"/>
              <a:t> </a:t>
            </a:r>
            <a:r>
              <a:rPr lang="en-US" b="1" dirty="0"/>
              <a:t>know what kind of training courses college students want to attend during their summer holidays</a:t>
            </a:r>
            <a:r>
              <a:rPr lang="en-US" dirty="0"/>
              <a:t>. One of the manager suggested that they should conduct market research using survey questionnaires.  </a:t>
            </a:r>
            <a:endParaRPr lang="en-SG" dirty="0"/>
          </a:p>
          <a:p>
            <a:r>
              <a:rPr lang="en-US" dirty="0"/>
              <a:t>Question: Is it primary or secondary survey?</a:t>
            </a:r>
            <a:endParaRPr lang="en-SG" dirty="0"/>
          </a:p>
          <a:p>
            <a:pPr marL="0" indent="0">
              <a:buNone/>
            </a:pPr>
            <a:endParaRPr lang="en-SG" dirty="0"/>
          </a:p>
          <a:p>
            <a:pPr marL="0" indent="0">
              <a:buNone/>
            </a:pPr>
            <a:r>
              <a:rPr lang="en-US" dirty="0"/>
              <a:t>The marketing manager pointed out that they can look into trend data of registrations on their website and filter out by age, so that they will get some </a:t>
            </a:r>
            <a:r>
              <a:rPr lang="en-US" b="1" i="1" dirty="0"/>
              <a:t>idea</a:t>
            </a:r>
            <a:r>
              <a:rPr lang="en-US" dirty="0"/>
              <a:t> about what the college students want to study. </a:t>
            </a:r>
            <a:endParaRPr lang="en-SG" dirty="0"/>
          </a:p>
          <a:p>
            <a:r>
              <a:rPr lang="en-US" dirty="0"/>
              <a:t>Question: Is it primary or secondary survey? And will it answer the director’s question? </a:t>
            </a:r>
            <a:endParaRPr lang="en-SG" dirty="0"/>
          </a:p>
          <a:p>
            <a:endParaRPr lang="en-SG" dirty="0"/>
          </a:p>
        </p:txBody>
      </p:sp>
    </p:spTree>
    <p:extLst>
      <p:ext uri="{BB962C8B-B14F-4D97-AF65-F5344CB8AC3E}">
        <p14:creationId xmlns:p14="http://schemas.microsoft.com/office/powerpoint/2010/main" val="3639024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Quantitative and qualitative data</a:t>
            </a:r>
          </a:p>
        </p:txBody>
      </p:sp>
      <p:graphicFrame>
        <p:nvGraphicFramePr>
          <p:cNvPr id="4" name="Table 3"/>
          <p:cNvGraphicFramePr>
            <a:graphicFrameLocks noGrp="1"/>
          </p:cNvGraphicFramePr>
          <p:nvPr>
            <p:extLst>
              <p:ext uri="{D42A27DB-BD31-4B8C-83A1-F6EECF244321}">
                <p14:modId xmlns:p14="http://schemas.microsoft.com/office/powerpoint/2010/main" val="1613721918"/>
              </p:ext>
            </p:extLst>
          </p:nvPr>
        </p:nvGraphicFramePr>
        <p:xfrm>
          <a:off x="457199" y="990598"/>
          <a:ext cx="8305802" cy="5486399"/>
        </p:xfrm>
        <a:graphic>
          <a:graphicData uri="http://schemas.openxmlformats.org/drawingml/2006/table">
            <a:tbl>
              <a:tblPr firstRow="1" firstCol="1" bandRow="1">
                <a:tableStyleId>{5C22544A-7EE6-4342-B048-85BDC9FD1C3A}</a:tableStyleId>
              </a:tblPr>
              <a:tblGrid>
                <a:gridCol w="2357474">
                  <a:extLst>
                    <a:ext uri="{9D8B030D-6E8A-4147-A177-3AD203B41FA5}">
                      <a16:colId xmlns:a16="http://schemas.microsoft.com/office/drawing/2014/main" val="20000"/>
                    </a:ext>
                  </a:extLst>
                </a:gridCol>
                <a:gridCol w="2810234">
                  <a:extLst>
                    <a:ext uri="{9D8B030D-6E8A-4147-A177-3AD203B41FA5}">
                      <a16:colId xmlns:a16="http://schemas.microsoft.com/office/drawing/2014/main" val="20001"/>
                    </a:ext>
                  </a:extLst>
                </a:gridCol>
                <a:gridCol w="3138094">
                  <a:extLst>
                    <a:ext uri="{9D8B030D-6E8A-4147-A177-3AD203B41FA5}">
                      <a16:colId xmlns:a16="http://schemas.microsoft.com/office/drawing/2014/main" val="20002"/>
                    </a:ext>
                  </a:extLst>
                </a:gridCol>
              </a:tblGrid>
              <a:tr h="266906">
                <a:tc>
                  <a:txBody>
                    <a:bodyPr/>
                    <a:lstStyle/>
                    <a:p>
                      <a:pPr marL="0" marR="0">
                        <a:lnSpc>
                          <a:spcPct val="107000"/>
                        </a:lnSpc>
                        <a:spcBef>
                          <a:spcPts val="0"/>
                        </a:spcBef>
                        <a:spcAft>
                          <a:spcPts val="0"/>
                        </a:spcAft>
                      </a:pPr>
                      <a:r>
                        <a:rPr lang="en-US" sz="1400" dirty="0">
                          <a:effectLst/>
                        </a:rPr>
                        <a:t> </a:t>
                      </a:r>
                      <a:endParaRPr lang="en-US" sz="1400" dirty="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400">
                          <a:effectLst/>
                        </a:rPr>
                        <a:t>Quantitative</a:t>
                      </a:r>
                      <a:endParaRPr lang="en-US" sz="140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400">
                          <a:effectLst/>
                        </a:rPr>
                        <a:t>Qualitative</a:t>
                      </a:r>
                      <a:endParaRPr lang="en-US" sz="1400">
                        <a:effectLst/>
                        <a:latin typeface="Calibri"/>
                        <a:ea typeface="Calibri"/>
                        <a:cs typeface="Times New Roman"/>
                      </a:endParaRPr>
                    </a:p>
                  </a:txBody>
                  <a:tcPr marL="68580" marR="68580" marT="0" marB="0"/>
                </a:tc>
                <a:extLst>
                  <a:ext uri="{0D108BD9-81ED-4DB2-BD59-A6C34878D82A}">
                    <a16:rowId xmlns:a16="http://schemas.microsoft.com/office/drawing/2014/main" val="10000"/>
                  </a:ext>
                </a:extLst>
              </a:tr>
              <a:tr h="546169">
                <a:tc>
                  <a:txBody>
                    <a:bodyPr/>
                    <a:lstStyle/>
                    <a:p>
                      <a:pPr marL="0" marR="0">
                        <a:lnSpc>
                          <a:spcPct val="107000"/>
                        </a:lnSpc>
                        <a:spcBef>
                          <a:spcPts val="0"/>
                        </a:spcBef>
                        <a:spcAft>
                          <a:spcPts val="0"/>
                        </a:spcAft>
                      </a:pPr>
                      <a:r>
                        <a:rPr lang="en-US" sz="1400" dirty="0">
                          <a:effectLst/>
                        </a:rPr>
                        <a:t>Data gathered</a:t>
                      </a:r>
                      <a:endParaRPr lang="en-US" sz="1400" dirty="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400">
                          <a:effectLst/>
                        </a:rPr>
                        <a:t>Numbers, figures, statistics, objective data</a:t>
                      </a:r>
                      <a:endParaRPr lang="en-US" sz="140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400">
                          <a:effectLst/>
                        </a:rPr>
                        <a:t>Opinions, feelings, motivations, subjective data</a:t>
                      </a:r>
                      <a:endParaRPr lang="en-US" sz="1400">
                        <a:effectLst/>
                        <a:latin typeface="Calibri"/>
                        <a:ea typeface="Calibri"/>
                        <a:cs typeface="Times New Roman"/>
                      </a:endParaRPr>
                    </a:p>
                  </a:txBody>
                  <a:tcPr marL="68580" marR="68580" marT="0" marB="0"/>
                </a:tc>
                <a:extLst>
                  <a:ext uri="{0D108BD9-81ED-4DB2-BD59-A6C34878D82A}">
                    <a16:rowId xmlns:a16="http://schemas.microsoft.com/office/drawing/2014/main" val="10001"/>
                  </a:ext>
                </a:extLst>
              </a:tr>
              <a:tr h="266906">
                <a:tc>
                  <a:txBody>
                    <a:bodyPr/>
                    <a:lstStyle/>
                    <a:p>
                      <a:pPr marL="0" marR="0">
                        <a:lnSpc>
                          <a:spcPct val="107000"/>
                        </a:lnSpc>
                        <a:spcBef>
                          <a:spcPts val="0"/>
                        </a:spcBef>
                        <a:spcAft>
                          <a:spcPts val="0"/>
                        </a:spcAft>
                      </a:pPr>
                      <a:r>
                        <a:rPr lang="en-US" sz="1400">
                          <a:effectLst/>
                        </a:rPr>
                        <a:t>Question answered</a:t>
                      </a:r>
                      <a:endParaRPr lang="en-US" sz="140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400" dirty="0">
                          <a:effectLst/>
                        </a:rPr>
                        <a:t>What?</a:t>
                      </a:r>
                      <a:endParaRPr lang="en-US" sz="1400" dirty="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400">
                          <a:effectLst/>
                        </a:rPr>
                        <a:t>Why?</a:t>
                      </a:r>
                      <a:endParaRPr lang="en-US" sz="1400">
                        <a:effectLst/>
                        <a:latin typeface="Calibri"/>
                        <a:ea typeface="Calibri"/>
                        <a:cs typeface="Times New Roman"/>
                      </a:endParaRPr>
                    </a:p>
                  </a:txBody>
                  <a:tcPr marL="68580" marR="68580" marT="0" marB="0"/>
                </a:tc>
                <a:extLst>
                  <a:ext uri="{0D108BD9-81ED-4DB2-BD59-A6C34878D82A}">
                    <a16:rowId xmlns:a16="http://schemas.microsoft.com/office/drawing/2014/main" val="10002"/>
                  </a:ext>
                </a:extLst>
              </a:tr>
              <a:tr h="266906">
                <a:tc>
                  <a:txBody>
                    <a:bodyPr/>
                    <a:lstStyle/>
                    <a:p>
                      <a:pPr marL="0" marR="0">
                        <a:lnSpc>
                          <a:spcPct val="107000"/>
                        </a:lnSpc>
                        <a:spcBef>
                          <a:spcPts val="0"/>
                        </a:spcBef>
                        <a:spcAft>
                          <a:spcPts val="0"/>
                        </a:spcAft>
                      </a:pPr>
                      <a:r>
                        <a:rPr lang="en-US" sz="1400" dirty="0">
                          <a:effectLst/>
                        </a:rPr>
                        <a:t>Group size (Sample size)</a:t>
                      </a:r>
                      <a:endParaRPr lang="en-US" sz="1400" dirty="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400" dirty="0">
                          <a:effectLst/>
                        </a:rPr>
                        <a:t>Large</a:t>
                      </a:r>
                      <a:endParaRPr lang="en-US" sz="1400" dirty="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400">
                          <a:effectLst/>
                        </a:rPr>
                        <a:t>Small</a:t>
                      </a:r>
                      <a:endParaRPr lang="en-US" sz="1400">
                        <a:effectLst/>
                        <a:latin typeface="Calibri"/>
                        <a:ea typeface="Calibri"/>
                        <a:cs typeface="Times New Roman"/>
                      </a:endParaRPr>
                    </a:p>
                  </a:txBody>
                  <a:tcPr marL="68580" marR="68580" marT="0" marB="0"/>
                </a:tc>
                <a:extLst>
                  <a:ext uri="{0D108BD9-81ED-4DB2-BD59-A6C34878D82A}">
                    <a16:rowId xmlns:a16="http://schemas.microsoft.com/office/drawing/2014/main" val="10003"/>
                  </a:ext>
                </a:extLst>
              </a:tr>
              <a:tr h="266906">
                <a:tc>
                  <a:txBody>
                    <a:bodyPr/>
                    <a:lstStyle/>
                    <a:p>
                      <a:pPr marL="0" marR="0">
                        <a:lnSpc>
                          <a:spcPct val="107000"/>
                        </a:lnSpc>
                        <a:spcBef>
                          <a:spcPts val="0"/>
                        </a:spcBef>
                        <a:spcAft>
                          <a:spcPts val="0"/>
                        </a:spcAft>
                      </a:pPr>
                      <a:r>
                        <a:rPr lang="en-US" sz="1400">
                          <a:effectLst/>
                        </a:rPr>
                        <a:t>Data source</a:t>
                      </a:r>
                      <a:endParaRPr lang="en-US" sz="140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400" dirty="0">
                          <a:effectLst/>
                        </a:rPr>
                        <a:t>Surveys, web analytics data</a:t>
                      </a:r>
                      <a:endParaRPr lang="en-US" sz="1400" dirty="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400">
                          <a:effectLst/>
                        </a:rPr>
                        <a:t>Focus groups, social media</a:t>
                      </a:r>
                      <a:endParaRPr lang="en-US" sz="1400">
                        <a:effectLst/>
                        <a:latin typeface="Calibri"/>
                        <a:ea typeface="Calibri"/>
                        <a:cs typeface="Times New Roman"/>
                      </a:endParaRPr>
                    </a:p>
                  </a:txBody>
                  <a:tcPr marL="68580" marR="68580" marT="0" marB="0"/>
                </a:tc>
                <a:extLst>
                  <a:ext uri="{0D108BD9-81ED-4DB2-BD59-A6C34878D82A}">
                    <a16:rowId xmlns:a16="http://schemas.microsoft.com/office/drawing/2014/main" val="10004"/>
                  </a:ext>
                </a:extLst>
              </a:tr>
              <a:tr h="1663219">
                <a:tc>
                  <a:txBody>
                    <a:bodyPr/>
                    <a:lstStyle/>
                    <a:p>
                      <a:pPr marL="0" marR="0">
                        <a:lnSpc>
                          <a:spcPct val="107000"/>
                        </a:lnSpc>
                        <a:spcBef>
                          <a:spcPts val="0"/>
                        </a:spcBef>
                        <a:spcAft>
                          <a:spcPts val="0"/>
                        </a:spcAft>
                      </a:pPr>
                      <a:r>
                        <a:rPr lang="en-US" sz="1400">
                          <a:effectLst/>
                        </a:rPr>
                        <a:t>Purpose</a:t>
                      </a:r>
                      <a:endParaRPr lang="en-US" sz="140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400" dirty="0">
                          <a:effectLst/>
                        </a:rPr>
                        <a:t>Tests known issue or hypotheses. </a:t>
                      </a:r>
                    </a:p>
                    <a:p>
                      <a:pPr marL="0" marR="0">
                        <a:lnSpc>
                          <a:spcPct val="107000"/>
                        </a:lnSpc>
                        <a:spcBef>
                          <a:spcPts val="0"/>
                        </a:spcBef>
                        <a:spcAft>
                          <a:spcPts val="0"/>
                        </a:spcAft>
                      </a:pPr>
                      <a:r>
                        <a:rPr lang="en-US" sz="1400" dirty="0">
                          <a:effectLst/>
                        </a:rPr>
                        <a:t> </a:t>
                      </a:r>
                    </a:p>
                    <a:p>
                      <a:pPr marL="0" marR="0">
                        <a:lnSpc>
                          <a:spcPct val="107000"/>
                        </a:lnSpc>
                        <a:spcBef>
                          <a:spcPts val="0"/>
                        </a:spcBef>
                        <a:spcAft>
                          <a:spcPts val="0"/>
                        </a:spcAft>
                      </a:pPr>
                      <a:r>
                        <a:rPr lang="en-US" sz="1400" dirty="0">
                          <a:effectLst/>
                        </a:rPr>
                        <a:t>Seeks consensus, the norm</a:t>
                      </a:r>
                    </a:p>
                    <a:p>
                      <a:pPr marL="0" marR="0">
                        <a:lnSpc>
                          <a:spcPct val="107000"/>
                        </a:lnSpc>
                        <a:spcBef>
                          <a:spcPts val="0"/>
                        </a:spcBef>
                        <a:spcAft>
                          <a:spcPts val="0"/>
                        </a:spcAft>
                      </a:pPr>
                      <a:r>
                        <a:rPr lang="en-US" sz="1400" dirty="0">
                          <a:effectLst/>
                        </a:rPr>
                        <a:t> </a:t>
                      </a:r>
                    </a:p>
                    <a:p>
                      <a:pPr marL="0" marR="0">
                        <a:lnSpc>
                          <a:spcPct val="107000"/>
                        </a:lnSpc>
                        <a:spcBef>
                          <a:spcPts val="0"/>
                        </a:spcBef>
                        <a:spcAft>
                          <a:spcPts val="0"/>
                        </a:spcAft>
                      </a:pPr>
                      <a:r>
                        <a:rPr lang="en-US" sz="1400" dirty="0">
                          <a:effectLst/>
                        </a:rPr>
                        <a:t>Generalizes data</a:t>
                      </a:r>
                      <a:endParaRPr lang="en-US" sz="1400" dirty="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400" dirty="0">
                          <a:effectLst/>
                        </a:rPr>
                        <a:t>Generate ideas and concepts – lead to issues or hypotheses to be tested.</a:t>
                      </a:r>
                    </a:p>
                    <a:p>
                      <a:pPr marL="0" marR="0">
                        <a:lnSpc>
                          <a:spcPct val="107000"/>
                        </a:lnSpc>
                        <a:spcBef>
                          <a:spcPts val="0"/>
                        </a:spcBef>
                        <a:spcAft>
                          <a:spcPts val="0"/>
                        </a:spcAft>
                      </a:pPr>
                      <a:r>
                        <a:rPr lang="en-US" sz="1400" dirty="0">
                          <a:effectLst/>
                        </a:rPr>
                        <a:t> </a:t>
                      </a:r>
                    </a:p>
                    <a:p>
                      <a:pPr marL="0" marR="0">
                        <a:lnSpc>
                          <a:spcPct val="107000"/>
                        </a:lnSpc>
                        <a:spcBef>
                          <a:spcPts val="0"/>
                        </a:spcBef>
                        <a:spcAft>
                          <a:spcPts val="0"/>
                        </a:spcAft>
                      </a:pPr>
                      <a:r>
                        <a:rPr lang="en-US" sz="1400" dirty="0">
                          <a:effectLst/>
                        </a:rPr>
                        <a:t>Seeks complexity</a:t>
                      </a:r>
                    </a:p>
                    <a:p>
                      <a:pPr marL="0" marR="0">
                        <a:lnSpc>
                          <a:spcPct val="107000"/>
                        </a:lnSpc>
                        <a:spcBef>
                          <a:spcPts val="0"/>
                        </a:spcBef>
                        <a:spcAft>
                          <a:spcPts val="0"/>
                        </a:spcAft>
                      </a:pPr>
                      <a:r>
                        <a:rPr lang="en-US" sz="1400" dirty="0">
                          <a:effectLst/>
                        </a:rPr>
                        <a:t> </a:t>
                      </a:r>
                    </a:p>
                    <a:p>
                      <a:pPr marL="0" marR="0">
                        <a:lnSpc>
                          <a:spcPct val="107000"/>
                        </a:lnSpc>
                        <a:spcBef>
                          <a:spcPts val="0"/>
                        </a:spcBef>
                        <a:spcAft>
                          <a:spcPts val="0"/>
                        </a:spcAft>
                      </a:pPr>
                      <a:r>
                        <a:rPr lang="en-US" sz="1400" dirty="0">
                          <a:effectLst/>
                        </a:rPr>
                        <a:t>Puts data in context</a:t>
                      </a:r>
                      <a:endParaRPr lang="en-US" sz="1400" dirty="0">
                        <a:effectLst/>
                        <a:latin typeface="Calibri"/>
                        <a:ea typeface="Calibri"/>
                        <a:cs typeface="Times New Roman"/>
                      </a:endParaRPr>
                    </a:p>
                  </a:txBody>
                  <a:tcPr marL="68580" marR="68580" marT="0" marB="0"/>
                </a:tc>
                <a:extLst>
                  <a:ext uri="{0D108BD9-81ED-4DB2-BD59-A6C34878D82A}">
                    <a16:rowId xmlns:a16="http://schemas.microsoft.com/office/drawing/2014/main" val="10005"/>
                  </a:ext>
                </a:extLst>
              </a:tr>
              <a:tr h="825431">
                <a:tc>
                  <a:txBody>
                    <a:bodyPr/>
                    <a:lstStyle/>
                    <a:p>
                      <a:pPr marL="0" marR="0">
                        <a:lnSpc>
                          <a:spcPct val="107000"/>
                        </a:lnSpc>
                        <a:spcBef>
                          <a:spcPts val="0"/>
                        </a:spcBef>
                        <a:spcAft>
                          <a:spcPts val="0"/>
                        </a:spcAft>
                      </a:pPr>
                      <a:r>
                        <a:rPr lang="en-US" sz="1400">
                          <a:effectLst/>
                        </a:rPr>
                        <a:t>Advantages</a:t>
                      </a:r>
                      <a:endParaRPr lang="en-US" sz="140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400">
                          <a:effectLst/>
                        </a:rPr>
                        <a:t>Statistically reliable results to determine if one option is better than the alternatives.</a:t>
                      </a:r>
                      <a:endParaRPr lang="en-US" sz="140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400" dirty="0">
                          <a:effectLst/>
                        </a:rPr>
                        <a:t>Looks at the context of issues and aims to understand perspectives.</a:t>
                      </a:r>
                      <a:endParaRPr lang="en-US" sz="1400" dirty="0">
                        <a:effectLst/>
                        <a:latin typeface="Calibri"/>
                        <a:ea typeface="Calibri"/>
                        <a:cs typeface="Times New Roman"/>
                      </a:endParaRPr>
                    </a:p>
                  </a:txBody>
                  <a:tcPr marL="68580" marR="68580" marT="0" marB="0"/>
                </a:tc>
                <a:extLst>
                  <a:ext uri="{0D108BD9-81ED-4DB2-BD59-A6C34878D82A}">
                    <a16:rowId xmlns:a16="http://schemas.microsoft.com/office/drawing/2014/main" val="10006"/>
                  </a:ext>
                </a:extLst>
              </a:tr>
              <a:tr h="1383956">
                <a:tc>
                  <a:txBody>
                    <a:bodyPr/>
                    <a:lstStyle/>
                    <a:p>
                      <a:pPr marL="0" marR="0">
                        <a:lnSpc>
                          <a:spcPct val="107000"/>
                        </a:lnSpc>
                        <a:spcBef>
                          <a:spcPts val="0"/>
                        </a:spcBef>
                        <a:spcAft>
                          <a:spcPts val="0"/>
                        </a:spcAft>
                      </a:pPr>
                      <a:r>
                        <a:rPr lang="en-US" sz="1400">
                          <a:effectLst/>
                        </a:rPr>
                        <a:t>Challenges</a:t>
                      </a:r>
                      <a:endParaRPr lang="en-US" sz="140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400">
                          <a:effectLst/>
                        </a:rPr>
                        <a:t>Issues can be measured only if they are known prior to starting.</a:t>
                      </a:r>
                    </a:p>
                    <a:p>
                      <a:pPr marL="0" marR="0">
                        <a:lnSpc>
                          <a:spcPct val="107000"/>
                        </a:lnSpc>
                        <a:spcBef>
                          <a:spcPts val="0"/>
                        </a:spcBef>
                        <a:spcAft>
                          <a:spcPts val="0"/>
                        </a:spcAft>
                      </a:pPr>
                      <a:r>
                        <a:rPr lang="en-US" sz="1400">
                          <a:effectLst/>
                        </a:rPr>
                        <a:t> </a:t>
                      </a:r>
                    </a:p>
                    <a:p>
                      <a:pPr marL="0" marR="0">
                        <a:lnSpc>
                          <a:spcPct val="107000"/>
                        </a:lnSpc>
                        <a:spcBef>
                          <a:spcPts val="0"/>
                        </a:spcBef>
                        <a:spcAft>
                          <a:spcPts val="0"/>
                        </a:spcAft>
                      </a:pPr>
                      <a:r>
                        <a:rPr lang="en-US" sz="1400">
                          <a:effectLst/>
                        </a:rPr>
                        <a:t>Sample size must be sufficient for predicting the population</a:t>
                      </a:r>
                      <a:endParaRPr lang="en-US" sz="1400">
                        <a:effectLst/>
                        <a:latin typeface="Calibri"/>
                        <a:ea typeface="Calibri"/>
                        <a:cs typeface="Times New Roman"/>
                      </a:endParaRPr>
                    </a:p>
                  </a:txBody>
                  <a:tcPr marL="68580" marR="68580" marT="0" marB="0"/>
                </a:tc>
                <a:tc>
                  <a:txBody>
                    <a:bodyPr/>
                    <a:lstStyle/>
                    <a:p>
                      <a:pPr marL="0" marR="0">
                        <a:lnSpc>
                          <a:spcPct val="107000"/>
                        </a:lnSpc>
                        <a:spcBef>
                          <a:spcPts val="0"/>
                        </a:spcBef>
                        <a:spcAft>
                          <a:spcPts val="0"/>
                        </a:spcAft>
                      </a:pPr>
                      <a:r>
                        <a:rPr lang="en-US" sz="1400" dirty="0">
                          <a:effectLst/>
                        </a:rPr>
                        <a:t>Shouldn’t be used to evaluate pre-existing ideas. </a:t>
                      </a:r>
                    </a:p>
                    <a:p>
                      <a:pPr marL="0" marR="0">
                        <a:lnSpc>
                          <a:spcPct val="107000"/>
                        </a:lnSpc>
                        <a:spcBef>
                          <a:spcPts val="0"/>
                        </a:spcBef>
                        <a:spcAft>
                          <a:spcPts val="0"/>
                        </a:spcAft>
                      </a:pPr>
                      <a:r>
                        <a:rPr lang="en-US" sz="1400" dirty="0">
                          <a:effectLst/>
                        </a:rPr>
                        <a:t> </a:t>
                      </a:r>
                    </a:p>
                    <a:p>
                      <a:pPr marL="0" marR="0">
                        <a:lnSpc>
                          <a:spcPct val="107000"/>
                        </a:lnSpc>
                        <a:spcBef>
                          <a:spcPts val="0"/>
                        </a:spcBef>
                        <a:spcAft>
                          <a:spcPts val="0"/>
                        </a:spcAft>
                      </a:pPr>
                      <a:r>
                        <a:rPr lang="en-US" sz="1400" dirty="0">
                          <a:effectLst/>
                        </a:rPr>
                        <a:t>Results are not predictors of the population.</a:t>
                      </a:r>
                      <a:endParaRPr lang="en-US" sz="1400" dirty="0">
                        <a:effectLst/>
                        <a:latin typeface="Calibri"/>
                        <a:ea typeface="Calibri"/>
                        <a:cs typeface="Times New Roman"/>
                      </a:endParaRPr>
                    </a:p>
                  </a:txBody>
                  <a:tcPr marL="68580" marR="68580" marT="0" marB="0"/>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0013254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lumMod val="75000"/>
                  </a:schemeClr>
                </a:solidFill>
              </a:rPr>
              <a:t>Quantitative and qualitative data</a:t>
            </a:r>
          </a:p>
        </p:txBody>
      </p:sp>
      <p:sp>
        <p:nvSpPr>
          <p:cNvPr id="3" name="Content Placeholder 2"/>
          <p:cNvSpPr>
            <a:spLocks noGrp="1"/>
          </p:cNvSpPr>
          <p:nvPr>
            <p:ph idx="1"/>
          </p:nvPr>
        </p:nvSpPr>
        <p:spPr/>
        <p:txBody>
          <a:bodyPr/>
          <a:lstStyle/>
          <a:p>
            <a:r>
              <a:rPr lang="en-US" dirty="0"/>
              <a:t>Both quantitative and qualitative research can be conducted online. </a:t>
            </a:r>
          </a:p>
          <a:p>
            <a:r>
              <a:rPr lang="en-US" dirty="0"/>
              <a:t>Web analytics packages are a prime source of data. </a:t>
            </a:r>
          </a:p>
          <a:p>
            <a:r>
              <a:rPr lang="en-US" dirty="0"/>
              <a:t>Using data such as </a:t>
            </a:r>
            <a:r>
              <a:rPr lang="en-US" dirty="0">
                <a:solidFill>
                  <a:srgbClr val="C00000"/>
                </a:solidFill>
              </a:rPr>
              <a:t>search terms</a:t>
            </a:r>
            <a:r>
              <a:rPr lang="en-US" dirty="0"/>
              <a:t>, </a:t>
            </a:r>
            <a:r>
              <a:rPr lang="en-US" dirty="0">
                <a:solidFill>
                  <a:srgbClr val="C00000"/>
                </a:solidFill>
              </a:rPr>
              <a:t>referral URLs </a:t>
            </a:r>
            <a:r>
              <a:rPr lang="en-US" dirty="0"/>
              <a:t>and </a:t>
            </a:r>
            <a:r>
              <a:rPr lang="en-US" dirty="0">
                <a:solidFill>
                  <a:srgbClr val="C00000"/>
                </a:solidFill>
              </a:rPr>
              <a:t>internal search data</a:t>
            </a:r>
            <a:r>
              <a:rPr lang="en-US" dirty="0"/>
              <a:t> can lead to </a:t>
            </a:r>
            <a:r>
              <a:rPr lang="en-US" dirty="0">
                <a:solidFill>
                  <a:srgbClr val="C00000"/>
                </a:solidFill>
              </a:rPr>
              <a:t>qualitative information</a:t>
            </a:r>
            <a:r>
              <a:rPr lang="en-US" dirty="0"/>
              <a:t> about the consumers visiting a website. </a:t>
            </a:r>
          </a:p>
          <a:p>
            <a:r>
              <a:rPr lang="en-US" dirty="0"/>
              <a:t>However, when data is measurable and specific, such as </a:t>
            </a:r>
            <a:r>
              <a:rPr lang="en-US" dirty="0">
                <a:solidFill>
                  <a:srgbClr val="0070C0"/>
                </a:solidFill>
              </a:rPr>
              <a:t>impressions</a:t>
            </a:r>
            <a:r>
              <a:rPr lang="en-US" dirty="0"/>
              <a:t> and </a:t>
            </a:r>
            <a:r>
              <a:rPr lang="en-US" dirty="0">
                <a:solidFill>
                  <a:srgbClr val="0070C0"/>
                </a:solidFill>
              </a:rPr>
              <a:t>click through rates</a:t>
            </a:r>
            <a:r>
              <a:rPr lang="en-US" dirty="0"/>
              <a:t>, it leads to </a:t>
            </a:r>
            <a:r>
              <a:rPr lang="en-US" dirty="0">
                <a:solidFill>
                  <a:srgbClr val="0070C0"/>
                </a:solidFill>
              </a:rPr>
              <a:t>quantitative</a:t>
            </a:r>
            <a:r>
              <a:rPr lang="en-US" dirty="0"/>
              <a:t> research.</a:t>
            </a:r>
          </a:p>
        </p:txBody>
      </p:sp>
    </p:spTree>
    <p:extLst>
      <p:ext uri="{BB962C8B-B14F-4D97-AF65-F5344CB8AC3E}">
        <p14:creationId xmlns:p14="http://schemas.microsoft.com/office/powerpoint/2010/main" val="37020392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Sampling</a:t>
            </a:r>
          </a:p>
        </p:txBody>
      </p:sp>
      <p:sp>
        <p:nvSpPr>
          <p:cNvPr id="3" name="Content Placeholder 2"/>
          <p:cNvSpPr>
            <a:spLocks noGrp="1"/>
          </p:cNvSpPr>
          <p:nvPr>
            <p:ph idx="1"/>
          </p:nvPr>
        </p:nvSpPr>
        <p:spPr/>
        <p:txBody>
          <a:bodyPr/>
          <a:lstStyle/>
          <a:p>
            <a:r>
              <a:rPr lang="en-US" dirty="0">
                <a:solidFill>
                  <a:srgbClr val="C00000"/>
                </a:solidFill>
              </a:rPr>
              <a:t>Qualitative</a:t>
            </a:r>
            <a:r>
              <a:rPr lang="en-US" dirty="0"/>
              <a:t> research is usually conducted with a </a:t>
            </a:r>
            <a:r>
              <a:rPr lang="en-US" dirty="0">
                <a:solidFill>
                  <a:srgbClr val="C00000"/>
                </a:solidFill>
              </a:rPr>
              <a:t>small number </a:t>
            </a:r>
            <a:r>
              <a:rPr lang="en-US" dirty="0"/>
              <a:t>of respondents in order to explore and generate ideas and concepts. </a:t>
            </a:r>
          </a:p>
          <a:p>
            <a:r>
              <a:rPr lang="en-US" dirty="0">
                <a:solidFill>
                  <a:srgbClr val="C00000"/>
                </a:solidFill>
              </a:rPr>
              <a:t>Quantitative</a:t>
            </a:r>
            <a:r>
              <a:rPr lang="en-US" dirty="0"/>
              <a:t> research is conducted with far </a:t>
            </a:r>
            <a:r>
              <a:rPr lang="en-US" dirty="0">
                <a:solidFill>
                  <a:srgbClr val="C00000"/>
                </a:solidFill>
              </a:rPr>
              <a:t>larger numbers</a:t>
            </a:r>
            <a:r>
              <a:rPr lang="en-US" dirty="0"/>
              <a:t>, enough to be able to predict how the </a:t>
            </a:r>
            <a:r>
              <a:rPr lang="en-US" dirty="0">
                <a:solidFill>
                  <a:srgbClr val="C00000"/>
                </a:solidFill>
              </a:rPr>
              <a:t>total</a:t>
            </a:r>
            <a:r>
              <a:rPr lang="en-US" dirty="0"/>
              <a:t> population would respond.</a:t>
            </a:r>
          </a:p>
          <a:p>
            <a:r>
              <a:rPr lang="en-US" dirty="0"/>
              <a:t>There are several sample size calculators available on the web.</a:t>
            </a:r>
          </a:p>
          <a:p>
            <a:endParaRPr lang="en-US" dirty="0"/>
          </a:p>
        </p:txBody>
      </p:sp>
    </p:spTree>
    <p:extLst>
      <p:ext uri="{BB962C8B-B14F-4D97-AF65-F5344CB8AC3E}">
        <p14:creationId xmlns:p14="http://schemas.microsoft.com/office/powerpoint/2010/main" val="8810243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lumMod val="75000"/>
                  </a:schemeClr>
                </a:solidFill>
              </a:rPr>
              <a:t>Sampling</a:t>
            </a:r>
          </a:p>
        </p:txBody>
      </p:sp>
      <p:sp>
        <p:nvSpPr>
          <p:cNvPr id="5" name="Rectangle 4"/>
          <p:cNvSpPr/>
          <p:nvPr/>
        </p:nvSpPr>
        <p:spPr>
          <a:xfrm>
            <a:off x="457200" y="1143000"/>
            <a:ext cx="8229600" cy="1477328"/>
          </a:xfrm>
          <a:prstGeom prst="rect">
            <a:avLst/>
          </a:prstGeom>
          <a:ln>
            <a:solidFill>
              <a:schemeClr val="accent1"/>
            </a:solidFill>
          </a:ln>
        </p:spPr>
        <p:txBody>
          <a:bodyPr wrap="square">
            <a:spAutoFit/>
          </a:bodyPr>
          <a:lstStyle/>
          <a:p>
            <a:r>
              <a:rPr lang="en-US" dirty="0"/>
              <a:t>For example, if you have 4 000 registered users of your website; you don’t need to survey all of them in order to understand how the entire population behaves. You need to survey only 351 users to get a sample size that gives you a 95% confidence level with a ±5% confidence interval. This means that you can be 95% sure your results are accurate within ±5%.</a:t>
            </a: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2895600"/>
            <a:ext cx="4572000" cy="26946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ctangle 5"/>
          <p:cNvSpPr/>
          <p:nvPr/>
        </p:nvSpPr>
        <p:spPr>
          <a:xfrm>
            <a:off x="457200" y="5867400"/>
            <a:ext cx="4140364" cy="369332"/>
          </a:xfrm>
          <a:prstGeom prst="rect">
            <a:avLst/>
          </a:prstGeom>
        </p:spPr>
        <p:txBody>
          <a:bodyPr wrap="none">
            <a:spAutoFit/>
          </a:bodyPr>
          <a:lstStyle/>
          <a:p>
            <a:r>
              <a:rPr lang="en-US" dirty="0"/>
              <a:t>http://www.surveysystem.com/sscalc.htm</a:t>
            </a:r>
          </a:p>
        </p:txBody>
      </p:sp>
    </p:spTree>
    <p:extLst>
      <p:ext uri="{BB962C8B-B14F-4D97-AF65-F5344CB8AC3E}">
        <p14:creationId xmlns:p14="http://schemas.microsoft.com/office/powerpoint/2010/main" val="15858808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Online research methodologies</a:t>
            </a:r>
          </a:p>
        </p:txBody>
      </p:sp>
      <p:sp>
        <p:nvSpPr>
          <p:cNvPr id="3" name="Content Placeholder 2"/>
          <p:cNvSpPr>
            <a:spLocks noGrp="1"/>
          </p:cNvSpPr>
          <p:nvPr>
            <p:ph idx="1"/>
          </p:nvPr>
        </p:nvSpPr>
        <p:spPr/>
        <p:txBody>
          <a:bodyPr>
            <a:normAutofit/>
          </a:bodyPr>
          <a:lstStyle/>
          <a:p>
            <a:pPr marL="0" indent="0">
              <a:buNone/>
            </a:pPr>
            <a:r>
              <a:rPr lang="en-US" dirty="0">
                <a:solidFill>
                  <a:schemeClr val="accent6"/>
                </a:solidFill>
              </a:rPr>
              <a:t>Which methodology should you choose?</a:t>
            </a:r>
          </a:p>
          <a:p>
            <a:r>
              <a:rPr lang="en-US" dirty="0"/>
              <a:t>That all depends on a variety of factors, from your research question and purpose to your budget and time.</a:t>
            </a:r>
          </a:p>
          <a:p>
            <a:pPr lvl="1"/>
            <a:r>
              <a:rPr lang="en-US" b="1" dirty="0"/>
              <a:t>Surveys:</a:t>
            </a:r>
            <a:r>
              <a:rPr lang="en-US" dirty="0"/>
              <a:t> Ideal for collecting large amounts of quantitative data (and some qualitative data, too) – they are quick and easy to set up, and can run automatically.</a:t>
            </a:r>
          </a:p>
          <a:p>
            <a:pPr lvl="1"/>
            <a:r>
              <a:rPr lang="en-US" b="1" dirty="0"/>
              <a:t>Online focus groups</a:t>
            </a:r>
            <a:r>
              <a:rPr lang="en-US" dirty="0"/>
              <a:t>: Ideal for engaging consumers and collecting qualitative data such as opinions, ideas and feelings about the brand – they require a larger time investment and a willing group of participants.</a:t>
            </a:r>
          </a:p>
          <a:p>
            <a:pPr lvl="1"/>
            <a:r>
              <a:rPr lang="en-US" b="1" dirty="0"/>
              <a:t>Online monitoring</a:t>
            </a:r>
            <a:r>
              <a:rPr lang="en-US" dirty="0"/>
              <a:t>: Ideal for collecting qualitative data on brand sentiment, and can also provide some quantitative data around volume of interest in the brand – these data can be collected passively, and there are several tools that can automate this.</a:t>
            </a:r>
          </a:p>
          <a:p>
            <a:pPr lvl="1"/>
            <a:endParaRPr lang="en-US" dirty="0"/>
          </a:p>
          <a:p>
            <a:pPr lvl="1"/>
            <a:endParaRPr lang="en-US" dirty="0"/>
          </a:p>
        </p:txBody>
      </p:sp>
    </p:spTree>
    <p:extLst>
      <p:ext uri="{BB962C8B-B14F-4D97-AF65-F5344CB8AC3E}">
        <p14:creationId xmlns:p14="http://schemas.microsoft.com/office/powerpoint/2010/main" val="8025990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Activity 3</a:t>
            </a:r>
            <a:endParaRPr lang="en-US" dirty="0"/>
          </a:p>
        </p:txBody>
      </p:sp>
      <p:grpSp>
        <p:nvGrpSpPr>
          <p:cNvPr id="5" name="Group 4"/>
          <p:cNvGrpSpPr/>
          <p:nvPr/>
        </p:nvGrpSpPr>
        <p:grpSpPr>
          <a:xfrm>
            <a:off x="1958513" y="1653437"/>
            <a:ext cx="4673148" cy="3994959"/>
            <a:chOff x="1958513" y="1653437"/>
            <a:chExt cx="4673148" cy="3994959"/>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04955" y="3276600"/>
              <a:ext cx="1626706" cy="23717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20629283">
              <a:off x="1958513" y="1653437"/>
              <a:ext cx="2999232" cy="3545175"/>
            </a:xfrm>
            <a:prstGeom prst="rect">
              <a:avLst/>
            </a:prstGeom>
          </p:spPr>
        </p:pic>
      </p:grpSp>
    </p:spTree>
    <p:extLst>
      <p:ext uri="{BB962C8B-B14F-4D97-AF65-F5344CB8AC3E}">
        <p14:creationId xmlns:p14="http://schemas.microsoft.com/office/powerpoint/2010/main" val="27604664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6EFBD-D83F-408B-83D3-25C728B6A808}"/>
              </a:ext>
            </a:extLst>
          </p:cNvPr>
          <p:cNvSpPr>
            <a:spLocks noGrp="1"/>
          </p:cNvSpPr>
          <p:nvPr>
            <p:ph type="title"/>
          </p:nvPr>
        </p:nvSpPr>
        <p:spPr/>
        <p:txBody>
          <a:bodyPr/>
          <a:lstStyle/>
          <a:p>
            <a:r>
              <a:rPr lang="en-SG" dirty="0"/>
              <a:t>Activity 3</a:t>
            </a:r>
          </a:p>
        </p:txBody>
      </p:sp>
      <p:sp>
        <p:nvSpPr>
          <p:cNvPr id="3" name="Content Placeholder 2">
            <a:extLst>
              <a:ext uri="{FF2B5EF4-FFF2-40B4-BE49-F238E27FC236}">
                <a16:creationId xmlns:a16="http://schemas.microsoft.com/office/drawing/2014/main" id="{262867F4-3525-41EE-84CA-C8EBBBF3259E}"/>
              </a:ext>
            </a:extLst>
          </p:cNvPr>
          <p:cNvSpPr>
            <a:spLocks noGrp="1"/>
          </p:cNvSpPr>
          <p:nvPr>
            <p:ph idx="1"/>
          </p:nvPr>
        </p:nvSpPr>
        <p:spPr/>
        <p:txBody>
          <a:bodyPr/>
          <a:lstStyle/>
          <a:p>
            <a:pPr marL="0" indent="0">
              <a:buNone/>
            </a:pPr>
            <a:r>
              <a:rPr lang="en-US" dirty="0"/>
              <a:t>Arrange the following words into two groups:</a:t>
            </a:r>
            <a:endParaRPr lang="en-SG" dirty="0"/>
          </a:p>
          <a:p>
            <a:pPr marL="0" indent="0">
              <a:buNone/>
            </a:pPr>
            <a:r>
              <a:rPr lang="en-US" dirty="0"/>
              <a:t>“opinions, intentions, customer satisfaction (weighted average), attitudes, the most profitable customer age group, beliefs,  number of downloads, referral URL”</a:t>
            </a:r>
            <a:endParaRPr lang="en-SG" dirty="0"/>
          </a:p>
          <a:p>
            <a:endParaRPr lang="en-SG" dirty="0"/>
          </a:p>
        </p:txBody>
      </p:sp>
      <p:graphicFrame>
        <p:nvGraphicFramePr>
          <p:cNvPr id="4" name="Table 3">
            <a:extLst>
              <a:ext uri="{FF2B5EF4-FFF2-40B4-BE49-F238E27FC236}">
                <a16:creationId xmlns:a16="http://schemas.microsoft.com/office/drawing/2014/main" id="{DC1A0A36-38C1-484B-AEDE-D2D90575D383}"/>
              </a:ext>
            </a:extLst>
          </p:cNvPr>
          <p:cNvGraphicFramePr>
            <a:graphicFrameLocks noGrp="1"/>
          </p:cNvGraphicFramePr>
          <p:nvPr>
            <p:extLst>
              <p:ext uri="{D42A27DB-BD31-4B8C-83A1-F6EECF244321}">
                <p14:modId xmlns:p14="http://schemas.microsoft.com/office/powerpoint/2010/main" val="3384134010"/>
              </p:ext>
            </p:extLst>
          </p:nvPr>
        </p:nvGraphicFramePr>
        <p:xfrm>
          <a:off x="533400" y="2743200"/>
          <a:ext cx="7772400" cy="3919389"/>
        </p:xfrm>
        <a:graphic>
          <a:graphicData uri="http://schemas.openxmlformats.org/drawingml/2006/table">
            <a:tbl>
              <a:tblPr firstRow="1" firstCol="1" bandRow="1">
                <a:tableStyleId>{5C22544A-7EE6-4342-B048-85BDC9FD1C3A}</a:tableStyleId>
              </a:tblPr>
              <a:tblGrid>
                <a:gridCol w="3885784">
                  <a:extLst>
                    <a:ext uri="{9D8B030D-6E8A-4147-A177-3AD203B41FA5}">
                      <a16:colId xmlns:a16="http://schemas.microsoft.com/office/drawing/2014/main" val="2746641205"/>
                    </a:ext>
                  </a:extLst>
                </a:gridCol>
                <a:gridCol w="3886616">
                  <a:extLst>
                    <a:ext uri="{9D8B030D-6E8A-4147-A177-3AD203B41FA5}">
                      <a16:colId xmlns:a16="http://schemas.microsoft.com/office/drawing/2014/main" val="1352224331"/>
                    </a:ext>
                  </a:extLst>
                </a:gridCol>
              </a:tblGrid>
              <a:tr h="111497">
                <a:tc>
                  <a:txBody>
                    <a:bodyPr/>
                    <a:lstStyle/>
                    <a:p>
                      <a:pPr>
                        <a:lnSpc>
                          <a:spcPct val="107000"/>
                        </a:lnSpc>
                        <a:spcAft>
                          <a:spcPts val="0"/>
                        </a:spcAft>
                      </a:pPr>
                      <a:r>
                        <a:rPr lang="en-US" sz="1200">
                          <a:effectLst/>
                        </a:rPr>
                        <a:t>Quantitative data</a:t>
                      </a:r>
                      <a:endParaRPr lang="en-SG" sz="1200">
                        <a:effectLst/>
                        <a:latin typeface="Calibri" panose="020F0502020204030204" pitchFamily="34" charset="0"/>
                        <a:ea typeface="Calibri" panose="020F0502020204030204" pitchFamily="34" charset="0"/>
                        <a:cs typeface="Myanmar Text" panose="020B0502040204020203" pitchFamily="34" charset="0"/>
                      </a:endParaRPr>
                    </a:p>
                  </a:txBody>
                  <a:tcPr marL="44367" marR="44367" marT="0" marB="0"/>
                </a:tc>
                <a:tc>
                  <a:txBody>
                    <a:bodyPr/>
                    <a:lstStyle/>
                    <a:p>
                      <a:pPr>
                        <a:lnSpc>
                          <a:spcPct val="107000"/>
                        </a:lnSpc>
                        <a:spcAft>
                          <a:spcPts val="0"/>
                        </a:spcAft>
                      </a:pPr>
                      <a:r>
                        <a:rPr lang="en-US" sz="1200">
                          <a:effectLst/>
                        </a:rPr>
                        <a:t>Qualitative data</a:t>
                      </a:r>
                      <a:endParaRPr lang="en-SG" sz="1200">
                        <a:effectLst/>
                        <a:latin typeface="Calibri" panose="020F0502020204030204" pitchFamily="34" charset="0"/>
                        <a:ea typeface="Calibri" panose="020F0502020204030204" pitchFamily="34" charset="0"/>
                        <a:cs typeface="Myanmar Text" panose="020B0502040204020203" pitchFamily="34" charset="0"/>
                      </a:endParaRPr>
                    </a:p>
                  </a:txBody>
                  <a:tcPr marL="44367" marR="44367" marT="0" marB="0"/>
                </a:tc>
                <a:extLst>
                  <a:ext uri="{0D108BD9-81ED-4DB2-BD59-A6C34878D82A}">
                    <a16:rowId xmlns:a16="http://schemas.microsoft.com/office/drawing/2014/main" val="1865166786"/>
                  </a:ext>
                </a:extLst>
              </a:tr>
              <a:tr h="1277557">
                <a:tc>
                  <a:txBody>
                    <a:bodyPr/>
                    <a:lstStyle/>
                    <a:p>
                      <a:pPr>
                        <a:lnSpc>
                          <a:spcPct val="107000"/>
                        </a:lnSpc>
                        <a:spcAft>
                          <a:spcPts val="0"/>
                        </a:spcAft>
                      </a:pPr>
                      <a:r>
                        <a:rPr lang="en-US" sz="1200" dirty="0">
                          <a:effectLst/>
                        </a:rPr>
                        <a:t> </a:t>
                      </a:r>
                      <a:endParaRPr lang="en-SG" sz="1200" dirty="0">
                        <a:effectLst/>
                      </a:endParaRPr>
                    </a:p>
                    <a:p>
                      <a:pPr>
                        <a:lnSpc>
                          <a:spcPct val="107000"/>
                        </a:lnSpc>
                        <a:spcAft>
                          <a:spcPts val="0"/>
                        </a:spcAft>
                      </a:pPr>
                      <a:r>
                        <a:rPr lang="en-US" sz="1200" dirty="0">
                          <a:effectLst/>
                        </a:rPr>
                        <a:t> </a:t>
                      </a:r>
                      <a:endParaRPr lang="en-SG" sz="1200" dirty="0">
                        <a:effectLst/>
                      </a:endParaRPr>
                    </a:p>
                    <a:p>
                      <a:pPr>
                        <a:lnSpc>
                          <a:spcPct val="107000"/>
                        </a:lnSpc>
                        <a:spcAft>
                          <a:spcPts val="0"/>
                        </a:spcAft>
                      </a:pPr>
                      <a:r>
                        <a:rPr lang="en-US" sz="1200" dirty="0">
                          <a:effectLst/>
                        </a:rPr>
                        <a:t> </a:t>
                      </a:r>
                      <a:endParaRPr lang="en-SG" sz="1200" dirty="0">
                        <a:effectLst/>
                      </a:endParaRPr>
                    </a:p>
                    <a:p>
                      <a:pPr>
                        <a:lnSpc>
                          <a:spcPct val="107000"/>
                        </a:lnSpc>
                        <a:spcAft>
                          <a:spcPts val="0"/>
                        </a:spcAft>
                      </a:pPr>
                      <a:r>
                        <a:rPr lang="en-US" sz="1200" dirty="0">
                          <a:effectLst/>
                        </a:rPr>
                        <a:t> </a:t>
                      </a:r>
                      <a:endParaRPr lang="en-SG" sz="1200" dirty="0">
                        <a:effectLst/>
                      </a:endParaRPr>
                    </a:p>
                    <a:p>
                      <a:pPr>
                        <a:lnSpc>
                          <a:spcPct val="107000"/>
                        </a:lnSpc>
                        <a:spcAft>
                          <a:spcPts val="0"/>
                        </a:spcAft>
                      </a:pPr>
                      <a:r>
                        <a:rPr lang="en-US" sz="1200" dirty="0">
                          <a:effectLst/>
                        </a:rPr>
                        <a:t> </a:t>
                      </a:r>
                      <a:endParaRPr lang="en-SG" sz="1200" dirty="0">
                        <a:effectLst/>
                        <a:latin typeface="Calibri" panose="020F0502020204030204" pitchFamily="34" charset="0"/>
                        <a:ea typeface="Calibri" panose="020F0502020204030204" pitchFamily="34" charset="0"/>
                        <a:cs typeface="Myanmar Text" panose="020B0502040204020203" pitchFamily="34" charset="0"/>
                      </a:endParaRPr>
                    </a:p>
                  </a:txBody>
                  <a:tcPr marL="44367" marR="44367" marT="0" marB="0"/>
                </a:tc>
                <a:tc>
                  <a:txBody>
                    <a:bodyPr/>
                    <a:lstStyle/>
                    <a:p>
                      <a:pPr>
                        <a:lnSpc>
                          <a:spcPct val="107000"/>
                        </a:lnSpc>
                        <a:spcAft>
                          <a:spcPts val="0"/>
                        </a:spcAft>
                      </a:pPr>
                      <a:r>
                        <a:rPr lang="en-US" sz="1200">
                          <a:effectLst/>
                        </a:rPr>
                        <a:t> </a:t>
                      </a:r>
                      <a:endParaRPr lang="en-SG" sz="1200">
                        <a:effectLst/>
                        <a:latin typeface="Calibri" panose="020F0502020204030204" pitchFamily="34" charset="0"/>
                        <a:ea typeface="Calibri" panose="020F0502020204030204" pitchFamily="34" charset="0"/>
                        <a:cs typeface="Myanmar Text" panose="020B0502040204020203" pitchFamily="34" charset="0"/>
                      </a:endParaRPr>
                    </a:p>
                  </a:txBody>
                  <a:tcPr marL="44367" marR="44367" marT="0" marB="0"/>
                </a:tc>
                <a:extLst>
                  <a:ext uri="{0D108BD9-81ED-4DB2-BD59-A6C34878D82A}">
                    <a16:rowId xmlns:a16="http://schemas.microsoft.com/office/drawing/2014/main" val="3888506514"/>
                  </a:ext>
                </a:extLst>
              </a:tr>
              <a:tr h="111497">
                <a:tc>
                  <a:txBody>
                    <a:bodyPr/>
                    <a:lstStyle/>
                    <a:p>
                      <a:pPr>
                        <a:lnSpc>
                          <a:spcPct val="107000"/>
                        </a:lnSpc>
                        <a:spcAft>
                          <a:spcPts val="0"/>
                        </a:spcAft>
                      </a:pPr>
                      <a:r>
                        <a:rPr lang="en-US" sz="1200" dirty="0">
                          <a:effectLst/>
                        </a:rPr>
                        <a:t>Group size (Sampling)</a:t>
                      </a:r>
                      <a:endParaRPr lang="en-SG" sz="1200" dirty="0">
                        <a:effectLst/>
                        <a:latin typeface="Calibri" panose="020F0502020204030204" pitchFamily="34" charset="0"/>
                        <a:ea typeface="Calibri" panose="020F0502020204030204" pitchFamily="34" charset="0"/>
                        <a:cs typeface="Myanmar Text" panose="020B0502040204020203" pitchFamily="34" charset="0"/>
                      </a:endParaRPr>
                    </a:p>
                  </a:txBody>
                  <a:tcPr marL="44367" marR="44367" marT="0" marB="0"/>
                </a:tc>
                <a:tc>
                  <a:txBody>
                    <a:bodyPr/>
                    <a:lstStyle/>
                    <a:p>
                      <a:pPr>
                        <a:lnSpc>
                          <a:spcPct val="107000"/>
                        </a:lnSpc>
                        <a:spcAft>
                          <a:spcPts val="0"/>
                        </a:spcAft>
                      </a:pPr>
                      <a:r>
                        <a:rPr lang="en-US" sz="1200">
                          <a:effectLst/>
                        </a:rPr>
                        <a:t>Group size (Sampling)</a:t>
                      </a:r>
                      <a:endParaRPr lang="en-SG" sz="1200">
                        <a:effectLst/>
                        <a:latin typeface="Calibri" panose="020F0502020204030204" pitchFamily="34" charset="0"/>
                        <a:ea typeface="Calibri" panose="020F0502020204030204" pitchFamily="34" charset="0"/>
                        <a:cs typeface="Myanmar Text" panose="020B0502040204020203" pitchFamily="34" charset="0"/>
                      </a:endParaRPr>
                    </a:p>
                  </a:txBody>
                  <a:tcPr marL="44367" marR="44367" marT="0" marB="0"/>
                </a:tc>
                <a:extLst>
                  <a:ext uri="{0D108BD9-81ED-4DB2-BD59-A6C34878D82A}">
                    <a16:rowId xmlns:a16="http://schemas.microsoft.com/office/drawing/2014/main" val="3219323317"/>
                  </a:ext>
                </a:extLst>
              </a:tr>
              <a:tr h="228103">
                <a:tc>
                  <a:txBody>
                    <a:bodyPr/>
                    <a:lstStyle/>
                    <a:p>
                      <a:pPr marL="342900" lvl="0" indent="-342900">
                        <a:lnSpc>
                          <a:spcPct val="107000"/>
                        </a:lnSpc>
                        <a:spcAft>
                          <a:spcPts val="0"/>
                        </a:spcAft>
                        <a:buFont typeface="+mj-lt"/>
                        <a:buAutoNum type="alphaUcParenR"/>
                      </a:pPr>
                      <a:r>
                        <a:rPr lang="en-US" sz="1200" dirty="0">
                          <a:effectLst/>
                        </a:rPr>
                        <a:t>Large</a:t>
                      </a:r>
                      <a:endParaRPr lang="en-SG" sz="1200" dirty="0">
                        <a:effectLst/>
                      </a:endParaRPr>
                    </a:p>
                    <a:p>
                      <a:pPr marL="342900" lvl="0" indent="-342900">
                        <a:lnSpc>
                          <a:spcPct val="107000"/>
                        </a:lnSpc>
                        <a:spcAft>
                          <a:spcPts val="0"/>
                        </a:spcAft>
                        <a:buFont typeface="+mj-lt"/>
                        <a:buAutoNum type="alphaUcParenR"/>
                      </a:pPr>
                      <a:r>
                        <a:rPr lang="en-US" sz="1200" dirty="0">
                          <a:effectLst/>
                        </a:rPr>
                        <a:t>Small</a:t>
                      </a:r>
                      <a:endParaRPr lang="en-SG" sz="1200" dirty="0">
                        <a:effectLst/>
                        <a:latin typeface="Calibri" panose="020F0502020204030204" pitchFamily="34" charset="0"/>
                        <a:ea typeface="Calibri" panose="020F0502020204030204" pitchFamily="34" charset="0"/>
                        <a:cs typeface="Myanmar Text" panose="020B0502040204020203" pitchFamily="34" charset="0"/>
                      </a:endParaRPr>
                    </a:p>
                  </a:txBody>
                  <a:tcPr marL="44367" marR="44367" marT="0" marB="0"/>
                </a:tc>
                <a:tc>
                  <a:txBody>
                    <a:bodyPr/>
                    <a:lstStyle/>
                    <a:p>
                      <a:pPr marL="342900" lvl="0" indent="-342900">
                        <a:lnSpc>
                          <a:spcPct val="107000"/>
                        </a:lnSpc>
                        <a:spcAft>
                          <a:spcPts val="0"/>
                        </a:spcAft>
                        <a:buFont typeface="+mj-lt"/>
                        <a:buAutoNum type="alphaUcParenR"/>
                      </a:pPr>
                      <a:r>
                        <a:rPr lang="en-US" sz="1200">
                          <a:effectLst/>
                        </a:rPr>
                        <a:t>Large</a:t>
                      </a:r>
                      <a:endParaRPr lang="en-SG" sz="1200">
                        <a:effectLst/>
                      </a:endParaRPr>
                    </a:p>
                    <a:p>
                      <a:pPr marL="342900" lvl="0" indent="-342900">
                        <a:lnSpc>
                          <a:spcPct val="107000"/>
                        </a:lnSpc>
                        <a:spcAft>
                          <a:spcPts val="0"/>
                        </a:spcAft>
                        <a:buFont typeface="+mj-lt"/>
                        <a:buAutoNum type="alphaUcParenR"/>
                      </a:pPr>
                      <a:r>
                        <a:rPr lang="en-US" sz="1200">
                          <a:effectLst/>
                        </a:rPr>
                        <a:t>Small</a:t>
                      </a:r>
                      <a:endParaRPr lang="en-SG" sz="1200">
                        <a:effectLst/>
                        <a:latin typeface="Calibri" panose="020F0502020204030204" pitchFamily="34" charset="0"/>
                        <a:ea typeface="Calibri" panose="020F0502020204030204" pitchFamily="34" charset="0"/>
                        <a:cs typeface="Myanmar Text" panose="020B0502040204020203" pitchFamily="34" charset="0"/>
                      </a:endParaRPr>
                    </a:p>
                  </a:txBody>
                  <a:tcPr marL="44367" marR="44367" marT="0" marB="0"/>
                </a:tc>
                <a:extLst>
                  <a:ext uri="{0D108BD9-81ED-4DB2-BD59-A6C34878D82A}">
                    <a16:rowId xmlns:a16="http://schemas.microsoft.com/office/drawing/2014/main" val="327480281"/>
                  </a:ext>
                </a:extLst>
              </a:tr>
              <a:tr h="111497">
                <a:tc>
                  <a:txBody>
                    <a:bodyPr/>
                    <a:lstStyle/>
                    <a:p>
                      <a:pPr>
                        <a:lnSpc>
                          <a:spcPct val="107000"/>
                        </a:lnSpc>
                        <a:spcAft>
                          <a:spcPts val="0"/>
                        </a:spcAft>
                      </a:pPr>
                      <a:r>
                        <a:rPr lang="en-US" sz="1200" dirty="0">
                          <a:effectLst/>
                        </a:rPr>
                        <a:t> </a:t>
                      </a:r>
                      <a:endParaRPr lang="en-SG" sz="1200" dirty="0">
                        <a:effectLst/>
                        <a:latin typeface="Calibri" panose="020F0502020204030204" pitchFamily="34" charset="0"/>
                        <a:ea typeface="Calibri" panose="020F0502020204030204" pitchFamily="34" charset="0"/>
                        <a:cs typeface="Myanmar Text" panose="020B0502040204020203" pitchFamily="34" charset="0"/>
                      </a:endParaRPr>
                    </a:p>
                  </a:txBody>
                  <a:tcPr marL="44367" marR="44367" marT="0" marB="0"/>
                </a:tc>
                <a:tc>
                  <a:txBody>
                    <a:bodyPr/>
                    <a:lstStyle/>
                    <a:p>
                      <a:pPr>
                        <a:lnSpc>
                          <a:spcPct val="107000"/>
                        </a:lnSpc>
                        <a:spcAft>
                          <a:spcPts val="0"/>
                        </a:spcAft>
                      </a:pPr>
                      <a:r>
                        <a:rPr lang="en-US" sz="1200">
                          <a:effectLst/>
                        </a:rPr>
                        <a:t> </a:t>
                      </a:r>
                      <a:endParaRPr lang="en-SG" sz="1200">
                        <a:effectLst/>
                        <a:latin typeface="Calibri" panose="020F0502020204030204" pitchFamily="34" charset="0"/>
                        <a:ea typeface="Calibri" panose="020F0502020204030204" pitchFamily="34" charset="0"/>
                        <a:cs typeface="Myanmar Text" panose="020B0502040204020203" pitchFamily="34" charset="0"/>
                      </a:endParaRPr>
                    </a:p>
                  </a:txBody>
                  <a:tcPr marL="44367" marR="44367" marT="0" marB="0"/>
                </a:tc>
                <a:extLst>
                  <a:ext uri="{0D108BD9-81ED-4DB2-BD59-A6C34878D82A}">
                    <a16:rowId xmlns:a16="http://schemas.microsoft.com/office/drawing/2014/main" val="3727919833"/>
                  </a:ext>
                </a:extLst>
              </a:tr>
              <a:tr h="154280">
                <a:tc>
                  <a:txBody>
                    <a:bodyPr/>
                    <a:lstStyle/>
                    <a:p>
                      <a:pPr>
                        <a:lnSpc>
                          <a:spcPct val="107000"/>
                        </a:lnSpc>
                        <a:spcAft>
                          <a:spcPts val="0"/>
                        </a:spcAft>
                      </a:pPr>
                      <a:r>
                        <a:rPr lang="en-US" sz="1200" dirty="0">
                          <a:effectLst/>
                        </a:rPr>
                        <a:t>Suggest data gathering methods to get quantitative data</a:t>
                      </a:r>
                      <a:endParaRPr lang="en-SG" sz="1200" dirty="0">
                        <a:effectLst/>
                        <a:latin typeface="Calibri" panose="020F0502020204030204" pitchFamily="34" charset="0"/>
                        <a:ea typeface="Calibri" panose="020F0502020204030204" pitchFamily="34" charset="0"/>
                        <a:cs typeface="Myanmar Text" panose="020B0502040204020203" pitchFamily="34" charset="0"/>
                      </a:endParaRPr>
                    </a:p>
                  </a:txBody>
                  <a:tcPr marL="44367" marR="44367" marT="0" marB="0"/>
                </a:tc>
                <a:tc>
                  <a:txBody>
                    <a:bodyPr/>
                    <a:lstStyle/>
                    <a:p>
                      <a:pPr>
                        <a:lnSpc>
                          <a:spcPct val="107000"/>
                        </a:lnSpc>
                        <a:spcAft>
                          <a:spcPts val="0"/>
                        </a:spcAft>
                      </a:pPr>
                      <a:r>
                        <a:rPr lang="en-US" sz="1200">
                          <a:effectLst/>
                        </a:rPr>
                        <a:t>Suggest data gathering methods to get qualitative data</a:t>
                      </a:r>
                      <a:endParaRPr lang="en-SG" sz="1200">
                        <a:effectLst/>
                        <a:latin typeface="Calibri" panose="020F0502020204030204" pitchFamily="34" charset="0"/>
                        <a:ea typeface="Calibri" panose="020F0502020204030204" pitchFamily="34" charset="0"/>
                        <a:cs typeface="Myanmar Text" panose="020B0502040204020203" pitchFamily="34" charset="0"/>
                      </a:endParaRPr>
                    </a:p>
                  </a:txBody>
                  <a:tcPr marL="44367" marR="44367" marT="0" marB="0"/>
                </a:tc>
                <a:extLst>
                  <a:ext uri="{0D108BD9-81ED-4DB2-BD59-A6C34878D82A}">
                    <a16:rowId xmlns:a16="http://schemas.microsoft.com/office/drawing/2014/main" val="868219482"/>
                  </a:ext>
                </a:extLst>
              </a:tr>
              <a:tr h="1510770">
                <a:tc>
                  <a:txBody>
                    <a:bodyPr/>
                    <a:lstStyle/>
                    <a:p>
                      <a:pPr>
                        <a:lnSpc>
                          <a:spcPct val="107000"/>
                        </a:lnSpc>
                        <a:spcAft>
                          <a:spcPts val="0"/>
                        </a:spcAft>
                      </a:pPr>
                      <a:r>
                        <a:rPr lang="en-US" sz="1200" dirty="0">
                          <a:effectLst/>
                        </a:rPr>
                        <a:t> </a:t>
                      </a:r>
                      <a:endParaRPr lang="en-SG" sz="1200" dirty="0">
                        <a:effectLst/>
                      </a:endParaRPr>
                    </a:p>
                    <a:p>
                      <a:pPr>
                        <a:lnSpc>
                          <a:spcPct val="107000"/>
                        </a:lnSpc>
                        <a:spcAft>
                          <a:spcPts val="0"/>
                        </a:spcAft>
                      </a:pPr>
                      <a:r>
                        <a:rPr lang="en-US" sz="1200" dirty="0">
                          <a:effectLst/>
                        </a:rPr>
                        <a:t> </a:t>
                      </a:r>
                      <a:endParaRPr lang="en-SG" sz="1200" dirty="0">
                        <a:effectLst/>
                      </a:endParaRPr>
                    </a:p>
                    <a:p>
                      <a:pPr>
                        <a:lnSpc>
                          <a:spcPct val="107000"/>
                        </a:lnSpc>
                        <a:spcAft>
                          <a:spcPts val="0"/>
                        </a:spcAft>
                      </a:pPr>
                      <a:r>
                        <a:rPr lang="en-US" sz="1200" dirty="0">
                          <a:effectLst/>
                        </a:rPr>
                        <a:t> </a:t>
                      </a:r>
                      <a:endParaRPr lang="en-SG" sz="1200" dirty="0">
                        <a:effectLst/>
                      </a:endParaRPr>
                    </a:p>
                    <a:p>
                      <a:pPr>
                        <a:lnSpc>
                          <a:spcPct val="107000"/>
                        </a:lnSpc>
                        <a:spcAft>
                          <a:spcPts val="0"/>
                        </a:spcAft>
                      </a:pPr>
                      <a:r>
                        <a:rPr lang="en-US" sz="1200" dirty="0">
                          <a:effectLst/>
                        </a:rPr>
                        <a:t> </a:t>
                      </a:r>
                      <a:endParaRPr lang="en-SG" sz="1200" dirty="0">
                        <a:effectLst/>
                      </a:endParaRPr>
                    </a:p>
                    <a:p>
                      <a:pPr>
                        <a:lnSpc>
                          <a:spcPct val="107000"/>
                        </a:lnSpc>
                        <a:spcAft>
                          <a:spcPts val="0"/>
                        </a:spcAft>
                      </a:pPr>
                      <a:r>
                        <a:rPr lang="en-US" sz="1200" dirty="0">
                          <a:effectLst/>
                        </a:rPr>
                        <a:t> </a:t>
                      </a:r>
                      <a:endParaRPr lang="en-SG" sz="1200" dirty="0">
                        <a:effectLst/>
                      </a:endParaRPr>
                    </a:p>
                    <a:p>
                      <a:pPr>
                        <a:lnSpc>
                          <a:spcPct val="107000"/>
                        </a:lnSpc>
                        <a:spcAft>
                          <a:spcPts val="0"/>
                        </a:spcAft>
                      </a:pPr>
                      <a:r>
                        <a:rPr lang="en-US" sz="1200" dirty="0">
                          <a:effectLst/>
                        </a:rPr>
                        <a:t> </a:t>
                      </a:r>
                      <a:endParaRPr lang="en-SG" sz="1200" dirty="0">
                        <a:effectLst/>
                      </a:endParaRPr>
                    </a:p>
                    <a:p>
                      <a:pPr>
                        <a:lnSpc>
                          <a:spcPct val="107000"/>
                        </a:lnSpc>
                        <a:spcAft>
                          <a:spcPts val="0"/>
                        </a:spcAft>
                      </a:pPr>
                      <a:r>
                        <a:rPr lang="en-US" sz="1200" dirty="0">
                          <a:effectLst/>
                        </a:rPr>
                        <a:t> </a:t>
                      </a:r>
                      <a:endParaRPr lang="en-SG" sz="1200" dirty="0">
                        <a:effectLst/>
                        <a:latin typeface="Calibri" panose="020F0502020204030204" pitchFamily="34" charset="0"/>
                        <a:ea typeface="Calibri" panose="020F0502020204030204" pitchFamily="34" charset="0"/>
                        <a:cs typeface="Myanmar Text" panose="020B0502040204020203" pitchFamily="34" charset="0"/>
                      </a:endParaRPr>
                    </a:p>
                  </a:txBody>
                  <a:tcPr marL="44367" marR="44367" marT="0" marB="0"/>
                </a:tc>
                <a:tc>
                  <a:txBody>
                    <a:bodyPr/>
                    <a:lstStyle/>
                    <a:p>
                      <a:pPr>
                        <a:lnSpc>
                          <a:spcPct val="107000"/>
                        </a:lnSpc>
                        <a:spcAft>
                          <a:spcPts val="0"/>
                        </a:spcAft>
                      </a:pPr>
                      <a:r>
                        <a:rPr lang="en-US" sz="1200" dirty="0">
                          <a:effectLst/>
                        </a:rPr>
                        <a:t> </a:t>
                      </a:r>
                      <a:endParaRPr lang="en-SG" sz="1200" dirty="0">
                        <a:effectLst/>
                        <a:latin typeface="Calibri" panose="020F0502020204030204" pitchFamily="34" charset="0"/>
                        <a:ea typeface="Calibri" panose="020F0502020204030204" pitchFamily="34" charset="0"/>
                        <a:cs typeface="Myanmar Text" panose="020B0502040204020203" pitchFamily="34" charset="0"/>
                      </a:endParaRPr>
                    </a:p>
                  </a:txBody>
                  <a:tcPr marL="44367" marR="44367" marT="0" marB="0"/>
                </a:tc>
                <a:extLst>
                  <a:ext uri="{0D108BD9-81ED-4DB2-BD59-A6C34878D82A}">
                    <a16:rowId xmlns:a16="http://schemas.microsoft.com/office/drawing/2014/main" val="1804474912"/>
                  </a:ext>
                </a:extLst>
              </a:tr>
            </a:tbl>
          </a:graphicData>
        </a:graphic>
      </p:graphicFrame>
    </p:spTree>
    <p:extLst>
      <p:ext uri="{BB962C8B-B14F-4D97-AF65-F5344CB8AC3E}">
        <p14:creationId xmlns:p14="http://schemas.microsoft.com/office/powerpoint/2010/main" val="28025267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Surveys</a:t>
            </a:r>
          </a:p>
        </p:txBody>
      </p:sp>
      <p:sp>
        <p:nvSpPr>
          <p:cNvPr id="3" name="Content Placeholder 2"/>
          <p:cNvSpPr>
            <a:spLocks noGrp="1"/>
          </p:cNvSpPr>
          <p:nvPr>
            <p:ph idx="1"/>
          </p:nvPr>
        </p:nvSpPr>
        <p:spPr/>
        <p:txBody>
          <a:bodyPr/>
          <a:lstStyle/>
          <a:p>
            <a:r>
              <a:rPr lang="en-US" dirty="0"/>
              <a:t>Surveys are questionnaires that contains a series of questions around a specific topic.</a:t>
            </a:r>
          </a:p>
          <a:p>
            <a:r>
              <a:rPr lang="en-US" dirty="0"/>
              <a:t>Their purpose is to gather large volumes of quantitative data easily, though they can also collect some qualitative data.</a:t>
            </a:r>
          </a:p>
          <a:p>
            <a:endParaRPr lang="en-US" dirty="0"/>
          </a:p>
        </p:txBody>
      </p:sp>
      <p:pic>
        <p:nvPicPr>
          <p:cNvPr id="717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3399" y="2743200"/>
            <a:ext cx="5333999" cy="33335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3"/>
          <p:cNvSpPr/>
          <p:nvPr/>
        </p:nvSpPr>
        <p:spPr>
          <a:xfrm>
            <a:off x="533398" y="6172200"/>
            <a:ext cx="3338735" cy="369332"/>
          </a:xfrm>
          <a:prstGeom prst="rect">
            <a:avLst/>
          </a:prstGeom>
        </p:spPr>
        <p:txBody>
          <a:bodyPr wrap="none">
            <a:spAutoFit/>
          </a:bodyPr>
          <a:lstStyle/>
          <a:p>
            <a:r>
              <a:rPr lang="en-US" dirty="0"/>
              <a:t>https://www.surveymonkey.com/</a:t>
            </a:r>
          </a:p>
        </p:txBody>
      </p:sp>
    </p:spTree>
    <p:extLst>
      <p:ext uri="{BB962C8B-B14F-4D97-AF65-F5344CB8AC3E}">
        <p14:creationId xmlns:p14="http://schemas.microsoft.com/office/powerpoint/2010/main" val="33792420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Designing Surveys</a:t>
            </a:r>
          </a:p>
        </p:txBody>
      </p:sp>
      <p:sp>
        <p:nvSpPr>
          <p:cNvPr id="3" name="Content Placeholder 2"/>
          <p:cNvSpPr>
            <a:spLocks noGrp="1"/>
          </p:cNvSpPr>
          <p:nvPr>
            <p:ph idx="1"/>
          </p:nvPr>
        </p:nvSpPr>
        <p:spPr/>
        <p:txBody>
          <a:bodyPr/>
          <a:lstStyle/>
          <a:p>
            <a:r>
              <a:rPr lang="en-US" dirty="0"/>
              <a:t>Avoid leading questions</a:t>
            </a:r>
          </a:p>
          <a:p>
            <a:endParaRPr lang="en-US" dirty="0"/>
          </a:p>
          <a:p>
            <a:endParaRPr lang="en-US" dirty="0"/>
          </a:p>
          <a:p>
            <a:endParaRPr lang="en-US" dirty="0"/>
          </a:p>
          <a:p>
            <a:endParaRPr lang="en-US" dirty="0"/>
          </a:p>
          <a:p>
            <a:r>
              <a:rPr lang="en-US" dirty="0"/>
              <a:t>Phrasing questions in past tense will give you more accurate answers</a:t>
            </a:r>
          </a:p>
        </p:txBody>
      </p:sp>
      <p:sp>
        <p:nvSpPr>
          <p:cNvPr id="4" name="Rectangle 3"/>
          <p:cNvSpPr/>
          <p:nvPr/>
        </p:nvSpPr>
        <p:spPr>
          <a:xfrm>
            <a:off x="838200" y="1627910"/>
            <a:ext cx="7696200" cy="1200329"/>
          </a:xfrm>
          <a:prstGeom prst="rect">
            <a:avLst/>
          </a:prstGeom>
          <a:noFill/>
          <a:ln>
            <a:solidFill>
              <a:schemeClr val="accent1"/>
            </a:solidFill>
          </a:ln>
        </p:spPr>
        <p:txBody>
          <a:bodyPr wrap="square">
            <a:spAutoFit/>
          </a:bodyPr>
          <a:lstStyle/>
          <a:p>
            <a:r>
              <a:rPr lang="en-US" dirty="0"/>
              <a:t>Example:</a:t>
            </a:r>
          </a:p>
          <a:p>
            <a:r>
              <a:rPr lang="en-US" dirty="0">
                <a:solidFill>
                  <a:schemeClr val="accent6"/>
                </a:solidFill>
              </a:rPr>
              <a:t>Incorrect: </a:t>
            </a:r>
            <a:r>
              <a:rPr lang="en-US" dirty="0"/>
              <a:t>We have recently introduced new features on the website to become a first class web destination. What are your thoughts on the new site?</a:t>
            </a:r>
          </a:p>
          <a:p>
            <a:r>
              <a:rPr lang="en-US" dirty="0">
                <a:solidFill>
                  <a:schemeClr val="accent6"/>
                </a:solidFill>
              </a:rPr>
              <a:t>Replace with:</a:t>
            </a:r>
            <a:r>
              <a:rPr lang="en-US" dirty="0"/>
              <a:t> What are your thoughts on the changes to the website?</a:t>
            </a:r>
          </a:p>
        </p:txBody>
      </p:sp>
      <p:sp>
        <p:nvSpPr>
          <p:cNvPr id="5" name="Rectangle 4"/>
          <p:cNvSpPr/>
          <p:nvPr/>
        </p:nvSpPr>
        <p:spPr>
          <a:xfrm>
            <a:off x="838200" y="4191004"/>
            <a:ext cx="7696200" cy="923330"/>
          </a:xfrm>
          <a:prstGeom prst="rect">
            <a:avLst/>
          </a:prstGeom>
          <a:ln>
            <a:solidFill>
              <a:schemeClr val="accent1"/>
            </a:solidFill>
          </a:ln>
        </p:spPr>
        <p:txBody>
          <a:bodyPr wrap="square">
            <a:spAutoFit/>
          </a:bodyPr>
          <a:lstStyle/>
          <a:p>
            <a:r>
              <a:rPr lang="en-US" dirty="0"/>
              <a:t>Example:</a:t>
            </a:r>
          </a:p>
          <a:p>
            <a:r>
              <a:rPr lang="en-US" dirty="0">
                <a:solidFill>
                  <a:schemeClr val="accent6"/>
                </a:solidFill>
              </a:rPr>
              <a:t>Incorrect:</a:t>
            </a:r>
            <a:r>
              <a:rPr lang="en-US" dirty="0"/>
              <a:t> How many times a week do you buy take-away food?</a:t>
            </a:r>
          </a:p>
          <a:p>
            <a:r>
              <a:rPr lang="en-US" dirty="0">
                <a:solidFill>
                  <a:schemeClr val="accent6"/>
                </a:solidFill>
              </a:rPr>
              <a:t>Replace with:</a:t>
            </a:r>
            <a:r>
              <a:rPr lang="en-US" dirty="0"/>
              <a:t> In the past month, how many times did you buy take-away food?</a:t>
            </a:r>
          </a:p>
        </p:txBody>
      </p:sp>
    </p:spTree>
    <p:extLst>
      <p:ext uri="{BB962C8B-B14F-4D97-AF65-F5344CB8AC3E}">
        <p14:creationId xmlns:p14="http://schemas.microsoft.com/office/powerpoint/2010/main" val="26676185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lumMod val="75000"/>
                  </a:schemeClr>
                </a:solidFill>
              </a:rPr>
              <a:t>Designing Surveys</a:t>
            </a:r>
          </a:p>
        </p:txBody>
      </p:sp>
      <p:sp>
        <p:nvSpPr>
          <p:cNvPr id="3" name="Content Placeholder 2"/>
          <p:cNvSpPr>
            <a:spLocks noGrp="1"/>
          </p:cNvSpPr>
          <p:nvPr>
            <p:ph idx="1"/>
          </p:nvPr>
        </p:nvSpPr>
        <p:spPr/>
        <p:txBody>
          <a:bodyPr/>
          <a:lstStyle/>
          <a:p>
            <a:pPr marL="0" indent="0">
              <a:buNone/>
            </a:pPr>
            <a:r>
              <a:rPr lang="en-US" dirty="0">
                <a:solidFill>
                  <a:schemeClr val="accent6"/>
                </a:solidFill>
              </a:rPr>
              <a:t>Open-ended Questions</a:t>
            </a:r>
          </a:p>
          <a:p>
            <a:r>
              <a:rPr lang="en-US" dirty="0"/>
              <a:t>To gather qualitative data, use open-ended questions</a:t>
            </a:r>
          </a:p>
          <a:p>
            <a:endParaRPr lang="en-US" dirty="0"/>
          </a:p>
          <a:p>
            <a:endParaRPr lang="en-US" dirty="0"/>
          </a:p>
          <a:p>
            <a:endParaRPr lang="en-US" dirty="0"/>
          </a:p>
        </p:txBody>
      </p:sp>
      <p:sp>
        <p:nvSpPr>
          <p:cNvPr id="4" name="Rectangle 3"/>
          <p:cNvSpPr/>
          <p:nvPr/>
        </p:nvSpPr>
        <p:spPr>
          <a:xfrm>
            <a:off x="838200" y="2057400"/>
            <a:ext cx="7696200" cy="923330"/>
          </a:xfrm>
          <a:prstGeom prst="rect">
            <a:avLst/>
          </a:prstGeom>
          <a:noFill/>
          <a:ln>
            <a:solidFill>
              <a:schemeClr val="accent1"/>
            </a:solidFill>
          </a:ln>
        </p:spPr>
        <p:txBody>
          <a:bodyPr wrap="square">
            <a:spAutoFit/>
          </a:bodyPr>
          <a:lstStyle/>
          <a:p>
            <a:r>
              <a:rPr lang="en-US" dirty="0"/>
              <a:t>Example:</a:t>
            </a:r>
          </a:p>
          <a:p>
            <a:r>
              <a:rPr lang="en-US" dirty="0"/>
              <a:t>What features would you like to see on the website for Time magazine (www.time.com)?</a:t>
            </a:r>
          </a:p>
        </p:txBody>
      </p:sp>
    </p:spTree>
    <p:extLst>
      <p:ext uri="{BB962C8B-B14F-4D97-AF65-F5344CB8AC3E}">
        <p14:creationId xmlns:p14="http://schemas.microsoft.com/office/powerpoint/2010/main" val="25364280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lumMod val="75000"/>
                  </a:schemeClr>
                </a:solidFill>
              </a:rPr>
              <a:t>Designing Surveys</a:t>
            </a:r>
          </a:p>
        </p:txBody>
      </p:sp>
      <p:sp>
        <p:nvSpPr>
          <p:cNvPr id="3" name="Content Placeholder 2"/>
          <p:cNvSpPr>
            <a:spLocks noGrp="1"/>
          </p:cNvSpPr>
          <p:nvPr>
            <p:ph idx="1"/>
          </p:nvPr>
        </p:nvSpPr>
        <p:spPr/>
        <p:txBody>
          <a:bodyPr/>
          <a:lstStyle/>
          <a:p>
            <a:pPr marL="0" indent="0">
              <a:buNone/>
            </a:pPr>
            <a:r>
              <a:rPr lang="en-US" dirty="0">
                <a:solidFill>
                  <a:schemeClr val="accent6"/>
                </a:solidFill>
              </a:rPr>
              <a:t>Closed Questions</a:t>
            </a:r>
          </a:p>
          <a:p>
            <a:r>
              <a:rPr lang="en-US" dirty="0"/>
              <a:t>These questions give respondents specific responses from which to choose. These are typically multiple-choice questions with either one or multiple possible answers. This results in quantitative data.</a:t>
            </a:r>
          </a:p>
          <a:p>
            <a:endParaRPr lang="en-US" dirty="0"/>
          </a:p>
          <a:p>
            <a:endParaRPr lang="en-US" dirty="0"/>
          </a:p>
          <a:p>
            <a:endParaRPr lang="en-US" dirty="0"/>
          </a:p>
        </p:txBody>
      </p:sp>
      <p:sp>
        <p:nvSpPr>
          <p:cNvPr id="5" name="Rectangle 4"/>
          <p:cNvSpPr/>
          <p:nvPr/>
        </p:nvSpPr>
        <p:spPr>
          <a:xfrm>
            <a:off x="838200" y="3124200"/>
            <a:ext cx="7620000" cy="1200329"/>
          </a:xfrm>
          <a:prstGeom prst="rect">
            <a:avLst/>
          </a:prstGeom>
          <a:ln>
            <a:solidFill>
              <a:schemeClr val="accent1"/>
            </a:solidFill>
          </a:ln>
        </p:spPr>
        <p:txBody>
          <a:bodyPr wrap="square">
            <a:spAutoFit/>
          </a:bodyPr>
          <a:lstStyle/>
          <a:p>
            <a:r>
              <a:rPr lang="en-US" dirty="0"/>
              <a:t>Example:</a:t>
            </a:r>
          </a:p>
          <a:p>
            <a:r>
              <a:rPr lang="en-US" dirty="0"/>
              <a:t>Do you use the Time magazine website?</a:t>
            </a:r>
          </a:p>
          <a:p>
            <a:pPr marL="342900" indent="-342900">
              <a:buFont typeface="+mj-lt"/>
              <a:buAutoNum type="alphaLcParenR"/>
            </a:pPr>
            <a:r>
              <a:rPr lang="en-US" dirty="0"/>
              <a:t>Yes</a:t>
            </a:r>
          </a:p>
          <a:p>
            <a:pPr marL="342900" indent="-342900">
              <a:buFont typeface="+mj-lt"/>
              <a:buAutoNum type="alphaLcParenR"/>
            </a:pPr>
            <a:r>
              <a:rPr lang="en-US" dirty="0"/>
              <a:t>No</a:t>
            </a:r>
          </a:p>
        </p:txBody>
      </p:sp>
      <p:sp>
        <p:nvSpPr>
          <p:cNvPr id="6" name="Rectangle 5"/>
          <p:cNvSpPr/>
          <p:nvPr/>
        </p:nvSpPr>
        <p:spPr>
          <a:xfrm>
            <a:off x="838200" y="4572000"/>
            <a:ext cx="7620000" cy="1477328"/>
          </a:xfrm>
          <a:prstGeom prst="rect">
            <a:avLst/>
          </a:prstGeom>
          <a:ln>
            <a:solidFill>
              <a:schemeClr val="accent1"/>
            </a:solidFill>
          </a:ln>
        </p:spPr>
        <p:txBody>
          <a:bodyPr wrap="square">
            <a:spAutoFit/>
          </a:bodyPr>
          <a:lstStyle/>
          <a:p>
            <a:r>
              <a:rPr lang="en-US" dirty="0"/>
              <a:t>What features of the Time magazine website do you use? Tick all that apply.</a:t>
            </a:r>
          </a:p>
          <a:p>
            <a:pPr marL="342900" indent="-342900">
              <a:buFont typeface="+mj-lt"/>
              <a:buAutoNum type="alphaLcParenR"/>
            </a:pPr>
            <a:r>
              <a:rPr lang="en-US" dirty="0"/>
              <a:t>Blog</a:t>
            </a:r>
          </a:p>
          <a:p>
            <a:pPr marL="342900" indent="-342900">
              <a:buFont typeface="+mj-lt"/>
              <a:buAutoNum type="alphaLcParenR"/>
            </a:pPr>
            <a:r>
              <a:rPr lang="en-US" dirty="0"/>
              <a:t>World news</a:t>
            </a:r>
          </a:p>
          <a:p>
            <a:pPr marL="342900" indent="-342900">
              <a:buFont typeface="+mj-lt"/>
              <a:buAutoNum type="alphaLcParenR"/>
            </a:pPr>
            <a:r>
              <a:rPr lang="en-US" dirty="0"/>
              <a:t>Free downloads</a:t>
            </a:r>
          </a:p>
          <a:p>
            <a:pPr marL="342900" indent="-342900">
              <a:buFont typeface="+mj-lt"/>
              <a:buAutoNum type="alphaLcParenR"/>
            </a:pPr>
            <a:r>
              <a:rPr lang="en-US" dirty="0"/>
              <a:t>Additional resources</a:t>
            </a:r>
          </a:p>
        </p:txBody>
      </p:sp>
    </p:spTree>
    <p:extLst>
      <p:ext uri="{BB962C8B-B14F-4D97-AF65-F5344CB8AC3E}">
        <p14:creationId xmlns:p14="http://schemas.microsoft.com/office/powerpoint/2010/main" val="11796703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lumMod val="75000"/>
                  </a:schemeClr>
                </a:solidFill>
              </a:rPr>
              <a:t>Designing Surveys</a:t>
            </a:r>
            <a:endParaRPr lang="en-US" dirty="0"/>
          </a:p>
        </p:txBody>
      </p:sp>
      <p:sp>
        <p:nvSpPr>
          <p:cNvPr id="3" name="Content Placeholder 2"/>
          <p:cNvSpPr>
            <a:spLocks noGrp="1"/>
          </p:cNvSpPr>
          <p:nvPr>
            <p:ph idx="1"/>
          </p:nvPr>
        </p:nvSpPr>
        <p:spPr/>
        <p:txBody>
          <a:bodyPr/>
          <a:lstStyle/>
          <a:p>
            <a:pPr marL="0" indent="0">
              <a:buNone/>
            </a:pPr>
            <a:r>
              <a:rPr lang="en-US" dirty="0">
                <a:solidFill>
                  <a:schemeClr val="accent6"/>
                </a:solidFill>
              </a:rPr>
              <a:t>Ranked or ordinal</a:t>
            </a:r>
          </a:p>
          <a:p>
            <a:r>
              <a:rPr lang="en-US" dirty="0"/>
              <a:t>These questions ask respondents to rank items in order of preference or relevance. Respondents are given a numeric scale to indicate order. </a:t>
            </a:r>
          </a:p>
          <a:p>
            <a:r>
              <a:rPr lang="en-US" dirty="0"/>
              <a:t>This results in </a:t>
            </a:r>
            <a:r>
              <a:rPr lang="en-US" dirty="0">
                <a:solidFill>
                  <a:srgbClr val="C00000"/>
                </a:solidFill>
              </a:rPr>
              <a:t>quantitative data</a:t>
            </a:r>
            <a:r>
              <a:rPr lang="en-US" dirty="0"/>
              <a:t>.</a:t>
            </a:r>
          </a:p>
        </p:txBody>
      </p:sp>
      <p:sp>
        <p:nvSpPr>
          <p:cNvPr id="4" name="Rectangle 3"/>
          <p:cNvSpPr/>
          <p:nvPr/>
        </p:nvSpPr>
        <p:spPr>
          <a:xfrm>
            <a:off x="533400" y="3429000"/>
            <a:ext cx="7543800" cy="2308324"/>
          </a:xfrm>
          <a:prstGeom prst="rect">
            <a:avLst/>
          </a:prstGeom>
          <a:ln>
            <a:solidFill>
              <a:schemeClr val="accent1"/>
            </a:solidFill>
          </a:ln>
        </p:spPr>
        <p:txBody>
          <a:bodyPr wrap="square">
            <a:spAutoFit/>
          </a:bodyPr>
          <a:lstStyle/>
          <a:p>
            <a:r>
              <a:rPr lang="en-US" dirty="0"/>
              <a:t>Example:</a:t>
            </a:r>
          </a:p>
          <a:p>
            <a:r>
              <a:rPr lang="en-US" dirty="0"/>
              <a:t>Rate the features of the Time magazine website, where 1 is the most useful and 4 is the least useful.</a:t>
            </a:r>
            <a:br>
              <a:rPr lang="en-US" dirty="0"/>
            </a:br>
            <a:r>
              <a:rPr lang="en-US" dirty="0"/>
              <a:t>			   4      3	  2       1</a:t>
            </a:r>
          </a:p>
          <a:p>
            <a:r>
              <a:rPr lang="en-US" dirty="0"/>
              <a:t>Blog			[     ] [     ] [     ] [     ]</a:t>
            </a:r>
          </a:p>
          <a:p>
            <a:r>
              <a:rPr lang="en-US" dirty="0"/>
              <a:t>World news		[     ] [     ] [     ] [     ] 	</a:t>
            </a:r>
          </a:p>
          <a:p>
            <a:r>
              <a:rPr lang="en-US" dirty="0"/>
              <a:t>Free downloads		[     ] [     ] [     ] [     ]</a:t>
            </a:r>
          </a:p>
          <a:p>
            <a:r>
              <a:rPr lang="en-US" dirty="0"/>
              <a:t>Additional resources	[     ] [     ] [     ] [     ]</a:t>
            </a:r>
          </a:p>
        </p:txBody>
      </p:sp>
    </p:spTree>
    <p:extLst>
      <p:ext uri="{BB962C8B-B14F-4D97-AF65-F5344CB8AC3E}">
        <p14:creationId xmlns:p14="http://schemas.microsoft.com/office/powerpoint/2010/main" val="13311996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lumMod val="75000"/>
                  </a:schemeClr>
                </a:solidFill>
              </a:rPr>
              <a:t>Designing Surveys</a:t>
            </a:r>
            <a:endParaRPr lang="en-US" dirty="0"/>
          </a:p>
        </p:txBody>
      </p:sp>
      <p:sp>
        <p:nvSpPr>
          <p:cNvPr id="3" name="Content Placeholder 2"/>
          <p:cNvSpPr>
            <a:spLocks noGrp="1"/>
          </p:cNvSpPr>
          <p:nvPr>
            <p:ph idx="1"/>
          </p:nvPr>
        </p:nvSpPr>
        <p:spPr/>
        <p:txBody>
          <a:bodyPr/>
          <a:lstStyle/>
          <a:p>
            <a:pPr marL="0" indent="0">
              <a:buNone/>
            </a:pPr>
            <a:r>
              <a:rPr lang="en-US" dirty="0">
                <a:solidFill>
                  <a:schemeClr val="accent6"/>
                </a:solidFill>
              </a:rPr>
              <a:t>Matrix and rating</a:t>
            </a:r>
          </a:p>
          <a:p>
            <a:r>
              <a:rPr lang="en-US" dirty="0"/>
              <a:t>These types of questions can be used to quantify qualitative data. </a:t>
            </a:r>
          </a:p>
          <a:p>
            <a:r>
              <a:rPr lang="en-US" dirty="0"/>
              <a:t>Respondents are asked to rank behavior or attitude.</a:t>
            </a:r>
          </a:p>
          <a:p>
            <a:endParaRPr lang="en-US" dirty="0"/>
          </a:p>
        </p:txBody>
      </p:sp>
      <p:sp>
        <p:nvSpPr>
          <p:cNvPr id="4" name="Rectangle 3"/>
          <p:cNvSpPr/>
          <p:nvPr/>
        </p:nvSpPr>
        <p:spPr>
          <a:xfrm>
            <a:off x="457200" y="3124200"/>
            <a:ext cx="8229600" cy="2862322"/>
          </a:xfrm>
          <a:prstGeom prst="rect">
            <a:avLst/>
          </a:prstGeom>
          <a:ln>
            <a:solidFill>
              <a:schemeClr val="accent1"/>
            </a:solidFill>
          </a:ln>
        </p:spPr>
        <p:txBody>
          <a:bodyPr wrap="square">
            <a:spAutoFit/>
          </a:bodyPr>
          <a:lstStyle/>
          <a:p>
            <a:r>
              <a:rPr lang="en-US" dirty="0"/>
              <a:t>Example:</a:t>
            </a:r>
          </a:p>
          <a:p>
            <a:r>
              <a:rPr lang="en-US" dirty="0"/>
              <a:t>Rate the features of the Time magazine website according to the following scale:</a:t>
            </a:r>
          </a:p>
          <a:p>
            <a:endParaRPr lang="en-US" dirty="0"/>
          </a:p>
          <a:p>
            <a:r>
              <a:rPr lang="en-US" dirty="0"/>
              <a:t>1 = love it, 2 = like it, 3 = no opinion, 4 = dislike it.</a:t>
            </a:r>
          </a:p>
          <a:p>
            <a:endParaRPr lang="en-US" dirty="0"/>
          </a:p>
          <a:p>
            <a:r>
              <a:rPr lang="en-US" dirty="0"/>
              <a:t>			   4      3	  2       1</a:t>
            </a:r>
          </a:p>
          <a:p>
            <a:r>
              <a:rPr lang="en-US" dirty="0"/>
              <a:t>Blog			[     ] [     ] [     ] [     ]</a:t>
            </a:r>
          </a:p>
          <a:p>
            <a:r>
              <a:rPr lang="en-US" dirty="0"/>
              <a:t>World news		[     ] [     ] [     ] [     ] 	</a:t>
            </a:r>
          </a:p>
          <a:p>
            <a:r>
              <a:rPr lang="en-US" dirty="0"/>
              <a:t>Free downloads		[     ] [     ] [     ] [     ]</a:t>
            </a:r>
          </a:p>
          <a:p>
            <a:r>
              <a:rPr lang="en-US" dirty="0"/>
              <a:t>Additional resources	[     ] [     ] [     ] [     ]</a:t>
            </a:r>
          </a:p>
        </p:txBody>
      </p:sp>
    </p:spTree>
    <p:extLst>
      <p:ext uri="{BB962C8B-B14F-4D97-AF65-F5344CB8AC3E}">
        <p14:creationId xmlns:p14="http://schemas.microsoft.com/office/powerpoint/2010/main" val="5034107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Activity 4</a:t>
            </a:r>
            <a:endParaRPr lang="en-US" dirty="0"/>
          </a:p>
        </p:txBody>
      </p:sp>
      <p:grpSp>
        <p:nvGrpSpPr>
          <p:cNvPr id="5" name="Group 4"/>
          <p:cNvGrpSpPr/>
          <p:nvPr/>
        </p:nvGrpSpPr>
        <p:grpSpPr>
          <a:xfrm>
            <a:off x="1958513" y="1653437"/>
            <a:ext cx="4673148" cy="3994959"/>
            <a:chOff x="1958513" y="1653437"/>
            <a:chExt cx="4673148" cy="3994959"/>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04955" y="3276600"/>
              <a:ext cx="1626706" cy="23717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20629283">
              <a:off x="1958513" y="1653437"/>
              <a:ext cx="2999232" cy="3545175"/>
            </a:xfrm>
            <a:prstGeom prst="rect">
              <a:avLst/>
            </a:prstGeom>
          </p:spPr>
        </p:pic>
      </p:grpSp>
    </p:spTree>
    <p:extLst>
      <p:ext uri="{BB962C8B-B14F-4D97-AF65-F5344CB8AC3E}">
        <p14:creationId xmlns:p14="http://schemas.microsoft.com/office/powerpoint/2010/main" val="26848101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8480BE-D926-4D33-AA8A-1625C86E2AE9}"/>
              </a:ext>
            </a:extLst>
          </p:cNvPr>
          <p:cNvSpPr>
            <a:spLocks noGrp="1"/>
          </p:cNvSpPr>
          <p:nvPr>
            <p:ph type="title"/>
          </p:nvPr>
        </p:nvSpPr>
        <p:spPr/>
        <p:txBody>
          <a:bodyPr/>
          <a:lstStyle/>
          <a:p>
            <a:r>
              <a:rPr lang="en-SG" dirty="0"/>
              <a:t>Activity 4</a:t>
            </a:r>
          </a:p>
        </p:txBody>
      </p:sp>
      <p:sp>
        <p:nvSpPr>
          <p:cNvPr id="3" name="Content Placeholder 2">
            <a:extLst>
              <a:ext uri="{FF2B5EF4-FFF2-40B4-BE49-F238E27FC236}">
                <a16:creationId xmlns:a16="http://schemas.microsoft.com/office/drawing/2014/main" id="{C0C19AF8-C33A-4E26-A7B5-9A0F8B92DF30}"/>
              </a:ext>
            </a:extLst>
          </p:cNvPr>
          <p:cNvSpPr>
            <a:spLocks noGrp="1"/>
          </p:cNvSpPr>
          <p:nvPr>
            <p:ph idx="1"/>
          </p:nvPr>
        </p:nvSpPr>
        <p:spPr/>
        <p:txBody>
          <a:bodyPr/>
          <a:lstStyle/>
          <a:p>
            <a:pPr marL="0" indent="0">
              <a:buNone/>
            </a:pPr>
            <a:r>
              <a:rPr lang="en-US" dirty="0"/>
              <a:t>Café J is a popular coffee shop in town. It has introduced a new product “Yogurt Coffee” last a few months ago, and the management wants to know how customers think about its new product in terms of taste, serving size, and price. They want to conduct the survey to all customers ordering Yogurt Coffee in the store for 3 months, offering FREE cookie to the respondent. </a:t>
            </a:r>
            <a:endParaRPr lang="en-SG" dirty="0"/>
          </a:p>
          <a:p>
            <a:r>
              <a:rPr lang="en-US" dirty="0"/>
              <a:t>Suggest some questions for above market survey.</a:t>
            </a:r>
            <a:endParaRPr lang="en-SG" dirty="0"/>
          </a:p>
          <a:p>
            <a:endParaRPr lang="en-SG" dirty="0"/>
          </a:p>
        </p:txBody>
      </p:sp>
    </p:spTree>
    <p:extLst>
      <p:ext uri="{BB962C8B-B14F-4D97-AF65-F5344CB8AC3E}">
        <p14:creationId xmlns:p14="http://schemas.microsoft.com/office/powerpoint/2010/main" val="31977929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Focus Groups</a:t>
            </a:r>
          </a:p>
        </p:txBody>
      </p:sp>
      <p:sp>
        <p:nvSpPr>
          <p:cNvPr id="3" name="Content Placeholder 2"/>
          <p:cNvSpPr>
            <a:spLocks noGrp="1"/>
          </p:cNvSpPr>
          <p:nvPr>
            <p:ph idx="1"/>
          </p:nvPr>
        </p:nvSpPr>
        <p:spPr/>
        <p:txBody>
          <a:bodyPr/>
          <a:lstStyle/>
          <a:p>
            <a:r>
              <a:rPr lang="en-US" dirty="0"/>
              <a:t>Online focus groups involve respondents gathering online and reacting to a particular topic.</a:t>
            </a:r>
          </a:p>
          <a:p>
            <a:r>
              <a:rPr lang="en-US" dirty="0"/>
              <a:t>Respondents can be sourced from all over the world and react in real time, arguably being freer with their responses since they can be anonymous in an electronic environment.</a:t>
            </a:r>
          </a:p>
          <a:p>
            <a:r>
              <a:rPr lang="en-US" dirty="0"/>
              <a:t>Online focus groups are ideal for having frank, detailed conversations with people who have an interest in your brand – this means they result in primary, qualitative data. This information can then be used to create quantitative research questions.</a:t>
            </a:r>
          </a:p>
          <a:p>
            <a:r>
              <a:rPr lang="en-US" dirty="0"/>
              <a:t>Range of technologies available – Text Messaging to Video Conferences</a:t>
            </a:r>
          </a:p>
        </p:txBody>
      </p:sp>
    </p:spTree>
    <p:extLst>
      <p:ext uri="{BB962C8B-B14F-4D97-AF65-F5344CB8AC3E}">
        <p14:creationId xmlns:p14="http://schemas.microsoft.com/office/powerpoint/2010/main" val="35319506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lumMod val="75000"/>
                  </a:schemeClr>
                </a:solidFill>
              </a:rPr>
              <a:t>Focus Groups</a:t>
            </a:r>
          </a:p>
        </p:txBody>
      </p:sp>
      <p:sp>
        <p:nvSpPr>
          <p:cNvPr id="3" name="Content Placeholder 2"/>
          <p:cNvSpPr>
            <a:spLocks noGrp="1"/>
          </p:cNvSpPr>
          <p:nvPr>
            <p:ph idx="1"/>
          </p:nvPr>
        </p:nvSpPr>
        <p:spPr/>
        <p:txBody>
          <a:bodyPr/>
          <a:lstStyle/>
          <a:p>
            <a:r>
              <a:rPr lang="en-US" dirty="0"/>
              <a:t>Good options for conducting online focus groups include:</a:t>
            </a:r>
          </a:p>
          <a:p>
            <a:pPr lvl="1"/>
            <a:r>
              <a:rPr lang="en-US" dirty="0"/>
              <a:t>Google Hangouts: </a:t>
            </a:r>
            <a:r>
              <a:rPr lang="en-US" u="sng" dirty="0">
                <a:hlinkClick r:id="rId2"/>
              </a:rPr>
              <a:t>https://hangouts.google.com/</a:t>
            </a:r>
            <a:r>
              <a:rPr lang="en-US" u="sng" dirty="0"/>
              <a:t> </a:t>
            </a:r>
            <a:endParaRPr lang="en-US" dirty="0"/>
          </a:p>
          <a:p>
            <a:pPr lvl="1"/>
            <a:r>
              <a:rPr lang="en-US" dirty="0"/>
              <a:t>Skype: </a:t>
            </a:r>
            <a:r>
              <a:rPr lang="en-US" u="sng" dirty="0">
                <a:hlinkClick r:id="rId3"/>
              </a:rPr>
              <a:t>www.skype.com/en</a:t>
            </a:r>
            <a:endParaRPr lang="en-US" dirty="0"/>
          </a:p>
          <a:p>
            <a:pPr lvl="1"/>
            <a:r>
              <a:rPr lang="en-US" dirty="0"/>
              <a:t>GoToMeeting: </a:t>
            </a:r>
            <a:r>
              <a:rPr lang="en-US" dirty="0">
                <a:hlinkClick r:id="rId4"/>
              </a:rPr>
              <a:t>www.gotomeeting.</a:t>
            </a:r>
            <a:r>
              <a:rPr lang="en-US">
                <a:hlinkClick r:id="rId4"/>
              </a:rPr>
              <a:t>com/</a:t>
            </a:r>
            <a:endParaRPr lang="en-US" dirty="0"/>
          </a:p>
        </p:txBody>
      </p:sp>
      <p:pic>
        <p:nvPicPr>
          <p:cNvPr id="8194" name="Picture 2" descr="https://static.bluejeans.com/website/sites/default/files/uploaded_images/bj-google-hangouts-image.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00200" y="2895600"/>
            <a:ext cx="6067425" cy="3419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26531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bg1">
                    <a:lumMod val="75000"/>
                  </a:schemeClr>
                </a:solidFill>
              </a:rPr>
              <a:t>Focus Groups</a:t>
            </a:r>
            <a:endParaRPr lang="en-SG" dirty="0"/>
          </a:p>
        </p:txBody>
      </p:sp>
      <p:sp>
        <p:nvSpPr>
          <p:cNvPr id="3" name="Content Placeholder 2"/>
          <p:cNvSpPr>
            <a:spLocks noGrp="1"/>
          </p:cNvSpPr>
          <p:nvPr>
            <p:ph idx="1"/>
          </p:nvPr>
        </p:nvSpPr>
        <p:spPr/>
        <p:txBody>
          <a:bodyPr/>
          <a:lstStyle/>
          <a:p>
            <a:r>
              <a:rPr lang="en-SG" dirty="0"/>
              <a:t>Less formal then surveys (researcher may not have full control over conversation)</a:t>
            </a:r>
          </a:p>
          <a:p>
            <a:r>
              <a:rPr lang="en-SG" dirty="0"/>
              <a:t>Focus groups are used to get consumer views on:</a:t>
            </a:r>
          </a:p>
          <a:p>
            <a:pPr lvl="1"/>
            <a:r>
              <a:rPr lang="en-US" dirty="0"/>
              <a:t>New products or marketing campaigns</a:t>
            </a:r>
            <a:endParaRPr lang="en-SG" dirty="0"/>
          </a:p>
          <a:p>
            <a:pPr lvl="1"/>
            <a:r>
              <a:rPr lang="en-US" dirty="0"/>
              <a:t>Existing products and campaigns, and how they can be improved</a:t>
            </a:r>
            <a:endParaRPr lang="en-SG" dirty="0"/>
          </a:p>
          <a:p>
            <a:pPr lvl="1"/>
            <a:r>
              <a:rPr lang="en-US" dirty="0"/>
              <a:t>Sentiment around the brand</a:t>
            </a:r>
            <a:endParaRPr lang="en-SG" dirty="0"/>
          </a:p>
          <a:p>
            <a:pPr lvl="1"/>
            <a:r>
              <a:rPr lang="en-US" dirty="0"/>
              <a:t>Views on a brand’s new direction or visual style</a:t>
            </a:r>
            <a:endParaRPr lang="en-SG" dirty="0"/>
          </a:p>
          <a:p>
            <a:pPr lvl="1"/>
            <a:r>
              <a:rPr lang="en-US" dirty="0"/>
              <a:t>Ideas for how the brand could improve its position or branding.</a:t>
            </a:r>
            <a:endParaRPr lang="en-SG" dirty="0"/>
          </a:p>
          <a:p>
            <a:r>
              <a:rPr lang="en-SG" dirty="0"/>
              <a:t>Good for collecting qualitative data quickly</a:t>
            </a:r>
          </a:p>
          <a:p>
            <a:r>
              <a:rPr lang="en-SG" dirty="0"/>
              <a:t>Should choose enough participants – 8 to 10 is good range</a:t>
            </a:r>
          </a:p>
          <a:p>
            <a:endParaRPr lang="en-SG" dirty="0"/>
          </a:p>
          <a:p>
            <a:endParaRPr lang="en-SG" dirty="0"/>
          </a:p>
        </p:txBody>
      </p:sp>
    </p:spTree>
    <p:extLst>
      <p:ext uri="{BB962C8B-B14F-4D97-AF65-F5344CB8AC3E}">
        <p14:creationId xmlns:p14="http://schemas.microsoft.com/office/powerpoint/2010/main" val="1978399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Activity 5</a:t>
            </a:r>
          </a:p>
        </p:txBody>
      </p:sp>
      <p:grpSp>
        <p:nvGrpSpPr>
          <p:cNvPr id="5" name="Group 4"/>
          <p:cNvGrpSpPr/>
          <p:nvPr/>
        </p:nvGrpSpPr>
        <p:grpSpPr>
          <a:xfrm>
            <a:off x="1958513" y="1653437"/>
            <a:ext cx="4673148" cy="3994959"/>
            <a:chOff x="1958513" y="1653437"/>
            <a:chExt cx="4673148" cy="3994959"/>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04955" y="3276600"/>
              <a:ext cx="1626706" cy="23717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20629283">
              <a:off x="1958513" y="1653437"/>
              <a:ext cx="2999232" cy="3545175"/>
            </a:xfrm>
            <a:prstGeom prst="rect">
              <a:avLst/>
            </a:prstGeom>
          </p:spPr>
        </p:pic>
      </p:grpSp>
    </p:spTree>
    <p:extLst>
      <p:ext uri="{BB962C8B-B14F-4D97-AF65-F5344CB8AC3E}">
        <p14:creationId xmlns:p14="http://schemas.microsoft.com/office/powerpoint/2010/main" val="29365608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B4B79-AB06-452D-9B7C-69D0E41C45E5}"/>
              </a:ext>
            </a:extLst>
          </p:cNvPr>
          <p:cNvSpPr>
            <a:spLocks noGrp="1"/>
          </p:cNvSpPr>
          <p:nvPr>
            <p:ph type="title"/>
          </p:nvPr>
        </p:nvSpPr>
        <p:spPr/>
        <p:txBody>
          <a:bodyPr/>
          <a:lstStyle/>
          <a:p>
            <a:r>
              <a:rPr lang="en-SG" dirty="0"/>
              <a:t>Activity 5</a:t>
            </a:r>
          </a:p>
        </p:txBody>
      </p:sp>
      <p:sp>
        <p:nvSpPr>
          <p:cNvPr id="3" name="Content Placeholder 2">
            <a:extLst>
              <a:ext uri="{FF2B5EF4-FFF2-40B4-BE49-F238E27FC236}">
                <a16:creationId xmlns:a16="http://schemas.microsoft.com/office/drawing/2014/main" id="{CC0685E2-A836-4D3C-81D3-D781ABD853FA}"/>
              </a:ext>
            </a:extLst>
          </p:cNvPr>
          <p:cNvSpPr>
            <a:spLocks noGrp="1"/>
          </p:cNvSpPr>
          <p:nvPr>
            <p:ph idx="1"/>
          </p:nvPr>
        </p:nvSpPr>
        <p:spPr/>
        <p:txBody>
          <a:bodyPr/>
          <a:lstStyle/>
          <a:p>
            <a:pPr marL="0" indent="0">
              <a:buNone/>
            </a:pPr>
            <a:r>
              <a:rPr lang="en-US" dirty="0"/>
              <a:t>Do you think the Café J in Activity 4 should use focus group instead of survey? What will be the pros and cons of focus group in this situation? </a:t>
            </a:r>
            <a:endParaRPr lang="en-SG" dirty="0"/>
          </a:p>
          <a:p>
            <a:endParaRPr lang="en-SG" dirty="0"/>
          </a:p>
        </p:txBody>
      </p:sp>
    </p:spTree>
    <p:extLst>
      <p:ext uri="{BB962C8B-B14F-4D97-AF65-F5344CB8AC3E}">
        <p14:creationId xmlns:p14="http://schemas.microsoft.com/office/powerpoint/2010/main" val="11162478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Online Monitoring</a:t>
            </a:r>
          </a:p>
        </p:txBody>
      </p:sp>
      <p:sp>
        <p:nvSpPr>
          <p:cNvPr id="3" name="Content Placeholder 2"/>
          <p:cNvSpPr>
            <a:spLocks noGrp="1"/>
          </p:cNvSpPr>
          <p:nvPr>
            <p:ph idx="1"/>
          </p:nvPr>
        </p:nvSpPr>
        <p:spPr/>
        <p:txBody>
          <a:bodyPr>
            <a:normAutofit/>
          </a:bodyPr>
          <a:lstStyle/>
          <a:p>
            <a:r>
              <a:rPr lang="en-SG" dirty="0"/>
              <a:t>Difficult in offline world, but easy to monitor online</a:t>
            </a:r>
          </a:p>
          <a:p>
            <a:r>
              <a:rPr lang="en-US" dirty="0"/>
              <a:t>Keywords – the foundation to categorizing and indexing the web – make it simple to track conversations taking place online</a:t>
            </a:r>
          </a:p>
          <a:p>
            <a:r>
              <a:rPr lang="en-US" dirty="0"/>
              <a:t>Online tools allow a company to track mentions of itself, its staff, its products, its industry and its competitors</a:t>
            </a:r>
          </a:p>
          <a:p>
            <a:r>
              <a:rPr lang="en-SG" dirty="0"/>
              <a:t>You may search for </a:t>
            </a:r>
          </a:p>
          <a:p>
            <a:pPr lvl="1"/>
            <a:r>
              <a:rPr lang="en-SG" dirty="0"/>
              <a:t>Broad match (apple computers)</a:t>
            </a:r>
          </a:p>
          <a:p>
            <a:pPr lvl="1"/>
            <a:r>
              <a:rPr lang="en-SG" dirty="0"/>
              <a:t>Direct match (“Apple computers”)</a:t>
            </a:r>
          </a:p>
          <a:p>
            <a:pPr lvl="1"/>
            <a:r>
              <a:rPr lang="en-SG" dirty="0"/>
              <a:t>Inclusive match (Apple +computers)</a:t>
            </a:r>
          </a:p>
          <a:p>
            <a:pPr lvl="1"/>
            <a:r>
              <a:rPr lang="en-SG" dirty="0"/>
              <a:t>Exclusive match (Apple –fruit)</a:t>
            </a:r>
          </a:p>
          <a:p>
            <a:pPr lvl="1"/>
            <a:endParaRPr lang="en-SG" dirty="0"/>
          </a:p>
        </p:txBody>
      </p:sp>
    </p:spTree>
    <p:extLst>
      <p:ext uri="{BB962C8B-B14F-4D97-AF65-F5344CB8AC3E}">
        <p14:creationId xmlns:p14="http://schemas.microsoft.com/office/powerpoint/2010/main" val="12625437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Tools for monitoring</a:t>
            </a:r>
          </a:p>
        </p:txBody>
      </p:sp>
      <p:sp>
        <p:nvSpPr>
          <p:cNvPr id="3" name="Content Placeholder 2"/>
          <p:cNvSpPr>
            <a:spLocks noGrp="1"/>
          </p:cNvSpPr>
          <p:nvPr>
            <p:ph idx="1"/>
          </p:nvPr>
        </p:nvSpPr>
        <p:spPr/>
        <p:txBody>
          <a:bodyPr/>
          <a:lstStyle/>
          <a:p>
            <a:r>
              <a:rPr lang="en-SG" dirty="0"/>
              <a:t>Google Alerts</a:t>
            </a:r>
          </a:p>
          <a:p>
            <a:r>
              <a:rPr lang="en-SG" dirty="0"/>
              <a:t>Google news</a:t>
            </a:r>
          </a:p>
          <a:p>
            <a:r>
              <a:rPr lang="en-SG" dirty="0"/>
              <a:t>Google blog search</a:t>
            </a:r>
          </a:p>
          <a:p>
            <a:r>
              <a:rPr lang="en-SG" dirty="0"/>
              <a:t>Google patent search</a:t>
            </a:r>
          </a:p>
          <a:p>
            <a:r>
              <a:rPr lang="en-SG" dirty="0"/>
              <a:t>Google video search</a:t>
            </a:r>
          </a:p>
          <a:p>
            <a:r>
              <a:rPr lang="en-SG" dirty="0"/>
              <a:t>Technorati</a:t>
            </a:r>
          </a:p>
          <a:p>
            <a:r>
              <a:rPr lang="en-SG" dirty="0"/>
              <a:t>Flickr</a:t>
            </a:r>
          </a:p>
          <a:p>
            <a:r>
              <a:rPr lang="en-SG" dirty="0"/>
              <a:t>Delicious</a:t>
            </a:r>
          </a:p>
        </p:txBody>
      </p:sp>
    </p:spTree>
    <p:extLst>
      <p:ext uri="{BB962C8B-B14F-4D97-AF65-F5344CB8AC3E}">
        <p14:creationId xmlns:p14="http://schemas.microsoft.com/office/powerpoint/2010/main" val="1394699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Other avenue for online research</a:t>
            </a:r>
          </a:p>
        </p:txBody>
      </p:sp>
      <p:sp>
        <p:nvSpPr>
          <p:cNvPr id="3" name="Content Placeholder 2"/>
          <p:cNvSpPr>
            <a:spLocks noGrp="1"/>
          </p:cNvSpPr>
          <p:nvPr>
            <p:ph idx="1"/>
          </p:nvPr>
        </p:nvSpPr>
        <p:spPr/>
        <p:txBody>
          <a:bodyPr/>
          <a:lstStyle/>
          <a:p>
            <a:r>
              <a:rPr lang="en-SG" dirty="0"/>
              <a:t>Personal interview</a:t>
            </a:r>
          </a:p>
          <a:p>
            <a:r>
              <a:rPr lang="en-SG" dirty="0"/>
              <a:t>Observation/Online ethnography</a:t>
            </a:r>
          </a:p>
          <a:p>
            <a:r>
              <a:rPr lang="en-SG" dirty="0"/>
              <a:t>Online research communities</a:t>
            </a:r>
          </a:p>
          <a:p>
            <a:r>
              <a:rPr lang="en-SG" dirty="0"/>
              <a:t>Listening labs</a:t>
            </a:r>
          </a:p>
          <a:p>
            <a:r>
              <a:rPr lang="en-SG" dirty="0"/>
              <a:t>Conversion optimization (A/B testing)</a:t>
            </a:r>
          </a:p>
        </p:txBody>
      </p:sp>
    </p:spTree>
    <p:extLst>
      <p:ext uri="{BB962C8B-B14F-4D97-AF65-F5344CB8AC3E}">
        <p14:creationId xmlns:p14="http://schemas.microsoft.com/office/powerpoint/2010/main" val="24804093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Tools of the trades</a:t>
            </a:r>
          </a:p>
        </p:txBody>
      </p:sp>
      <p:sp>
        <p:nvSpPr>
          <p:cNvPr id="3" name="Content Placeholder 2"/>
          <p:cNvSpPr>
            <a:spLocks noGrp="1"/>
          </p:cNvSpPr>
          <p:nvPr>
            <p:ph idx="1"/>
          </p:nvPr>
        </p:nvSpPr>
        <p:spPr/>
        <p:txBody>
          <a:bodyPr/>
          <a:lstStyle/>
          <a:p>
            <a:pPr lvl="0"/>
            <a:r>
              <a:rPr lang="en-US" dirty="0"/>
              <a:t>Survey tools</a:t>
            </a:r>
          </a:p>
          <a:p>
            <a:pPr lvl="1"/>
            <a:r>
              <a:rPr lang="en-US" dirty="0" err="1"/>
              <a:t>SurveyMonkey</a:t>
            </a:r>
            <a:r>
              <a:rPr lang="en-US" dirty="0"/>
              <a:t>: </a:t>
            </a:r>
            <a:r>
              <a:rPr lang="en-US" u="sng" dirty="0">
                <a:hlinkClick r:id="rId2"/>
              </a:rPr>
              <a:t>www.surveymonkey.com</a:t>
            </a:r>
            <a:endParaRPr lang="en-SG" dirty="0"/>
          </a:p>
          <a:p>
            <a:pPr lvl="1"/>
            <a:r>
              <a:rPr lang="en-US" dirty="0" err="1"/>
              <a:t>Wufoo</a:t>
            </a:r>
            <a:r>
              <a:rPr lang="en-US" dirty="0"/>
              <a:t>: </a:t>
            </a:r>
            <a:r>
              <a:rPr lang="en-US" u="sng" dirty="0">
                <a:hlinkClick r:id="rId3"/>
              </a:rPr>
              <a:t>www.wufoo.com</a:t>
            </a:r>
            <a:endParaRPr lang="en-SG" dirty="0"/>
          </a:p>
          <a:p>
            <a:pPr lvl="1"/>
            <a:r>
              <a:rPr lang="en-US" dirty="0"/>
              <a:t>Kwik Surveys: kwiksurveys.com</a:t>
            </a:r>
            <a:endParaRPr lang="en-SG" dirty="0"/>
          </a:p>
          <a:p>
            <a:pPr lvl="1"/>
            <a:r>
              <a:rPr lang="en-US" dirty="0"/>
              <a:t>Google Forms: accessed through Google Drive drive.google.com</a:t>
            </a:r>
            <a:endParaRPr lang="en-SG" dirty="0"/>
          </a:p>
          <a:p>
            <a:pPr lvl="1"/>
            <a:r>
              <a:rPr lang="en-US" dirty="0" err="1"/>
              <a:t>Qualaroo</a:t>
            </a:r>
            <a:r>
              <a:rPr lang="en-US" dirty="0"/>
              <a:t> Insights (unique real-time offering): qualaroo.com</a:t>
            </a:r>
            <a:endParaRPr lang="en-SG" dirty="0"/>
          </a:p>
        </p:txBody>
      </p:sp>
    </p:spTree>
    <p:extLst>
      <p:ext uri="{BB962C8B-B14F-4D97-AF65-F5344CB8AC3E}">
        <p14:creationId xmlns:p14="http://schemas.microsoft.com/office/powerpoint/2010/main" val="2299156716"/>
      </p:ext>
    </p:extLst>
  </p:cSld>
  <p:clrMapOvr>
    <a:masterClrMapping/>
  </p:clrMapOvr>
</p:sld>
</file>

<file path=ppt/theme/theme1.xml><?xml version="1.0" encoding="utf-8"?>
<a:theme xmlns:a="http://schemas.openxmlformats.org/drawingml/2006/main" name="Coursewar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Courseware</Template>
  <TotalTime>2809</TotalTime>
  <Words>2306</Words>
  <Application>Microsoft Office PowerPoint</Application>
  <PresentationFormat>On-screen Show (4:3)</PresentationFormat>
  <Paragraphs>269</Paragraphs>
  <Slides>34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Courseware</vt:lpstr>
      <vt:lpstr>Digital Marketing Essentials</vt:lpstr>
      <vt:lpstr>Learning Objectives</vt:lpstr>
      <vt:lpstr>The Importance of Market Research</vt:lpstr>
      <vt:lpstr>Online Market Research</vt:lpstr>
      <vt:lpstr>Key concepts in market research</vt:lpstr>
      <vt:lpstr>Research methodology</vt:lpstr>
      <vt:lpstr>Primary and Secondary Research</vt:lpstr>
      <vt:lpstr>Primary and Secondary Research</vt:lpstr>
      <vt:lpstr>Primary and Secondary Research</vt:lpstr>
      <vt:lpstr>Activity 2</vt:lpstr>
      <vt:lpstr>Quantitative and qualitative data</vt:lpstr>
      <vt:lpstr>Quantitative and qualitative data</vt:lpstr>
      <vt:lpstr>Sampling</vt:lpstr>
      <vt:lpstr>Sampling</vt:lpstr>
      <vt:lpstr>Online research methodologies</vt:lpstr>
      <vt:lpstr>Activity 3</vt:lpstr>
      <vt:lpstr>Activity 3</vt:lpstr>
      <vt:lpstr>Surveys</vt:lpstr>
      <vt:lpstr>Designing Surveys</vt:lpstr>
      <vt:lpstr>Designing Surveys</vt:lpstr>
      <vt:lpstr>Designing Surveys</vt:lpstr>
      <vt:lpstr>Designing Surveys</vt:lpstr>
      <vt:lpstr>Designing Surveys</vt:lpstr>
      <vt:lpstr>Activity 4</vt:lpstr>
      <vt:lpstr>Activity 4</vt:lpstr>
      <vt:lpstr>Focus Groups</vt:lpstr>
      <vt:lpstr>Focus Groups</vt:lpstr>
      <vt:lpstr>Focus Groups</vt:lpstr>
      <vt:lpstr>Activity 5</vt:lpstr>
      <vt:lpstr>Activity 5</vt:lpstr>
      <vt:lpstr>Online Monitoring</vt:lpstr>
      <vt:lpstr>Tools for monitoring</vt:lpstr>
      <vt:lpstr>Other avenue for online research</vt:lpstr>
      <vt:lpstr>Tools of the trades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Essentials of Digital Marketing</dc:title>
  <dc:creator>Tony Toe</dc:creator>
  <cp:lastModifiedBy>Marie Chris Soque</cp:lastModifiedBy>
  <cp:revision>264</cp:revision>
  <dcterms:created xsi:type="dcterms:W3CDTF">2015-05-11T10:12:52Z</dcterms:created>
  <dcterms:modified xsi:type="dcterms:W3CDTF">2026-06-04T13:01:51Z</dcterms:modified>
</cp:coreProperties>
</file>