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88" r:id="rId4"/>
    <p:sldId id="286" r:id="rId5"/>
    <p:sldId id="293" r:id="rId6"/>
    <p:sldId id="289" r:id="rId7"/>
    <p:sldId id="294" r:id="rId8"/>
    <p:sldId id="290" r:id="rId9"/>
    <p:sldId id="291" r:id="rId10"/>
    <p:sldId id="295" r:id="rId11"/>
    <p:sldId id="297" r:id="rId12"/>
    <p:sldId id="298" r:id="rId13"/>
    <p:sldId id="299" r:id="rId14"/>
    <p:sldId id="300" r:id="rId15"/>
    <p:sldId id="296" r:id="rId16"/>
    <p:sldId id="301" r:id="rId17"/>
    <p:sldId id="302" r:id="rId18"/>
    <p:sldId id="303" r:id="rId19"/>
    <p:sldId id="304" r:id="rId20"/>
    <p:sldId id="306" r:id="rId21"/>
    <p:sldId id="305" r:id="rId22"/>
    <p:sldId id="307" r:id="rId23"/>
    <p:sldId id="308" r:id="rId24"/>
    <p:sldId id="309" r:id="rId25"/>
    <p:sldId id="310" r:id="rId26"/>
    <p:sldId id="311" r:id="rId27"/>
    <p:sldId id="312" r:id="rId28"/>
    <p:sldId id="313" r:id="rId29"/>
    <p:sldId id="315" r:id="rId30"/>
    <p:sldId id="314" r:id="rId31"/>
    <p:sldId id="316" r:id="rId32"/>
    <p:sldId id="317" r:id="rId33"/>
    <p:sldId id="318" r:id="rId34"/>
    <p:sldId id="319" r:id="rId35"/>
    <p:sldId id="332" r:id="rId36"/>
    <p:sldId id="322" r:id="rId37"/>
    <p:sldId id="333" r:id="rId38"/>
    <p:sldId id="323" r:id="rId39"/>
    <p:sldId id="324" r:id="rId40"/>
    <p:sldId id="326" r:id="rId41"/>
    <p:sldId id="327" r:id="rId42"/>
    <p:sldId id="328" r:id="rId43"/>
    <p:sldId id="331" r:id="rId44"/>
    <p:sldId id="329"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C41E"/>
    <a:srgbClr val="4FA1FB"/>
    <a:srgbClr val="90C4F4"/>
    <a:srgbClr val="0A779E"/>
    <a:srgbClr val="32C0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834CCB0-2B6F-4E24-A91F-C0AF8782BFC7}"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1260266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57200" y="1066800"/>
            <a:ext cx="8229600" cy="5059363"/>
          </a:xfrm>
        </p:spPr>
        <p:txBody>
          <a:bodyPr/>
          <a:lstStyle>
            <a:lvl1pPr>
              <a:defRPr sz="2400"/>
            </a:lvl1pPr>
            <a:lvl2pPr>
              <a:defRPr sz="20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34CCB0-2B6F-4E24-A91F-C0AF8782BFC7}"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74D3A7-7D3D-4CD8-B2CB-FC4A9642F7B7}" type="slidenum">
              <a:rPr lang="en-US" smtClean="0"/>
              <a:t>‹#›</a:t>
            </a:fld>
            <a:endParaRPr lang="en-US"/>
          </a:p>
        </p:txBody>
      </p:sp>
      <p:cxnSp>
        <p:nvCxnSpPr>
          <p:cNvPr id="8" name="Straight Connector 7"/>
          <p:cNvCxnSpPr/>
          <p:nvPr userDrawn="1"/>
        </p:nvCxnSpPr>
        <p:spPr>
          <a:xfrm>
            <a:off x="457200" y="849552"/>
            <a:ext cx="8229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868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34CCB0-2B6F-4E24-A91F-C0AF8782BFC7}"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257900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34CCB0-2B6F-4E24-A91F-C0AF8782BFC7}"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3562598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34CCB0-2B6F-4E24-A91F-C0AF8782BFC7}"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3655264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34CCB0-2B6F-4E24-A91F-C0AF8782BFC7}"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2222934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34CCB0-2B6F-4E24-A91F-C0AF8782BFC7}"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2742411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34CCB0-2B6F-4E24-A91F-C0AF8782BFC7}"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332689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34CCB0-2B6F-4E24-A91F-C0AF8782BFC7}"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1218434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34CCB0-2B6F-4E24-A91F-C0AF8782BFC7}"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1761884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34CCB0-2B6F-4E24-A91F-C0AF8782BFC7}"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2975695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34CCB0-2B6F-4E24-A91F-C0AF8782BFC7}" type="datetimeFigureOut">
              <a:rPr lang="en-US" smtClean="0"/>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74D3A7-7D3D-4CD8-B2CB-FC4A9642F7B7}" type="slidenum">
              <a:rPr lang="en-US" smtClean="0"/>
              <a:t>‹#›</a:t>
            </a:fld>
            <a:endParaRPr lang="en-US"/>
          </a:p>
        </p:txBody>
      </p:sp>
    </p:spTree>
    <p:extLst>
      <p:ext uri="{BB962C8B-B14F-4D97-AF65-F5344CB8AC3E}">
        <p14:creationId xmlns:p14="http://schemas.microsoft.com/office/powerpoint/2010/main" val="3952788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en.wikipedia.org/wiki/Digital_marketing" TargetMode="External"/><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a:t>
            </a:r>
            <a:r>
              <a:rPr lang="en-US"/>
              <a:t>Marketing Essentials</a:t>
            </a:r>
            <a:endParaRPr lang="en-US" dirty="0"/>
          </a:p>
        </p:txBody>
      </p:sp>
      <p:sp>
        <p:nvSpPr>
          <p:cNvPr id="3" name="Subtitle 2"/>
          <p:cNvSpPr>
            <a:spLocks noGrp="1"/>
          </p:cNvSpPr>
          <p:nvPr>
            <p:ph type="subTitle" idx="1"/>
          </p:nvPr>
        </p:nvSpPr>
        <p:spPr/>
        <p:txBody>
          <a:bodyPr/>
          <a:lstStyle/>
          <a:p>
            <a:r>
              <a:rPr lang="en-US" dirty="0"/>
              <a:t>Part 2: Marketing Basics and Planning</a:t>
            </a:r>
          </a:p>
        </p:txBody>
      </p:sp>
    </p:spTree>
    <p:extLst>
      <p:ext uri="{BB962C8B-B14F-4D97-AF65-F5344CB8AC3E}">
        <p14:creationId xmlns:p14="http://schemas.microsoft.com/office/powerpoint/2010/main" val="1941333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4" name="Content Placeholder 2"/>
          <p:cNvSpPr>
            <a:spLocks noGrp="1"/>
          </p:cNvSpPr>
          <p:nvPr>
            <p:ph idx="1"/>
          </p:nvPr>
        </p:nvSpPr>
        <p:spPr/>
        <p:txBody>
          <a:bodyPr/>
          <a:lstStyle/>
          <a:p>
            <a:pPr marL="0" indent="0">
              <a:buNone/>
            </a:pPr>
            <a:r>
              <a:rPr lang="en-US" dirty="0">
                <a:solidFill>
                  <a:schemeClr val="accent6"/>
                </a:solidFill>
              </a:rPr>
              <a:t>At the end of this session, you will be able to</a:t>
            </a:r>
            <a:r>
              <a:rPr lang="en-US" dirty="0"/>
              <a:t> </a:t>
            </a:r>
          </a:p>
          <a:p>
            <a:pPr lvl="0"/>
            <a:r>
              <a:rPr lang="en-US" dirty="0"/>
              <a:t>Define digital marketing and outline the steps in the marketing process.</a:t>
            </a:r>
          </a:p>
          <a:p>
            <a:pPr lvl="0"/>
            <a:r>
              <a:rPr lang="en-US" dirty="0"/>
              <a:t>Explain the key building-block concepts that are essential to any strategy </a:t>
            </a:r>
          </a:p>
          <a:p>
            <a:pPr lvl="0"/>
            <a:r>
              <a:rPr lang="en-US" dirty="0"/>
              <a:t>Explain the questions that need to be asked when designing a digital marketing strategy.</a:t>
            </a:r>
          </a:p>
          <a:p>
            <a:endParaRPr lang="en-US" dirty="0"/>
          </a:p>
        </p:txBody>
      </p:sp>
    </p:spTree>
    <p:extLst>
      <p:ext uri="{BB962C8B-B14F-4D97-AF65-F5344CB8AC3E}">
        <p14:creationId xmlns:p14="http://schemas.microsoft.com/office/powerpoint/2010/main" val="4005358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Marketing</a:t>
            </a:r>
          </a:p>
        </p:txBody>
      </p:sp>
      <p:sp>
        <p:nvSpPr>
          <p:cNvPr id="3" name="Text Placeholder 2"/>
          <p:cNvSpPr>
            <a:spLocks noGrp="1"/>
          </p:cNvSpPr>
          <p:nvPr>
            <p:ph type="body" idx="1"/>
          </p:nvPr>
        </p:nvSpPr>
        <p:spPr/>
        <p:txBody>
          <a:bodyPr/>
          <a:lstStyle/>
          <a:p>
            <a:r>
              <a:rPr lang="en-US" dirty="0"/>
              <a:t>Part II</a:t>
            </a:r>
          </a:p>
        </p:txBody>
      </p:sp>
    </p:spTree>
    <p:extLst>
      <p:ext uri="{BB962C8B-B14F-4D97-AF65-F5344CB8AC3E}">
        <p14:creationId xmlns:p14="http://schemas.microsoft.com/office/powerpoint/2010/main" val="3585824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ttp://iambeejay.com/wp-content/uploads/2014/11/How-To-Place-A-Banner-Ad-To-Certain-Websites.jpg"/>
          <p:cNvPicPr>
            <a:picLocks noChangeAspect="1" noChangeArrowheads="1"/>
          </p:cNvPicPr>
          <p:nvPr/>
        </p:nvPicPr>
        <p:blipFill rotWithShape="1">
          <a:blip r:embed="rId2">
            <a:extLst>
              <a:ext uri="{28A0092B-C50C-407E-A947-70E740481C1C}">
                <a14:useLocalDpi xmlns:a14="http://schemas.microsoft.com/office/drawing/2010/main" val="0"/>
              </a:ext>
            </a:extLst>
          </a:blip>
          <a:srcRect l="32502" t="5539" r="31604" b="15254"/>
          <a:stretch/>
        </p:blipFill>
        <p:spPr bwMode="auto">
          <a:xfrm rot="21070802">
            <a:off x="5341606" y="3962400"/>
            <a:ext cx="2099197" cy="178048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dirty="0"/>
              <a:t>What is Digital Marketing?</a:t>
            </a:r>
          </a:p>
        </p:txBody>
      </p:sp>
      <p:sp>
        <p:nvSpPr>
          <p:cNvPr id="3" name="Content Placeholder 2"/>
          <p:cNvSpPr>
            <a:spLocks noGrp="1"/>
          </p:cNvSpPr>
          <p:nvPr>
            <p:ph idx="1"/>
          </p:nvPr>
        </p:nvSpPr>
        <p:spPr/>
        <p:txBody>
          <a:bodyPr/>
          <a:lstStyle/>
          <a:p>
            <a:endParaRPr lang="en-US" dirty="0"/>
          </a:p>
          <a:p>
            <a:endParaRPr lang="en-US" dirty="0"/>
          </a:p>
          <a:p>
            <a:pPr marL="0" indent="0">
              <a:buNone/>
            </a:pPr>
            <a:endParaRPr lang="en-US" dirty="0"/>
          </a:p>
        </p:txBody>
      </p:sp>
      <p:sp>
        <p:nvSpPr>
          <p:cNvPr id="4" name="Rectangle 3"/>
          <p:cNvSpPr/>
          <p:nvPr/>
        </p:nvSpPr>
        <p:spPr>
          <a:xfrm>
            <a:off x="457200" y="1191317"/>
            <a:ext cx="4800600" cy="1200329"/>
          </a:xfrm>
          <a:prstGeom prst="rect">
            <a:avLst/>
          </a:prstGeom>
        </p:spPr>
        <p:txBody>
          <a:bodyPr wrap="square">
            <a:spAutoFit/>
          </a:bodyPr>
          <a:lstStyle/>
          <a:p>
            <a:r>
              <a:rPr lang="en-US" dirty="0"/>
              <a:t>If marketing creates and satisfies demand, digital marketing drives the creation of demand using the power of Internet, and satisfy the demand in new and innovative ways. </a:t>
            </a:r>
          </a:p>
        </p:txBody>
      </p:sp>
      <p:sp>
        <p:nvSpPr>
          <p:cNvPr id="5" name="Rectangle 4"/>
          <p:cNvSpPr/>
          <p:nvPr/>
        </p:nvSpPr>
        <p:spPr>
          <a:xfrm>
            <a:off x="533400" y="2971800"/>
            <a:ext cx="4800600" cy="1200329"/>
          </a:xfrm>
          <a:prstGeom prst="rect">
            <a:avLst/>
          </a:prstGeom>
        </p:spPr>
        <p:txBody>
          <a:bodyPr wrap="square">
            <a:spAutoFit/>
          </a:bodyPr>
          <a:lstStyle/>
          <a:p>
            <a:r>
              <a:rPr lang="en-US" b="1" dirty="0"/>
              <a:t>Digital marketing</a:t>
            </a:r>
            <a:r>
              <a:rPr lang="en-US" dirty="0"/>
              <a:t> is marketing that makes use of electronic devices (computers) such as personal computers, smartphones, cellphones, tablets TV and game consoles to engage with stakeholders.</a:t>
            </a:r>
          </a:p>
        </p:txBody>
      </p:sp>
      <p:sp>
        <p:nvSpPr>
          <p:cNvPr id="6" name="Rectangle 5"/>
          <p:cNvSpPr/>
          <p:nvPr/>
        </p:nvSpPr>
        <p:spPr>
          <a:xfrm>
            <a:off x="533400" y="4263736"/>
            <a:ext cx="4198393" cy="307777"/>
          </a:xfrm>
          <a:prstGeom prst="rect">
            <a:avLst/>
          </a:prstGeom>
        </p:spPr>
        <p:txBody>
          <a:bodyPr wrap="none">
            <a:spAutoFit/>
          </a:bodyPr>
          <a:lstStyle/>
          <a:p>
            <a:r>
              <a:rPr lang="en-US" sz="1400" dirty="0"/>
              <a:t>Source:</a:t>
            </a:r>
            <a:r>
              <a:rPr lang="en-US" sz="1400" dirty="0">
                <a:hlinkClick r:id="rId3"/>
              </a:rPr>
              <a:t> http://en.wikipedia.org/wiki/Digital_marketing</a:t>
            </a:r>
            <a:r>
              <a:rPr lang="en-US" sz="1400" dirty="0"/>
              <a:t> </a:t>
            </a:r>
          </a:p>
        </p:txBody>
      </p:sp>
      <p:pic>
        <p:nvPicPr>
          <p:cNvPr id="1026" name="Picture 2" descr="http://web.marsdenassociates.com/Portals/112657/images/b2b%20social%20media.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707849">
            <a:off x="5791200" y="1191316"/>
            <a:ext cx="20574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cle.digital/wp-content/uploads/2014/11/email-marketing.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137" r="23871"/>
          <a:stretch/>
        </p:blipFill>
        <p:spPr bwMode="auto">
          <a:xfrm rot="1184668">
            <a:off x="6871365" y="2686033"/>
            <a:ext cx="1839433"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832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2</a:t>
            </a:r>
          </a:p>
        </p:txBody>
      </p:sp>
      <p:sp>
        <p:nvSpPr>
          <p:cNvPr id="3" name="Content Placeholder 2"/>
          <p:cNvSpPr>
            <a:spLocks noGrp="1"/>
          </p:cNvSpPr>
          <p:nvPr>
            <p:ph idx="1"/>
          </p:nvPr>
        </p:nvSpPr>
        <p:spPr/>
        <p:txBody>
          <a:bodyPr/>
          <a:lstStyle/>
          <a:p>
            <a:r>
              <a:rPr lang="en-US" dirty="0"/>
              <a:t>Is digital marketing a totally new way of marketing where traditional marketing concepts cannot be applied to digital marketing?</a:t>
            </a:r>
          </a:p>
        </p:txBody>
      </p:sp>
    </p:spTree>
    <p:extLst>
      <p:ext uri="{BB962C8B-B14F-4D97-AF65-F5344CB8AC3E}">
        <p14:creationId xmlns:p14="http://schemas.microsoft.com/office/powerpoint/2010/main" val="88559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What is Digital Marketing?</a:t>
            </a:r>
          </a:p>
        </p:txBody>
      </p:sp>
      <p:sp>
        <p:nvSpPr>
          <p:cNvPr id="3" name="Content Placeholder 2"/>
          <p:cNvSpPr>
            <a:spLocks noGrp="1"/>
          </p:cNvSpPr>
          <p:nvPr>
            <p:ph idx="1"/>
          </p:nvPr>
        </p:nvSpPr>
        <p:spPr/>
        <p:txBody>
          <a:bodyPr/>
          <a:lstStyle/>
          <a:p>
            <a:r>
              <a:rPr lang="en-US" dirty="0"/>
              <a:t>The complete scope of marketing is practiced on the Internet – products and services are positioned and promoted, purchased, distributed and serviced. </a:t>
            </a:r>
          </a:p>
        </p:txBody>
      </p:sp>
      <p:sp>
        <p:nvSpPr>
          <p:cNvPr id="5" name="Rectangle 4"/>
          <p:cNvSpPr/>
          <p:nvPr/>
        </p:nvSpPr>
        <p:spPr>
          <a:xfrm>
            <a:off x="1219200" y="2514600"/>
            <a:ext cx="4572000" cy="1200329"/>
          </a:xfrm>
          <a:prstGeom prst="rect">
            <a:avLst/>
          </a:prstGeom>
        </p:spPr>
        <p:txBody>
          <a:bodyPr>
            <a:spAutoFit/>
          </a:bodyPr>
          <a:lstStyle/>
          <a:p>
            <a:r>
              <a:rPr lang="en-US" dirty="0"/>
              <a:t>It is not a new marketing channel; instead, it creates a new paradigm for the way in which consumers connect with brands and with each other. </a:t>
            </a:r>
          </a:p>
        </p:txBody>
      </p:sp>
      <p:sp>
        <p:nvSpPr>
          <p:cNvPr id="4" name="Rectangle 3"/>
          <p:cNvSpPr/>
          <p:nvPr/>
        </p:nvSpPr>
        <p:spPr>
          <a:xfrm>
            <a:off x="1219200" y="4038600"/>
            <a:ext cx="4572000" cy="1477328"/>
          </a:xfrm>
          <a:prstGeom prst="rect">
            <a:avLst/>
          </a:prstGeom>
        </p:spPr>
        <p:txBody>
          <a:bodyPr>
            <a:spAutoFit/>
          </a:bodyPr>
          <a:lstStyle/>
          <a:p>
            <a:r>
              <a:rPr lang="en-US" dirty="0"/>
              <a:t>Marketing on the Internet does not mean throwing out the rule book on marketing and business principles. Instead, the Internet provides a new environment in which to build on these. </a:t>
            </a:r>
          </a:p>
        </p:txBody>
      </p:sp>
    </p:spTree>
    <p:extLst>
      <p:ext uri="{BB962C8B-B14F-4D97-AF65-F5344CB8AC3E}">
        <p14:creationId xmlns:p14="http://schemas.microsoft.com/office/powerpoint/2010/main" val="603192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3</a:t>
            </a:r>
          </a:p>
        </p:txBody>
      </p:sp>
      <p:sp>
        <p:nvSpPr>
          <p:cNvPr id="3" name="Content Placeholder 2"/>
          <p:cNvSpPr>
            <a:spLocks noGrp="1"/>
          </p:cNvSpPr>
          <p:nvPr>
            <p:ph idx="1"/>
          </p:nvPr>
        </p:nvSpPr>
        <p:spPr/>
        <p:txBody>
          <a:bodyPr/>
          <a:lstStyle/>
          <a:p>
            <a:r>
              <a:rPr lang="en-US" dirty="0"/>
              <a:t>The business name (brand name) and the brand, are they the same?</a:t>
            </a:r>
            <a:endParaRPr lang="en-SG" dirty="0"/>
          </a:p>
        </p:txBody>
      </p:sp>
    </p:spTree>
    <p:extLst>
      <p:ext uri="{BB962C8B-B14F-4D97-AF65-F5344CB8AC3E}">
        <p14:creationId xmlns:p14="http://schemas.microsoft.com/office/powerpoint/2010/main" val="3163872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Marketing Strategy</a:t>
            </a:r>
          </a:p>
        </p:txBody>
      </p:sp>
      <p:sp>
        <p:nvSpPr>
          <p:cNvPr id="3" name="Content Placeholder 2"/>
          <p:cNvSpPr>
            <a:spLocks noGrp="1"/>
          </p:cNvSpPr>
          <p:nvPr>
            <p:ph idx="1"/>
          </p:nvPr>
        </p:nvSpPr>
        <p:spPr/>
        <p:txBody>
          <a:bodyPr/>
          <a:lstStyle/>
          <a:p>
            <a:pPr marL="0" indent="0">
              <a:buNone/>
            </a:pPr>
            <a:r>
              <a:rPr lang="en-US" dirty="0"/>
              <a:t>Understand your Business and Brand Strategy</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905000"/>
            <a:ext cx="3914623" cy="393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33400" y="1598474"/>
            <a:ext cx="4267200" cy="1754326"/>
          </a:xfrm>
          <a:prstGeom prst="rect">
            <a:avLst/>
          </a:prstGeom>
        </p:spPr>
        <p:txBody>
          <a:bodyPr wrap="square">
            <a:spAutoFit/>
          </a:bodyPr>
          <a:lstStyle/>
          <a:p>
            <a:r>
              <a:rPr lang="en-US" dirty="0">
                <a:solidFill>
                  <a:srgbClr val="4FA1FB"/>
                </a:solidFill>
              </a:rPr>
              <a:t>Business Strategy</a:t>
            </a:r>
            <a:r>
              <a:rPr lang="en-US" dirty="0"/>
              <a:t>: </a:t>
            </a:r>
          </a:p>
          <a:p>
            <a:r>
              <a:rPr lang="en-US" dirty="0"/>
              <a:t>‘What is the business challenge we are facing that prevents us from making more revenue?’ or, ‘What business objective should we strive for in order to increase the money in the bank?’</a:t>
            </a:r>
          </a:p>
        </p:txBody>
      </p:sp>
      <p:sp>
        <p:nvSpPr>
          <p:cNvPr id="5" name="Rectangle 4"/>
          <p:cNvSpPr/>
          <p:nvPr/>
        </p:nvSpPr>
        <p:spPr>
          <a:xfrm>
            <a:off x="533400" y="3505200"/>
            <a:ext cx="4572000" cy="1200329"/>
          </a:xfrm>
          <a:prstGeom prst="rect">
            <a:avLst/>
          </a:prstGeom>
        </p:spPr>
        <p:txBody>
          <a:bodyPr>
            <a:spAutoFit/>
          </a:bodyPr>
          <a:lstStyle/>
          <a:p>
            <a:r>
              <a:rPr lang="en-US" dirty="0">
                <a:solidFill>
                  <a:srgbClr val="0CC41E"/>
                </a:solidFill>
              </a:rPr>
              <a:t>Brand Strategy</a:t>
            </a:r>
            <a:r>
              <a:rPr lang="en-US" dirty="0"/>
              <a:t>: </a:t>
            </a:r>
          </a:p>
          <a:p>
            <a:r>
              <a:rPr lang="en-US" dirty="0"/>
              <a:t>How aware are people of the brand? Does it hold positive associations and perceived value? How loyal are people to the brand?</a:t>
            </a:r>
          </a:p>
        </p:txBody>
      </p:sp>
      <p:sp>
        <p:nvSpPr>
          <p:cNvPr id="6" name="Rectangle 5"/>
          <p:cNvSpPr/>
          <p:nvPr/>
        </p:nvSpPr>
        <p:spPr>
          <a:xfrm>
            <a:off x="533400" y="5029200"/>
            <a:ext cx="4572000" cy="1200329"/>
          </a:xfrm>
          <a:prstGeom prst="rect">
            <a:avLst/>
          </a:prstGeom>
        </p:spPr>
        <p:txBody>
          <a:bodyPr>
            <a:spAutoFit/>
          </a:bodyPr>
          <a:lstStyle/>
          <a:p>
            <a:r>
              <a:rPr lang="en-US" dirty="0">
                <a:solidFill>
                  <a:schemeClr val="accent6">
                    <a:lumMod val="75000"/>
                  </a:schemeClr>
                </a:solidFill>
              </a:rPr>
              <a:t>Marketing Strategy</a:t>
            </a:r>
            <a:r>
              <a:rPr lang="en-US" dirty="0"/>
              <a:t>: </a:t>
            </a:r>
          </a:p>
          <a:p>
            <a:r>
              <a:rPr lang="en-US" dirty="0"/>
              <a:t>Marketing strategy is to address a business or brand challenge or objective that has been revealed.</a:t>
            </a:r>
          </a:p>
        </p:txBody>
      </p:sp>
      <p:sp>
        <p:nvSpPr>
          <p:cNvPr id="7" name="Oval 6"/>
          <p:cNvSpPr/>
          <p:nvPr/>
        </p:nvSpPr>
        <p:spPr>
          <a:xfrm>
            <a:off x="5077691" y="2804683"/>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9" name="Oval 8"/>
          <p:cNvSpPr/>
          <p:nvPr/>
        </p:nvSpPr>
        <p:spPr>
          <a:xfrm>
            <a:off x="7581900" y="2537983"/>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0" name="Oval 9"/>
          <p:cNvSpPr/>
          <p:nvPr/>
        </p:nvSpPr>
        <p:spPr>
          <a:xfrm>
            <a:off x="6834111" y="4438829"/>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Tree>
    <p:extLst>
      <p:ext uri="{BB962C8B-B14F-4D97-AF65-F5344CB8AC3E}">
        <p14:creationId xmlns:p14="http://schemas.microsoft.com/office/powerpoint/2010/main" val="4092245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loud 10"/>
          <p:cNvSpPr/>
          <p:nvPr/>
        </p:nvSpPr>
        <p:spPr>
          <a:xfrm>
            <a:off x="609600" y="609600"/>
            <a:ext cx="8153400" cy="4724400"/>
          </a:xfrm>
          <a:prstGeom prst="cloud">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Marketing Strategy</a:t>
            </a:r>
          </a:p>
        </p:txBody>
      </p:sp>
      <p:grpSp>
        <p:nvGrpSpPr>
          <p:cNvPr id="12" name="Group 11"/>
          <p:cNvGrpSpPr/>
          <p:nvPr/>
        </p:nvGrpSpPr>
        <p:grpSpPr>
          <a:xfrm>
            <a:off x="1775114" y="4343400"/>
            <a:ext cx="5559132" cy="1756064"/>
            <a:chOff x="1825339" y="4343400"/>
            <a:chExt cx="5559132" cy="1756064"/>
          </a:xfrm>
        </p:grpSpPr>
        <p:sp>
          <p:nvSpPr>
            <p:cNvPr id="7" name="Up Arrow 6"/>
            <p:cNvSpPr/>
            <p:nvPr/>
          </p:nvSpPr>
          <p:spPr>
            <a:xfrm>
              <a:off x="1825339" y="4343400"/>
              <a:ext cx="1364671" cy="1752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Environment</a:t>
              </a:r>
            </a:p>
          </p:txBody>
        </p:sp>
        <p:sp>
          <p:nvSpPr>
            <p:cNvPr id="8" name="Up Arrow 7"/>
            <p:cNvSpPr/>
            <p:nvPr/>
          </p:nvSpPr>
          <p:spPr>
            <a:xfrm>
              <a:off x="3202137" y="4343400"/>
              <a:ext cx="1364671" cy="1752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Business</a:t>
              </a:r>
            </a:p>
          </p:txBody>
        </p:sp>
        <p:sp>
          <p:nvSpPr>
            <p:cNvPr id="9" name="Up Arrow 8"/>
            <p:cNvSpPr/>
            <p:nvPr/>
          </p:nvSpPr>
          <p:spPr>
            <a:xfrm>
              <a:off x="4580663" y="4346864"/>
              <a:ext cx="1364671" cy="1752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Customers</a:t>
              </a:r>
            </a:p>
          </p:txBody>
        </p:sp>
        <p:sp>
          <p:nvSpPr>
            <p:cNvPr id="10" name="Up Arrow 9"/>
            <p:cNvSpPr/>
            <p:nvPr/>
          </p:nvSpPr>
          <p:spPr>
            <a:xfrm>
              <a:off x="6019800" y="4343400"/>
              <a:ext cx="1364671" cy="1752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a:t>Competitors</a:t>
              </a:r>
            </a:p>
          </p:txBody>
        </p:sp>
      </p:gr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072057"/>
            <a:ext cx="2749062" cy="680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1711036" y="1908786"/>
            <a:ext cx="6477000" cy="646331"/>
          </a:xfrm>
          <a:prstGeom prst="rect">
            <a:avLst/>
          </a:prstGeom>
        </p:spPr>
        <p:txBody>
          <a:bodyPr wrap="square">
            <a:spAutoFit/>
          </a:bodyPr>
          <a:lstStyle/>
          <a:p>
            <a:r>
              <a:rPr lang="en-US" dirty="0"/>
              <a:t>how it is going to add value to the category and differentiate itself from competitors</a:t>
            </a:r>
          </a:p>
        </p:txBody>
      </p:sp>
      <p:sp>
        <p:nvSpPr>
          <p:cNvPr id="14" name="Rectangle 13"/>
          <p:cNvSpPr/>
          <p:nvPr/>
        </p:nvSpPr>
        <p:spPr>
          <a:xfrm>
            <a:off x="1711036" y="2590800"/>
            <a:ext cx="6705600" cy="369332"/>
          </a:xfrm>
          <a:prstGeom prst="rect">
            <a:avLst/>
          </a:prstGeom>
        </p:spPr>
        <p:txBody>
          <a:bodyPr wrap="square">
            <a:spAutoFit/>
          </a:bodyPr>
          <a:lstStyle/>
          <a:p>
            <a:r>
              <a:rPr lang="en-US" dirty="0"/>
              <a:t>whether their product is a domestic or international service</a:t>
            </a:r>
          </a:p>
        </p:txBody>
      </p:sp>
      <p:sp>
        <p:nvSpPr>
          <p:cNvPr id="15" name="Rectangle 14"/>
          <p:cNvSpPr/>
          <p:nvPr/>
        </p:nvSpPr>
        <p:spPr>
          <a:xfrm>
            <a:off x="1711036" y="3048000"/>
            <a:ext cx="7391400" cy="646331"/>
          </a:xfrm>
          <a:prstGeom prst="rect">
            <a:avLst/>
          </a:prstGeom>
        </p:spPr>
        <p:txBody>
          <a:bodyPr wrap="square">
            <a:spAutoFit/>
          </a:bodyPr>
          <a:lstStyle/>
          <a:p>
            <a:r>
              <a:rPr lang="en-US" dirty="0"/>
              <a:t>whether its target market would be budget travelers or international and business travelers</a:t>
            </a:r>
          </a:p>
        </p:txBody>
      </p:sp>
      <p:sp>
        <p:nvSpPr>
          <p:cNvPr id="16" name="Rectangle 15"/>
          <p:cNvSpPr/>
          <p:nvPr/>
        </p:nvSpPr>
        <p:spPr>
          <a:xfrm>
            <a:off x="1676400" y="3733800"/>
            <a:ext cx="5692486" cy="646331"/>
          </a:xfrm>
          <a:prstGeom prst="rect">
            <a:avLst/>
          </a:prstGeom>
        </p:spPr>
        <p:txBody>
          <a:bodyPr wrap="square">
            <a:spAutoFit/>
          </a:bodyPr>
          <a:lstStyle/>
          <a:p>
            <a:r>
              <a:rPr lang="en-US" dirty="0"/>
              <a:t>whether the channel would be through primary airports or smaller, more cost-effective airports</a:t>
            </a:r>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500" y="1908786"/>
            <a:ext cx="4699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336" y="2557318"/>
            <a:ext cx="4699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336" y="3136215"/>
            <a:ext cx="4699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9946" y="3810899"/>
            <a:ext cx="4699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889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Marketing Strategy</a:t>
            </a:r>
          </a:p>
        </p:txBody>
      </p:sp>
      <p:sp>
        <p:nvSpPr>
          <p:cNvPr id="3" name="Content Placeholder 2"/>
          <p:cNvSpPr>
            <a:spLocks noGrp="1"/>
          </p:cNvSpPr>
          <p:nvPr>
            <p:ph idx="1"/>
          </p:nvPr>
        </p:nvSpPr>
        <p:spPr/>
        <p:txBody>
          <a:bodyPr>
            <a:normAutofit/>
          </a:bodyPr>
          <a:lstStyle/>
          <a:p>
            <a:pPr marL="0" indent="0">
              <a:buNone/>
            </a:pPr>
            <a:r>
              <a:rPr lang="en-US" dirty="0">
                <a:solidFill>
                  <a:srgbClr val="FF0000"/>
                </a:solidFill>
              </a:rPr>
              <a:t>Understanding the Environment</a:t>
            </a:r>
          </a:p>
          <a:p>
            <a:r>
              <a:rPr lang="en-US" dirty="0"/>
              <a:t>Overall context in which business functions.</a:t>
            </a:r>
          </a:p>
          <a:p>
            <a:r>
              <a:rPr lang="en-US" dirty="0"/>
              <a:t>Analysis of business and brand environment typically consider PESTLE influences to identify a clear set of consideration or issues pertinent to the marketing strategy.</a:t>
            </a:r>
          </a:p>
          <a:p>
            <a:pPr lvl="1"/>
            <a:r>
              <a:rPr lang="en-US" dirty="0">
                <a:solidFill>
                  <a:srgbClr val="FF0000"/>
                </a:solidFill>
              </a:rPr>
              <a:t>P</a:t>
            </a:r>
            <a:r>
              <a:rPr lang="en-US" dirty="0"/>
              <a:t>olitical</a:t>
            </a:r>
          </a:p>
          <a:p>
            <a:pPr lvl="1"/>
            <a:r>
              <a:rPr lang="en-US" dirty="0">
                <a:solidFill>
                  <a:srgbClr val="FF0000"/>
                </a:solidFill>
              </a:rPr>
              <a:t>E</a:t>
            </a:r>
            <a:r>
              <a:rPr lang="en-US" dirty="0"/>
              <a:t>conomical</a:t>
            </a:r>
          </a:p>
          <a:p>
            <a:pPr lvl="1"/>
            <a:r>
              <a:rPr lang="en-US" dirty="0">
                <a:solidFill>
                  <a:srgbClr val="FF0000"/>
                </a:solidFill>
              </a:rPr>
              <a:t>S</a:t>
            </a:r>
            <a:r>
              <a:rPr lang="en-US" dirty="0"/>
              <a:t>ocial</a:t>
            </a:r>
          </a:p>
          <a:p>
            <a:pPr lvl="1"/>
            <a:r>
              <a:rPr lang="en-US" dirty="0">
                <a:solidFill>
                  <a:srgbClr val="FF0000"/>
                </a:solidFill>
              </a:rPr>
              <a:t>T</a:t>
            </a:r>
            <a:r>
              <a:rPr lang="en-US" dirty="0"/>
              <a:t>echnological</a:t>
            </a:r>
          </a:p>
          <a:p>
            <a:pPr lvl="1"/>
            <a:r>
              <a:rPr lang="en-US" dirty="0">
                <a:solidFill>
                  <a:srgbClr val="FF0000"/>
                </a:solidFill>
              </a:rPr>
              <a:t>L</a:t>
            </a:r>
            <a:r>
              <a:rPr lang="en-US" dirty="0"/>
              <a:t>egal</a:t>
            </a:r>
          </a:p>
          <a:p>
            <a:pPr lvl="1"/>
            <a:r>
              <a:rPr lang="en-US" dirty="0">
                <a:solidFill>
                  <a:srgbClr val="FF0000"/>
                </a:solidFill>
              </a:rPr>
              <a:t>E</a:t>
            </a:r>
            <a:r>
              <a:rPr lang="en-US" dirty="0"/>
              <a:t>nvironmental</a:t>
            </a:r>
          </a:p>
        </p:txBody>
      </p:sp>
    </p:spTree>
    <p:extLst>
      <p:ext uri="{BB962C8B-B14F-4D97-AF65-F5344CB8AC3E}">
        <p14:creationId xmlns:p14="http://schemas.microsoft.com/office/powerpoint/2010/main" val="2658551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Marketing Strategy</a:t>
            </a:r>
          </a:p>
        </p:txBody>
      </p:sp>
      <p:sp>
        <p:nvSpPr>
          <p:cNvPr id="3" name="Content Placeholder 2"/>
          <p:cNvSpPr>
            <a:spLocks noGrp="1"/>
          </p:cNvSpPr>
          <p:nvPr>
            <p:ph idx="1"/>
          </p:nvPr>
        </p:nvSpPr>
        <p:spPr/>
        <p:txBody>
          <a:bodyPr>
            <a:normAutofit/>
          </a:bodyPr>
          <a:lstStyle/>
          <a:p>
            <a:pPr marL="0" indent="0">
              <a:buNone/>
            </a:pPr>
            <a:r>
              <a:rPr lang="en-US" dirty="0">
                <a:solidFill>
                  <a:srgbClr val="FF0000"/>
                </a:solidFill>
              </a:rPr>
              <a:t>Understanding the Business and Brand</a:t>
            </a:r>
          </a:p>
          <a:p>
            <a:r>
              <a:rPr lang="en-US" dirty="0"/>
              <a:t>Crucial consideration is the brand itself.</a:t>
            </a:r>
          </a:p>
          <a:p>
            <a:r>
              <a:rPr lang="en-US" dirty="0"/>
              <a:t>Determine your brand or product’s </a:t>
            </a:r>
            <a:br>
              <a:rPr lang="en-US" dirty="0"/>
            </a:br>
            <a:r>
              <a:rPr lang="en-US" dirty="0"/>
              <a:t>USP (unique selling proposition) </a:t>
            </a:r>
          </a:p>
          <a:p>
            <a:endParaRPr lang="en-US" dirty="0"/>
          </a:p>
        </p:txBody>
      </p:sp>
      <p:pic>
        <p:nvPicPr>
          <p:cNvPr id="4" name="Picture 3" descr="http://www.noesismarketing.com/wp-content/uploads/2011/06/Brand-Pyramid.png"/>
          <p:cNvPicPr/>
          <p:nvPr/>
        </p:nvPicPr>
        <p:blipFill>
          <a:blip r:embed="rId2">
            <a:extLst>
              <a:ext uri="{28A0092B-C50C-407E-A947-70E740481C1C}">
                <a14:useLocalDpi xmlns:a14="http://schemas.microsoft.com/office/drawing/2010/main" val="0"/>
              </a:ext>
            </a:extLst>
          </a:blip>
          <a:srcRect/>
          <a:stretch>
            <a:fillRect/>
          </a:stretch>
        </p:blipFill>
        <p:spPr bwMode="auto">
          <a:xfrm>
            <a:off x="4005935" y="1956955"/>
            <a:ext cx="4804543" cy="4191000"/>
          </a:xfrm>
          <a:prstGeom prst="rect">
            <a:avLst/>
          </a:prstGeom>
          <a:noFill/>
          <a:ln>
            <a:noFill/>
          </a:ln>
        </p:spPr>
      </p:pic>
      <p:sp>
        <p:nvSpPr>
          <p:cNvPr id="5" name="Rectangle 4"/>
          <p:cNvSpPr/>
          <p:nvPr/>
        </p:nvSpPr>
        <p:spPr>
          <a:xfrm>
            <a:off x="474518" y="3269673"/>
            <a:ext cx="3657600" cy="1754326"/>
          </a:xfrm>
          <a:prstGeom prst="rect">
            <a:avLst/>
          </a:prstGeom>
        </p:spPr>
        <p:txBody>
          <a:bodyPr wrap="square">
            <a:spAutoFit/>
          </a:bodyPr>
          <a:lstStyle/>
          <a:p>
            <a:r>
              <a:rPr lang="en-US" dirty="0"/>
              <a:t>A USP is the one characteristic that makes your product or service better than the competition’s – what unique value does it have? Does it solve a problem that no other product does?</a:t>
            </a:r>
          </a:p>
        </p:txBody>
      </p:sp>
    </p:spTree>
    <p:extLst>
      <p:ext uri="{BB962C8B-B14F-4D97-AF65-F5344CB8AC3E}">
        <p14:creationId xmlns:p14="http://schemas.microsoft.com/office/powerpoint/2010/main" val="1923265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Marketing Strategy</a:t>
            </a:r>
          </a:p>
        </p:txBody>
      </p:sp>
      <p:sp>
        <p:nvSpPr>
          <p:cNvPr id="3" name="Content Placeholder 2"/>
          <p:cNvSpPr>
            <a:spLocks noGrp="1"/>
          </p:cNvSpPr>
          <p:nvPr>
            <p:ph idx="1"/>
          </p:nvPr>
        </p:nvSpPr>
        <p:spPr/>
        <p:txBody>
          <a:bodyPr>
            <a:normAutofit/>
          </a:bodyPr>
          <a:lstStyle/>
          <a:p>
            <a:pPr marL="0" indent="0">
              <a:buNone/>
            </a:pPr>
            <a:r>
              <a:rPr lang="en-US" dirty="0">
                <a:solidFill>
                  <a:srgbClr val="FF0000"/>
                </a:solidFill>
              </a:rPr>
              <a:t>Understanding the Customers</a:t>
            </a:r>
          </a:p>
          <a:p>
            <a:r>
              <a:rPr lang="en-US" dirty="0"/>
              <a:t>Conduce market research – finding </a:t>
            </a:r>
            <a:r>
              <a:rPr lang="en-US" dirty="0">
                <a:solidFill>
                  <a:schemeClr val="accent6">
                    <a:lumMod val="75000"/>
                  </a:schemeClr>
                </a:solidFill>
              </a:rPr>
              <a:t>why people like and attract with your brand.</a:t>
            </a:r>
          </a:p>
          <a:p>
            <a:r>
              <a:rPr lang="en-US" dirty="0"/>
              <a:t>Capitalize on </a:t>
            </a:r>
            <a:r>
              <a:rPr lang="en-US" dirty="0">
                <a:solidFill>
                  <a:schemeClr val="accent6">
                    <a:lumMod val="75000"/>
                  </a:schemeClr>
                </a:solidFill>
              </a:rPr>
              <a:t>this</a:t>
            </a:r>
            <a:r>
              <a:rPr lang="en-US" dirty="0"/>
              <a:t> in your marketing content.</a:t>
            </a:r>
          </a:p>
          <a:p>
            <a:r>
              <a:rPr lang="en-US" dirty="0"/>
              <a:t>Understand the consumer journey (buying funnel) so that you can prepare the right marketing message at the right stage of their journey.</a:t>
            </a:r>
          </a:p>
          <a:p>
            <a:endParaRPr lang="en-US" dirty="0"/>
          </a:p>
        </p:txBody>
      </p:sp>
      <p:pic>
        <p:nvPicPr>
          <p:cNvPr id="6" name="Picture 5" descr="http://www.toprankblog.com/wp-content/uploads/buyers-journey.png"/>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810000"/>
            <a:ext cx="5523894" cy="2407144"/>
          </a:xfrm>
          <a:prstGeom prst="rect">
            <a:avLst/>
          </a:prstGeom>
          <a:noFill/>
          <a:ln>
            <a:noFill/>
          </a:ln>
        </p:spPr>
      </p:pic>
    </p:spTree>
    <p:extLst>
      <p:ext uri="{BB962C8B-B14F-4D97-AF65-F5344CB8AC3E}">
        <p14:creationId xmlns:p14="http://schemas.microsoft.com/office/powerpoint/2010/main" val="2468304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Marketing Strategy</a:t>
            </a:r>
          </a:p>
        </p:txBody>
      </p:sp>
      <p:sp>
        <p:nvSpPr>
          <p:cNvPr id="3" name="Content Placeholder 2"/>
          <p:cNvSpPr>
            <a:spLocks noGrp="1"/>
          </p:cNvSpPr>
          <p:nvPr>
            <p:ph idx="1"/>
          </p:nvPr>
        </p:nvSpPr>
        <p:spPr/>
        <p:txBody>
          <a:bodyPr>
            <a:normAutofit/>
          </a:bodyPr>
          <a:lstStyle/>
          <a:p>
            <a:pPr marL="0" indent="0">
              <a:buNone/>
            </a:pPr>
            <a:r>
              <a:rPr lang="en-US" dirty="0">
                <a:solidFill>
                  <a:srgbClr val="FF0000"/>
                </a:solidFill>
              </a:rPr>
              <a:t>Understanding the Competitors</a:t>
            </a:r>
          </a:p>
          <a:p>
            <a:r>
              <a:rPr lang="en-US" dirty="0"/>
              <a:t>Who else is marketing to your potential customers? What they offer?</a:t>
            </a:r>
          </a:p>
          <a:p>
            <a:r>
              <a:rPr lang="en-US" dirty="0"/>
              <a:t>How can you challenge or learn from them?</a:t>
            </a:r>
          </a:p>
          <a:p>
            <a:pPr lvl="1"/>
            <a:r>
              <a:rPr lang="en-US" dirty="0"/>
              <a:t>what you can learn from and do better</a:t>
            </a:r>
          </a:p>
          <a:p>
            <a:pPr lvl="1"/>
            <a:r>
              <a:rPr lang="en-US" dirty="0"/>
              <a:t>what they're doing worse than you</a:t>
            </a:r>
          </a:p>
          <a:p>
            <a:pPr lvl="1"/>
            <a:r>
              <a:rPr lang="en-US" dirty="0"/>
              <a:t>what they're doing the same as you</a:t>
            </a:r>
          </a:p>
          <a:p>
            <a:r>
              <a:rPr lang="en-US" dirty="0"/>
              <a:t>When considering competition, it’s also worthwhile looking at potential replacements for your product. </a:t>
            </a:r>
          </a:p>
          <a:p>
            <a:endParaRPr lang="en-US" dirty="0"/>
          </a:p>
        </p:txBody>
      </p:sp>
    </p:spTree>
    <p:extLst>
      <p:ext uri="{BB962C8B-B14F-4D97-AF65-F5344CB8AC3E}">
        <p14:creationId xmlns:p14="http://schemas.microsoft.com/office/powerpoint/2010/main" val="3955435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Marketing Strategy</a:t>
            </a:r>
          </a:p>
        </p:txBody>
      </p:sp>
      <p:sp>
        <p:nvSpPr>
          <p:cNvPr id="3" name="Content Placeholder 2"/>
          <p:cNvSpPr>
            <a:spLocks noGrp="1"/>
          </p:cNvSpPr>
          <p:nvPr>
            <p:ph idx="1"/>
          </p:nvPr>
        </p:nvSpPr>
        <p:spPr/>
        <p:txBody>
          <a:bodyPr>
            <a:normAutofit/>
          </a:bodyPr>
          <a:lstStyle/>
          <a:p>
            <a:r>
              <a:rPr lang="en-US" dirty="0"/>
              <a:t>Once you have a clear sense of what the business challenge or objective is, and you have defined how your marketing strategy will work towards fulfilling it, you can start thinking about your </a:t>
            </a:r>
            <a:r>
              <a:rPr lang="en-US" dirty="0">
                <a:solidFill>
                  <a:schemeClr val="accent6">
                    <a:lumMod val="75000"/>
                  </a:schemeClr>
                </a:solidFill>
              </a:rPr>
              <a:t>digital marketing strategy</a:t>
            </a:r>
            <a:r>
              <a:rPr lang="en-US" dirty="0"/>
              <a:t>.</a:t>
            </a:r>
          </a:p>
          <a:p>
            <a:endParaRPr lang="en-US" dirty="0"/>
          </a:p>
          <a:p>
            <a:endParaRPr lang="en-US" dirty="0"/>
          </a:p>
        </p:txBody>
      </p:sp>
    </p:spTree>
    <p:extLst>
      <p:ext uri="{BB962C8B-B14F-4D97-AF65-F5344CB8AC3E}">
        <p14:creationId xmlns:p14="http://schemas.microsoft.com/office/powerpoint/2010/main" val="3260333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Marketing Strategy</a:t>
            </a:r>
          </a:p>
        </p:txBody>
      </p:sp>
      <p:sp>
        <p:nvSpPr>
          <p:cNvPr id="3" name="Content Placeholder 2"/>
          <p:cNvSpPr>
            <a:spLocks noGrp="1"/>
          </p:cNvSpPr>
          <p:nvPr>
            <p:ph idx="1"/>
          </p:nvPr>
        </p:nvSpPr>
        <p:spPr/>
        <p:txBody>
          <a:bodyPr/>
          <a:lstStyle/>
          <a:p>
            <a:r>
              <a:rPr lang="en-US" dirty="0"/>
              <a:t>It builds on and adapts the principles of traditional marketing</a:t>
            </a:r>
          </a:p>
          <a:p>
            <a:r>
              <a:rPr lang="en-US" dirty="0"/>
              <a:t>Constantly iterating and evolving</a:t>
            </a:r>
          </a:p>
          <a:p>
            <a:r>
              <a:rPr lang="en-US" dirty="0"/>
              <a:t>Instantaneous feedback and data gathering allow marketers to optimize and improve their efforts</a:t>
            </a:r>
          </a:p>
          <a:p>
            <a:r>
              <a:rPr lang="en-US" dirty="0"/>
              <a:t>Greater opportunities for interaction and customer engagement</a:t>
            </a:r>
          </a:p>
          <a:p>
            <a:r>
              <a:rPr lang="en-US" dirty="0"/>
              <a:t>Highly empirical – almost everything can be measured: from behaviors, to actions and action paths, to results</a:t>
            </a:r>
          </a:p>
          <a:p>
            <a:endParaRPr lang="en-US" dirty="0"/>
          </a:p>
          <a:p>
            <a:endParaRPr lang="en-US" dirty="0"/>
          </a:p>
          <a:p>
            <a:endParaRPr lang="en-US" dirty="0"/>
          </a:p>
        </p:txBody>
      </p:sp>
    </p:spTree>
    <p:extLst>
      <p:ext uri="{BB962C8B-B14F-4D97-AF65-F5344CB8AC3E}">
        <p14:creationId xmlns:p14="http://schemas.microsoft.com/office/powerpoint/2010/main" val="3908321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Blocks of Marketing Strategy</a:t>
            </a:r>
          </a:p>
        </p:txBody>
      </p:sp>
      <p:sp>
        <p:nvSpPr>
          <p:cNvPr id="3" name="Content Placeholder 2"/>
          <p:cNvSpPr>
            <a:spLocks noGrp="1"/>
          </p:cNvSpPr>
          <p:nvPr>
            <p:ph idx="1"/>
          </p:nvPr>
        </p:nvSpPr>
        <p:spPr/>
        <p:txBody>
          <a:bodyPr/>
          <a:lstStyle/>
          <a:p>
            <a:r>
              <a:rPr lang="en-US" dirty="0"/>
              <a:t>Porter’s Five Forces</a:t>
            </a:r>
          </a:p>
          <a:p>
            <a:r>
              <a:rPr lang="en-US" dirty="0"/>
              <a:t>The Four P’s (Marketing Mix)</a:t>
            </a:r>
          </a:p>
          <a:p>
            <a:r>
              <a:rPr lang="en-US" dirty="0"/>
              <a:t>SWOT Analysis</a:t>
            </a:r>
          </a:p>
        </p:txBody>
      </p:sp>
    </p:spTree>
    <p:extLst>
      <p:ext uri="{BB962C8B-B14F-4D97-AF65-F5344CB8AC3E}">
        <p14:creationId xmlns:p14="http://schemas.microsoft.com/office/powerpoint/2010/main" val="774442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Building Blocks of Marketing Strategy</a:t>
            </a:r>
          </a:p>
        </p:txBody>
      </p:sp>
      <p:sp>
        <p:nvSpPr>
          <p:cNvPr id="3" name="Content Placeholder 2"/>
          <p:cNvSpPr>
            <a:spLocks noGrp="1"/>
          </p:cNvSpPr>
          <p:nvPr>
            <p:ph idx="1"/>
          </p:nvPr>
        </p:nvSpPr>
        <p:spPr/>
        <p:txBody>
          <a:bodyPr/>
          <a:lstStyle/>
          <a:p>
            <a:pPr marL="0" indent="0">
              <a:buNone/>
            </a:pPr>
            <a:r>
              <a:rPr lang="en-US" dirty="0"/>
              <a:t>Porter’s Five Forces</a:t>
            </a:r>
          </a:p>
          <a:p>
            <a:r>
              <a:rPr lang="en-US" dirty="0"/>
              <a:t>Tool to determine competitive intensity and attractiveness of a market</a:t>
            </a:r>
          </a:p>
          <a:p>
            <a:pPr lvl="1"/>
            <a:r>
              <a:rPr lang="en-US" dirty="0"/>
              <a:t>Competitive Rivalry Within The Industry</a:t>
            </a:r>
          </a:p>
          <a:p>
            <a:pPr lvl="1"/>
            <a:r>
              <a:rPr lang="en-US" dirty="0"/>
              <a:t>Bargaining Power Of Customers</a:t>
            </a:r>
          </a:p>
          <a:p>
            <a:pPr lvl="1"/>
            <a:r>
              <a:rPr lang="en-US" dirty="0"/>
              <a:t>Threat Of New Entrants</a:t>
            </a:r>
          </a:p>
          <a:p>
            <a:pPr lvl="1"/>
            <a:r>
              <a:rPr lang="en-US" dirty="0"/>
              <a:t>Bargaining Power Of Suppliers</a:t>
            </a:r>
          </a:p>
          <a:p>
            <a:pPr lvl="1"/>
            <a:r>
              <a:rPr lang="en-US" dirty="0"/>
              <a:t>Threat Of Substitute Products</a:t>
            </a:r>
          </a:p>
          <a:p>
            <a:endParaRPr lang="en-US" dirty="0"/>
          </a:p>
        </p:txBody>
      </p:sp>
    </p:spTree>
    <p:extLst>
      <p:ext uri="{BB962C8B-B14F-4D97-AF65-F5344CB8AC3E}">
        <p14:creationId xmlns:p14="http://schemas.microsoft.com/office/powerpoint/2010/main" val="1544086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Building Blocks of Marketing Strategy</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143000"/>
            <a:ext cx="5486400" cy="49465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rot="16200000">
            <a:off x="-1360557" y="3189357"/>
            <a:ext cx="4343400" cy="707886"/>
          </a:xfrm>
          <a:prstGeom prst="rect">
            <a:avLst/>
          </a:prstGeom>
          <a:noFill/>
        </p:spPr>
        <p:txBody>
          <a:bodyPr wrap="square" rtlCol="0">
            <a:spAutoFit/>
          </a:bodyPr>
          <a:lstStyle/>
          <a:p>
            <a:pPr algn="ctr"/>
            <a:r>
              <a:rPr lang="en-US" sz="4000" dirty="0"/>
              <a:t>Porter’s Five Forces</a:t>
            </a:r>
          </a:p>
        </p:txBody>
      </p:sp>
    </p:spTree>
    <p:extLst>
      <p:ext uri="{BB962C8B-B14F-4D97-AF65-F5344CB8AC3E}">
        <p14:creationId xmlns:p14="http://schemas.microsoft.com/office/powerpoint/2010/main" val="696321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Building Blocks of Marketing Strategy</a:t>
            </a:r>
            <a:endParaRPr lang="en-US" dirty="0"/>
          </a:p>
        </p:txBody>
      </p:sp>
      <p:sp>
        <p:nvSpPr>
          <p:cNvPr id="3" name="Content Placeholder 2"/>
          <p:cNvSpPr>
            <a:spLocks noGrp="1"/>
          </p:cNvSpPr>
          <p:nvPr>
            <p:ph idx="1"/>
          </p:nvPr>
        </p:nvSpPr>
        <p:spPr/>
        <p:txBody>
          <a:bodyPr/>
          <a:lstStyle/>
          <a:p>
            <a:pPr marL="0" indent="0">
              <a:buNone/>
            </a:pPr>
            <a:r>
              <a:rPr lang="en-US" dirty="0"/>
              <a:t>The Four P’s (Marketing Mix)</a:t>
            </a:r>
          </a:p>
          <a:p>
            <a:r>
              <a:rPr lang="en-US" dirty="0"/>
              <a:t>Product</a:t>
            </a:r>
          </a:p>
          <a:p>
            <a:r>
              <a:rPr lang="en-US" dirty="0"/>
              <a:t>Price</a:t>
            </a:r>
          </a:p>
          <a:p>
            <a:r>
              <a:rPr lang="en-US" dirty="0"/>
              <a:t>Place</a:t>
            </a:r>
          </a:p>
          <a:p>
            <a:r>
              <a:rPr lang="en-US" dirty="0"/>
              <a:t>Promotion</a:t>
            </a:r>
          </a:p>
          <a:p>
            <a:endParaRPr lang="en-US" dirty="0"/>
          </a:p>
          <a:p>
            <a:pPr marL="0" indent="0">
              <a:buNone/>
            </a:pPr>
            <a:r>
              <a:rPr lang="en-US" dirty="0"/>
              <a:t>A new P: People</a:t>
            </a:r>
          </a:p>
          <a:p>
            <a:r>
              <a:rPr lang="en-US" dirty="0"/>
              <a:t>The powerful human element that the digitally connected world permits:  personalization, peer-to-peer sharing, communities, and consumer- centric organizations that allow people to participate in the brand story.</a:t>
            </a:r>
          </a:p>
        </p:txBody>
      </p:sp>
    </p:spTree>
    <p:extLst>
      <p:ext uri="{BB962C8B-B14F-4D97-AF65-F5344CB8AC3E}">
        <p14:creationId xmlns:p14="http://schemas.microsoft.com/office/powerpoint/2010/main" val="1668702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Building Blocks of Marketing Strategy</a:t>
            </a:r>
          </a:p>
        </p:txBody>
      </p:sp>
      <p:sp>
        <p:nvSpPr>
          <p:cNvPr id="4" name="TextBox 3"/>
          <p:cNvSpPr txBox="1"/>
          <p:nvPr/>
        </p:nvSpPr>
        <p:spPr>
          <a:xfrm rot="16200000">
            <a:off x="-1360557" y="3189357"/>
            <a:ext cx="4343400" cy="707886"/>
          </a:xfrm>
          <a:prstGeom prst="rect">
            <a:avLst/>
          </a:prstGeom>
          <a:noFill/>
        </p:spPr>
        <p:txBody>
          <a:bodyPr wrap="square" rtlCol="0">
            <a:spAutoFit/>
          </a:bodyPr>
          <a:lstStyle/>
          <a:p>
            <a:pPr algn="ctr"/>
            <a:r>
              <a:rPr lang="en-US" sz="4000" dirty="0"/>
              <a:t>The Four P’s</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990600"/>
            <a:ext cx="5430302" cy="556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3000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Building Blocks of Marketing Strategy</a:t>
            </a:r>
            <a:endParaRPr lang="en-US" dirty="0"/>
          </a:p>
        </p:txBody>
      </p:sp>
      <p:sp>
        <p:nvSpPr>
          <p:cNvPr id="3" name="Content Placeholder 2"/>
          <p:cNvSpPr>
            <a:spLocks noGrp="1"/>
          </p:cNvSpPr>
          <p:nvPr>
            <p:ph idx="1"/>
          </p:nvPr>
        </p:nvSpPr>
        <p:spPr/>
        <p:txBody>
          <a:bodyPr/>
          <a:lstStyle/>
          <a:p>
            <a:pPr marL="0" indent="0">
              <a:buNone/>
            </a:pPr>
            <a:r>
              <a:rPr lang="en-US" dirty="0"/>
              <a:t>SWOT Analysis</a:t>
            </a:r>
          </a:p>
          <a:p>
            <a:r>
              <a:rPr lang="en-US" dirty="0">
                <a:solidFill>
                  <a:srgbClr val="FF0000"/>
                </a:solidFill>
              </a:rPr>
              <a:t>S</a:t>
            </a:r>
            <a:r>
              <a:rPr lang="en-US" dirty="0">
                <a:solidFill>
                  <a:schemeClr val="bg1">
                    <a:lumMod val="65000"/>
                  </a:schemeClr>
                </a:solidFill>
              </a:rPr>
              <a:t>trengths</a:t>
            </a:r>
            <a:r>
              <a:rPr lang="en-US" dirty="0"/>
              <a:t>, </a:t>
            </a:r>
            <a:r>
              <a:rPr lang="en-US" dirty="0">
                <a:solidFill>
                  <a:srgbClr val="FF0000"/>
                </a:solidFill>
              </a:rPr>
              <a:t>W</a:t>
            </a:r>
            <a:r>
              <a:rPr lang="en-US" dirty="0">
                <a:solidFill>
                  <a:schemeClr val="bg1">
                    <a:lumMod val="65000"/>
                  </a:schemeClr>
                </a:solidFill>
              </a:rPr>
              <a:t>eaknesses</a:t>
            </a:r>
            <a:r>
              <a:rPr lang="en-US" dirty="0"/>
              <a:t>, </a:t>
            </a:r>
            <a:r>
              <a:rPr lang="en-US" dirty="0">
                <a:solidFill>
                  <a:srgbClr val="FF0000"/>
                </a:solidFill>
              </a:rPr>
              <a:t>O</a:t>
            </a:r>
            <a:r>
              <a:rPr lang="en-US" dirty="0">
                <a:solidFill>
                  <a:schemeClr val="bg1">
                    <a:lumMod val="65000"/>
                  </a:schemeClr>
                </a:solidFill>
              </a:rPr>
              <a:t>pportunities</a:t>
            </a:r>
            <a:r>
              <a:rPr lang="en-US" dirty="0"/>
              <a:t> and </a:t>
            </a:r>
            <a:r>
              <a:rPr lang="en-US" dirty="0">
                <a:solidFill>
                  <a:srgbClr val="FF0000"/>
                </a:solidFill>
              </a:rPr>
              <a:t>T</a:t>
            </a:r>
            <a:r>
              <a:rPr lang="en-US" dirty="0">
                <a:solidFill>
                  <a:schemeClr val="bg1">
                    <a:lumMod val="65000"/>
                  </a:schemeClr>
                </a:solidFill>
              </a:rPr>
              <a:t>hreats</a:t>
            </a:r>
          </a:p>
          <a:p>
            <a:r>
              <a:rPr lang="en-US" dirty="0"/>
              <a:t>It analysis is an ideal way to understand your business and your market.</a:t>
            </a:r>
          </a:p>
          <a:p>
            <a:r>
              <a:rPr lang="en-US" dirty="0"/>
              <a:t>It is part of a situational analysis and identifies the key issues that direct the marketing strategy.</a:t>
            </a:r>
          </a:p>
          <a:p>
            <a:endParaRPr lang="en-US" dirty="0"/>
          </a:p>
        </p:txBody>
      </p:sp>
    </p:spTree>
    <p:extLst>
      <p:ext uri="{BB962C8B-B14F-4D97-AF65-F5344CB8AC3E}">
        <p14:creationId xmlns:p14="http://schemas.microsoft.com/office/powerpoint/2010/main" val="872863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Building Blocks of Marketing Strategy</a:t>
            </a:r>
          </a:p>
        </p:txBody>
      </p:sp>
      <p:sp>
        <p:nvSpPr>
          <p:cNvPr id="4" name="TextBox 3"/>
          <p:cNvSpPr txBox="1"/>
          <p:nvPr/>
        </p:nvSpPr>
        <p:spPr>
          <a:xfrm rot="16200000">
            <a:off x="-1360557" y="3189357"/>
            <a:ext cx="4343400" cy="707886"/>
          </a:xfrm>
          <a:prstGeom prst="rect">
            <a:avLst/>
          </a:prstGeom>
          <a:noFill/>
        </p:spPr>
        <p:txBody>
          <a:bodyPr wrap="square" rtlCol="0">
            <a:spAutoFit/>
          </a:bodyPr>
          <a:lstStyle/>
          <a:p>
            <a:pPr algn="ctr"/>
            <a:r>
              <a:rPr lang="en-US" sz="4000" dirty="0"/>
              <a:t>SWOT Analysis</a:t>
            </a:r>
          </a:p>
        </p:txBody>
      </p:sp>
      <p:pic>
        <p:nvPicPr>
          <p:cNvPr id="4100" name="Picture 4" descr="http://cwmission.org/missiontoolkit/wp-content/uploads/2014/02/SWOT-Analysi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114423"/>
            <a:ext cx="6858000" cy="514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496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Building Blocks of Marketing Strategy</a:t>
            </a:r>
          </a:p>
        </p:txBody>
      </p:sp>
      <p:sp>
        <p:nvSpPr>
          <p:cNvPr id="4" name="TextBox 3"/>
          <p:cNvSpPr txBox="1"/>
          <p:nvPr/>
        </p:nvSpPr>
        <p:spPr>
          <a:xfrm rot="16200000">
            <a:off x="-1360557" y="3189357"/>
            <a:ext cx="4343400" cy="707886"/>
          </a:xfrm>
          <a:prstGeom prst="rect">
            <a:avLst/>
          </a:prstGeom>
          <a:noFill/>
        </p:spPr>
        <p:txBody>
          <a:bodyPr wrap="square" rtlCol="0">
            <a:spAutoFit/>
          </a:bodyPr>
          <a:lstStyle/>
          <a:p>
            <a:pPr algn="ctr"/>
            <a:r>
              <a:rPr lang="en-US" sz="4000" dirty="0"/>
              <a:t>SWOT Analysis</a:t>
            </a:r>
          </a:p>
        </p:txBody>
      </p:sp>
      <p:pic>
        <p:nvPicPr>
          <p:cNvPr id="5" name="Picture 2" descr="http://www.jiscinfonet.ac.uk/wp-content/uploads/enh-swo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562100"/>
            <a:ext cx="658020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5507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Crafting a digital marketing strategy</a:t>
            </a:r>
          </a:p>
        </p:txBody>
      </p:sp>
      <p:sp>
        <p:nvSpPr>
          <p:cNvPr id="3" name="Text Placeholder 2"/>
          <p:cNvSpPr>
            <a:spLocks noGrp="1"/>
          </p:cNvSpPr>
          <p:nvPr>
            <p:ph type="body" idx="1"/>
          </p:nvPr>
        </p:nvSpPr>
        <p:spPr/>
        <p:txBody>
          <a:bodyPr/>
          <a:lstStyle/>
          <a:p>
            <a:r>
              <a:rPr lang="en-US" dirty="0"/>
              <a:t>Part III</a:t>
            </a:r>
          </a:p>
        </p:txBody>
      </p:sp>
    </p:spTree>
    <p:extLst>
      <p:ext uri="{BB962C8B-B14F-4D97-AF65-F5344CB8AC3E}">
        <p14:creationId xmlns:p14="http://schemas.microsoft.com/office/powerpoint/2010/main" val="883243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Steps in Developing Digital Marketing Strategy</a:t>
            </a:r>
          </a:p>
        </p:txBody>
      </p:sp>
      <p:sp>
        <p:nvSpPr>
          <p:cNvPr id="3" name="Content Placeholder 2"/>
          <p:cNvSpPr>
            <a:spLocks noGrp="1"/>
          </p:cNvSpPr>
          <p:nvPr>
            <p:ph idx="1"/>
          </p:nvPr>
        </p:nvSpPr>
        <p:spPr/>
        <p:txBody>
          <a:bodyPr/>
          <a:lstStyle/>
          <a:p>
            <a:r>
              <a:rPr lang="en-US" dirty="0"/>
              <a:t>Examine the context </a:t>
            </a:r>
          </a:p>
          <a:p>
            <a:r>
              <a:rPr lang="en-US" dirty="0"/>
              <a:t>Examine the value exchange</a:t>
            </a:r>
          </a:p>
          <a:p>
            <a:r>
              <a:rPr lang="en-US" dirty="0"/>
              <a:t>Setting objectives</a:t>
            </a:r>
          </a:p>
          <a:p>
            <a:r>
              <a:rPr lang="en-US" dirty="0"/>
              <a:t>Choose the tactics and evaluation</a:t>
            </a:r>
          </a:p>
          <a:p>
            <a:r>
              <a:rPr lang="en-US" dirty="0"/>
              <a:t>Ongoing optimization</a:t>
            </a:r>
          </a:p>
        </p:txBody>
      </p:sp>
    </p:spTree>
    <p:extLst>
      <p:ext uri="{BB962C8B-B14F-4D97-AF65-F5344CB8AC3E}">
        <p14:creationId xmlns:p14="http://schemas.microsoft.com/office/powerpoint/2010/main" val="3780052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a:xfrm>
            <a:off x="457200" y="1112837"/>
            <a:ext cx="8229600" cy="5059363"/>
          </a:xfrm>
        </p:spPr>
        <p:txBody>
          <a:bodyPr>
            <a:normAutofit/>
          </a:bodyPr>
          <a:lstStyle/>
          <a:p>
            <a:pPr marL="0" indent="0">
              <a:buNone/>
            </a:pPr>
            <a:r>
              <a:rPr lang="en-US" dirty="0">
                <a:solidFill>
                  <a:schemeClr val="accent6"/>
                </a:solidFill>
              </a:rPr>
              <a:t>Step 1 - The Context</a:t>
            </a:r>
          </a:p>
          <a:p>
            <a:r>
              <a:rPr lang="en-US" dirty="0"/>
              <a:t>The </a:t>
            </a:r>
            <a:r>
              <a:rPr lang="en-US" dirty="0">
                <a:solidFill>
                  <a:srgbClr val="C00000"/>
                </a:solidFill>
              </a:rPr>
              <a:t>first step</a:t>
            </a:r>
            <a:r>
              <a:rPr lang="en-US" dirty="0"/>
              <a:t> in crafting a successful strategy is to examine the </a:t>
            </a:r>
            <a:r>
              <a:rPr lang="en-US" dirty="0">
                <a:solidFill>
                  <a:srgbClr val="C00000"/>
                </a:solidFill>
              </a:rPr>
              <a:t>context</a:t>
            </a:r>
            <a:r>
              <a:rPr lang="en-US" dirty="0"/>
              <a:t> of the organisation and the various stakeholders.</a:t>
            </a:r>
          </a:p>
          <a:p>
            <a:pPr lvl="1"/>
            <a:r>
              <a:rPr lang="en-US" dirty="0"/>
              <a:t>What is the context in which you are operating (PESTLE factors) and how is this likely to change in the future?</a:t>
            </a:r>
          </a:p>
          <a:p>
            <a:pPr lvl="1"/>
            <a:r>
              <a:rPr lang="en-US" dirty="0"/>
              <a:t>Who are you, why does your brand matter and what makes your brand useful and valuable?</a:t>
            </a:r>
          </a:p>
          <a:p>
            <a:pPr lvl="1"/>
            <a:r>
              <a:rPr lang="en-US" dirty="0"/>
              <a:t>Who are your customers, and what needs, wants and desires do they have?</a:t>
            </a:r>
          </a:p>
          <a:p>
            <a:pPr lvl="1"/>
            <a:r>
              <a:rPr lang="en-US" dirty="0"/>
              <a:t>Who are your competitors? These may extend beyond organizations that compete with you on the basis of price and product and could also be competition in the form of abstracts such as time and mindshare.</a:t>
            </a:r>
          </a:p>
          <a:p>
            <a:endParaRPr lang="en-US" dirty="0"/>
          </a:p>
        </p:txBody>
      </p:sp>
    </p:spTree>
    <p:extLst>
      <p:ext uri="{BB962C8B-B14F-4D97-AF65-F5344CB8AC3E}">
        <p14:creationId xmlns:p14="http://schemas.microsoft.com/office/powerpoint/2010/main" val="1580375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2 - The Value Exchange</a:t>
            </a:r>
          </a:p>
          <a:p>
            <a:r>
              <a:rPr lang="en-US" dirty="0"/>
              <a:t>Examine your value proposition or promise</a:t>
            </a:r>
          </a:p>
          <a:p>
            <a:pPr lvl="1"/>
            <a:r>
              <a:rPr lang="en-US" dirty="0"/>
              <a:t>what unique value your organisation can add to that market</a:t>
            </a:r>
          </a:p>
          <a:p>
            <a:r>
              <a:rPr lang="en-US" dirty="0"/>
              <a:t>Important to identify the supporting value-adds to the brand promise that are unique to the digital landscape</a:t>
            </a:r>
          </a:p>
          <a:p>
            <a:pPr lvl="1"/>
            <a:r>
              <a:rPr lang="en-US" dirty="0"/>
              <a:t>What extras (through Internet, beyond the basic product or service, do you offer to customers?</a:t>
            </a:r>
          </a:p>
          <a:p>
            <a:r>
              <a:rPr lang="en-US" dirty="0"/>
              <a:t>The Internet offers many channels for value creation. However, the definition of what is ‘valuable’ depends largely on the target audience, so it is crucial to research your users and gather insights into what they want and need.</a:t>
            </a:r>
          </a:p>
          <a:p>
            <a:endParaRPr lang="en-US" dirty="0"/>
          </a:p>
          <a:p>
            <a:endParaRPr lang="en-US" dirty="0"/>
          </a:p>
        </p:txBody>
      </p:sp>
    </p:spTree>
    <p:extLst>
      <p:ext uri="{BB962C8B-B14F-4D97-AF65-F5344CB8AC3E}">
        <p14:creationId xmlns:p14="http://schemas.microsoft.com/office/powerpoint/2010/main" val="1505926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2 - The Value Exchange</a:t>
            </a:r>
          </a:p>
          <a:p>
            <a:r>
              <a:rPr lang="en-US" dirty="0"/>
              <a:t>Content marketing is the process of conceptualizing and creating this sort of content – examples of </a:t>
            </a:r>
            <a:r>
              <a:rPr lang="en-US" u="sng" dirty="0"/>
              <a:t>value-based content</a:t>
            </a:r>
            <a:r>
              <a:rPr lang="en-US" dirty="0"/>
              <a:t> include a </a:t>
            </a:r>
            <a:r>
              <a:rPr lang="en-US" dirty="0">
                <a:solidFill>
                  <a:srgbClr val="C00000"/>
                </a:solidFill>
              </a:rPr>
              <a:t>DIY gardening video for a hardware brand</a:t>
            </a:r>
            <a:r>
              <a:rPr lang="en-US" dirty="0"/>
              <a:t>, a </a:t>
            </a:r>
            <a:r>
              <a:rPr lang="en-US" dirty="0">
                <a:solidFill>
                  <a:srgbClr val="0070C0"/>
                </a:solidFill>
              </a:rPr>
              <a:t>research paper for a business analyst</a:t>
            </a:r>
            <a:r>
              <a:rPr lang="en-US" dirty="0"/>
              <a:t>, or a </a:t>
            </a:r>
            <a:r>
              <a:rPr lang="en-US" dirty="0">
                <a:solidFill>
                  <a:srgbClr val="7030A0"/>
                </a:solidFill>
              </a:rPr>
              <a:t>funny infographic for a marketing company</a:t>
            </a:r>
            <a:r>
              <a:rPr lang="en-US" dirty="0"/>
              <a:t>.</a:t>
            </a:r>
          </a:p>
        </p:txBody>
      </p:sp>
    </p:spTree>
    <p:extLst>
      <p:ext uri="{BB962C8B-B14F-4D97-AF65-F5344CB8AC3E}">
        <p14:creationId xmlns:p14="http://schemas.microsoft.com/office/powerpoint/2010/main" val="37190612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4</a:t>
            </a:r>
          </a:p>
        </p:txBody>
      </p:sp>
      <p:sp>
        <p:nvSpPr>
          <p:cNvPr id="3" name="Content Placeholder 2"/>
          <p:cNvSpPr>
            <a:spLocks noGrp="1"/>
          </p:cNvSpPr>
          <p:nvPr>
            <p:ph idx="1"/>
          </p:nvPr>
        </p:nvSpPr>
        <p:spPr/>
        <p:txBody>
          <a:bodyPr>
            <a:normAutofit/>
          </a:bodyPr>
          <a:lstStyle/>
          <a:p>
            <a:pPr marL="0" indent="0">
              <a:buNone/>
            </a:pPr>
            <a:r>
              <a:rPr lang="en-US" dirty="0"/>
              <a:t>Suggest some value-based content for following businesses:</a:t>
            </a:r>
            <a:endParaRPr lang="en-SG" dirty="0"/>
          </a:p>
          <a:p>
            <a:pPr lvl="0"/>
            <a:r>
              <a:rPr lang="en-US" dirty="0"/>
              <a:t>Travel and tours company</a:t>
            </a:r>
            <a:endParaRPr lang="en-SG" dirty="0"/>
          </a:p>
          <a:p>
            <a:pPr lvl="0"/>
            <a:r>
              <a:rPr lang="en-US" dirty="0"/>
              <a:t>English language training center</a:t>
            </a:r>
            <a:endParaRPr lang="en-SG" dirty="0"/>
          </a:p>
          <a:p>
            <a:pPr lvl="0"/>
            <a:r>
              <a:rPr lang="en-US" dirty="0"/>
              <a:t>Food steamer brand</a:t>
            </a:r>
            <a:endParaRPr lang="en-SG" dirty="0"/>
          </a:p>
          <a:p>
            <a:pPr lvl="0"/>
            <a:r>
              <a:rPr lang="en-US" dirty="0"/>
              <a:t>Business selling pianos and synthesizers</a:t>
            </a:r>
            <a:endParaRPr lang="en-SG" dirty="0"/>
          </a:p>
          <a:p>
            <a:pPr lvl="0"/>
            <a:r>
              <a:rPr lang="en-US" dirty="0"/>
              <a:t>Herbal medicine practitioner </a:t>
            </a:r>
            <a:endParaRPr lang="en-SG" dirty="0"/>
          </a:p>
        </p:txBody>
      </p:sp>
    </p:spTree>
    <p:extLst>
      <p:ext uri="{BB962C8B-B14F-4D97-AF65-F5344CB8AC3E}">
        <p14:creationId xmlns:p14="http://schemas.microsoft.com/office/powerpoint/2010/main" val="1094918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3 - Objectives</a:t>
            </a:r>
          </a:p>
          <a:p>
            <a:r>
              <a:rPr lang="en-US" dirty="0"/>
              <a:t>Four key aspects to be considered:</a:t>
            </a:r>
          </a:p>
          <a:p>
            <a:pPr lvl="1"/>
            <a:r>
              <a:rPr lang="en-US" dirty="0"/>
              <a:t>Objectives </a:t>
            </a:r>
          </a:p>
          <a:p>
            <a:pPr lvl="1"/>
            <a:r>
              <a:rPr lang="en-US" dirty="0"/>
              <a:t>Tactics</a:t>
            </a:r>
          </a:p>
          <a:p>
            <a:pPr lvl="1"/>
            <a:r>
              <a:rPr lang="en-US" dirty="0"/>
              <a:t>Key Performance Indicators (KPIs)</a:t>
            </a:r>
          </a:p>
          <a:p>
            <a:pPr lvl="1"/>
            <a:r>
              <a:rPr lang="en-US" dirty="0"/>
              <a:t>Targets</a:t>
            </a:r>
          </a:p>
        </p:txBody>
      </p:sp>
    </p:spTree>
    <p:extLst>
      <p:ext uri="{BB962C8B-B14F-4D97-AF65-F5344CB8AC3E}">
        <p14:creationId xmlns:p14="http://schemas.microsoft.com/office/powerpoint/2010/main" val="24485406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lnSpcReduction="10000"/>
          </a:bodyPr>
          <a:lstStyle/>
          <a:p>
            <a:pPr marL="0" indent="0">
              <a:buNone/>
            </a:pPr>
            <a:r>
              <a:rPr lang="en-US" dirty="0">
                <a:solidFill>
                  <a:schemeClr val="accent6"/>
                </a:solidFill>
              </a:rPr>
              <a:t>Step 3 - Objectives</a:t>
            </a:r>
          </a:p>
          <a:p>
            <a:r>
              <a:rPr lang="en-US" dirty="0"/>
              <a:t>Objectives</a:t>
            </a:r>
          </a:p>
          <a:p>
            <a:pPr lvl="1"/>
            <a:r>
              <a:rPr lang="en-US" dirty="0"/>
              <a:t>What are you trying to achieve?</a:t>
            </a:r>
          </a:p>
          <a:p>
            <a:pPr lvl="1"/>
            <a:r>
              <a:rPr lang="en-US" dirty="0"/>
              <a:t>How will you know if you are successful?</a:t>
            </a:r>
          </a:p>
          <a:p>
            <a:r>
              <a:rPr lang="en-US" dirty="0"/>
              <a:t>Objectives need to be </a:t>
            </a:r>
            <a:r>
              <a:rPr lang="en-US" dirty="0">
                <a:solidFill>
                  <a:srgbClr val="FF0000"/>
                </a:solidFill>
              </a:rPr>
              <a:t>SMART</a:t>
            </a:r>
            <a:r>
              <a:rPr lang="en-US" dirty="0"/>
              <a:t>:</a:t>
            </a:r>
          </a:p>
          <a:p>
            <a:pPr lvl="1"/>
            <a:r>
              <a:rPr lang="en-US" dirty="0">
                <a:solidFill>
                  <a:srgbClr val="FF0000"/>
                </a:solidFill>
              </a:rPr>
              <a:t>S</a:t>
            </a:r>
            <a:r>
              <a:rPr lang="en-US" dirty="0"/>
              <a:t>pecific – the objective must be clear and detail rather than vague and general.</a:t>
            </a:r>
          </a:p>
          <a:p>
            <a:pPr lvl="1"/>
            <a:r>
              <a:rPr lang="en-US" dirty="0">
                <a:solidFill>
                  <a:srgbClr val="FF0000"/>
                </a:solidFill>
              </a:rPr>
              <a:t>M</a:t>
            </a:r>
            <a:r>
              <a:rPr lang="en-US" dirty="0"/>
              <a:t>easurable – the objective must be measurable so that you can gauge whether you are attaining desired outcome. </a:t>
            </a:r>
          </a:p>
          <a:p>
            <a:pPr lvl="1"/>
            <a:r>
              <a:rPr lang="en-US" dirty="0">
                <a:solidFill>
                  <a:srgbClr val="FF0000"/>
                </a:solidFill>
              </a:rPr>
              <a:t>A</a:t>
            </a:r>
            <a:r>
              <a:rPr lang="en-US" dirty="0"/>
              <a:t>ttainable – The objective must be something that is possible for your brand to achieve, based on available resources. </a:t>
            </a:r>
          </a:p>
          <a:p>
            <a:pPr lvl="1"/>
            <a:r>
              <a:rPr lang="en-US" dirty="0">
                <a:solidFill>
                  <a:srgbClr val="FF0000"/>
                </a:solidFill>
              </a:rPr>
              <a:t>R</a:t>
            </a:r>
            <a:r>
              <a:rPr lang="en-US" dirty="0"/>
              <a:t>ealistic – the objective must also be sensible and based on data and trends; don’t exaggerate or overestimate what can be achieved.</a:t>
            </a:r>
          </a:p>
          <a:p>
            <a:pPr lvl="1"/>
            <a:r>
              <a:rPr lang="en-US" dirty="0">
                <a:solidFill>
                  <a:srgbClr val="FF0000"/>
                </a:solidFill>
              </a:rPr>
              <a:t>T</a:t>
            </a:r>
            <a:r>
              <a:rPr lang="en-US" dirty="0"/>
              <a:t>ime-bound – finally, the objective must be linked to a specific timeframe. </a:t>
            </a:r>
          </a:p>
          <a:p>
            <a:pPr lvl="1"/>
            <a:endParaRPr lang="en-US" dirty="0"/>
          </a:p>
        </p:txBody>
      </p:sp>
    </p:spTree>
    <p:extLst>
      <p:ext uri="{BB962C8B-B14F-4D97-AF65-F5344CB8AC3E}">
        <p14:creationId xmlns:p14="http://schemas.microsoft.com/office/powerpoint/2010/main" val="687740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3 - Objectives</a:t>
            </a:r>
          </a:p>
          <a:p>
            <a:r>
              <a:rPr lang="en-US" dirty="0"/>
              <a:t>Tactics</a:t>
            </a:r>
          </a:p>
          <a:p>
            <a:pPr lvl="1"/>
            <a:r>
              <a:rPr lang="en-US" dirty="0"/>
              <a:t>Specific </a:t>
            </a:r>
            <a:r>
              <a:rPr lang="en-US" dirty="0">
                <a:solidFill>
                  <a:srgbClr val="FF0000"/>
                </a:solidFill>
              </a:rPr>
              <a:t>tools or approaches </a:t>
            </a:r>
            <a:r>
              <a:rPr lang="en-US" dirty="0"/>
              <a:t>you will use to meet your objectives</a:t>
            </a:r>
          </a:p>
          <a:p>
            <a:pPr lvl="2"/>
            <a:r>
              <a:rPr lang="en-US" dirty="0"/>
              <a:t>for example, a retention-based email newsletter, a Facebook page, or a CRM implementation. </a:t>
            </a:r>
          </a:p>
          <a:p>
            <a:r>
              <a:rPr lang="en-US" dirty="0"/>
              <a:t>You may have </a:t>
            </a:r>
            <a:r>
              <a:rPr lang="en-US" dirty="0">
                <a:solidFill>
                  <a:srgbClr val="FF0000"/>
                </a:solidFill>
              </a:rPr>
              <a:t>multiple tactics </a:t>
            </a:r>
            <a:r>
              <a:rPr lang="en-US" dirty="0"/>
              <a:t>working together to try to achieve the </a:t>
            </a:r>
            <a:r>
              <a:rPr lang="en-US" dirty="0">
                <a:solidFill>
                  <a:srgbClr val="FF0000"/>
                </a:solidFill>
              </a:rPr>
              <a:t>same objective</a:t>
            </a:r>
            <a:r>
              <a:rPr lang="en-US" dirty="0"/>
              <a:t>.</a:t>
            </a:r>
          </a:p>
          <a:p>
            <a:r>
              <a:rPr lang="en-US" dirty="0"/>
              <a:t>Tactics may change (and often should), but the objective should remain your focus.</a:t>
            </a:r>
          </a:p>
        </p:txBody>
      </p:sp>
    </p:spTree>
    <p:extLst>
      <p:ext uri="{BB962C8B-B14F-4D97-AF65-F5344CB8AC3E}">
        <p14:creationId xmlns:p14="http://schemas.microsoft.com/office/powerpoint/2010/main" val="377216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3 - Objectives</a:t>
            </a:r>
          </a:p>
          <a:p>
            <a:r>
              <a:rPr lang="en-US" dirty="0"/>
              <a:t>Key Performance Indicators (KPIs)</a:t>
            </a:r>
          </a:p>
          <a:p>
            <a:pPr lvl="1"/>
            <a:r>
              <a:rPr lang="en-US" dirty="0"/>
              <a:t>KPIs are the specific metrics or pieces of data that you will look at to determine whether your tactics are performing well and meeting your objectives.</a:t>
            </a:r>
          </a:p>
          <a:p>
            <a:pPr lvl="2"/>
            <a:r>
              <a:rPr lang="en-US" dirty="0"/>
              <a:t>For example, a gardener may look at the growth rate, color and general appearance of a plant to evaluate whether it is healthy.</a:t>
            </a:r>
          </a:p>
          <a:p>
            <a:pPr lvl="2"/>
            <a:r>
              <a:rPr lang="en-US" dirty="0"/>
              <a:t>marketer will look at a range of data points to determine whether a chosen tactic is delivering</a:t>
            </a:r>
          </a:p>
          <a:p>
            <a:r>
              <a:rPr lang="en-US" dirty="0"/>
              <a:t>KPIs are determined per tactic, with an eye on the overall objective.</a:t>
            </a:r>
          </a:p>
          <a:p>
            <a:endParaRPr lang="en-US" dirty="0"/>
          </a:p>
        </p:txBody>
      </p:sp>
    </p:spTree>
    <p:extLst>
      <p:ext uri="{BB962C8B-B14F-4D97-AF65-F5344CB8AC3E}">
        <p14:creationId xmlns:p14="http://schemas.microsoft.com/office/powerpoint/2010/main" val="16406045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3 - Objectives</a:t>
            </a:r>
          </a:p>
          <a:p>
            <a:r>
              <a:rPr lang="en-US" dirty="0"/>
              <a:t>Targets</a:t>
            </a:r>
          </a:p>
          <a:p>
            <a:pPr lvl="1"/>
            <a:r>
              <a:rPr lang="en-US" dirty="0"/>
              <a:t>The specific values that are set for your KPIs to reach within a specific time period.</a:t>
            </a:r>
          </a:p>
          <a:p>
            <a:pPr lvl="2"/>
            <a:r>
              <a:rPr lang="en-US" dirty="0"/>
              <a:t>Sportspeople need to reach targets to advance their careers – for example, come in the top ten to qualify for the final, or run 10km in under 27 minutes.</a:t>
            </a:r>
          </a:p>
          <a:p>
            <a:r>
              <a:rPr lang="en-US" dirty="0"/>
              <a:t>If you meet or exceed a target, you are succeeding; if you don’t reach it, you’re falling behind on your objectives and you need to reconsider your approach (or your target). </a:t>
            </a:r>
          </a:p>
        </p:txBody>
      </p:sp>
    </p:spTree>
    <p:extLst>
      <p:ext uri="{BB962C8B-B14F-4D97-AF65-F5344CB8AC3E}">
        <p14:creationId xmlns:p14="http://schemas.microsoft.com/office/powerpoint/2010/main" val="358541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solidFill>
                  <a:schemeClr val="accent6"/>
                </a:solidFill>
              </a:rPr>
              <a:t>Example</a:t>
            </a:r>
          </a:p>
          <a:p>
            <a:r>
              <a:rPr lang="en-US" dirty="0">
                <a:solidFill>
                  <a:srgbClr val="0070C0"/>
                </a:solidFill>
              </a:rPr>
              <a:t>SMART Objective:</a:t>
            </a:r>
          </a:p>
          <a:p>
            <a:pPr lvl="1"/>
            <a:r>
              <a:rPr lang="en-US" dirty="0"/>
              <a:t>Increase sales through the e-commerce platform by 10% within the next six months.</a:t>
            </a:r>
          </a:p>
          <a:p>
            <a:r>
              <a:rPr lang="en-US" dirty="0">
                <a:solidFill>
                  <a:srgbClr val="0070C0"/>
                </a:solidFill>
              </a:rPr>
              <a:t>Tactics:</a:t>
            </a:r>
          </a:p>
          <a:p>
            <a:pPr lvl="1"/>
            <a:r>
              <a:rPr lang="en-US" dirty="0"/>
              <a:t>Search advertising</a:t>
            </a:r>
          </a:p>
          <a:p>
            <a:pPr lvl="1"/>
            <a:r>
              <a:rPr lang="en-US" dirty="0"/>
              <a:t>Facebook brand page</a:t>
            </a:r>
          </a:p>
          <a:p>
            <a:r>
              <a:rPr lang="en-US" dirty="0">
                <a:solidFill>
                  <a:srgbClr val="0070C0"/>
                </a:solidFill>
              </a:rPr>
              <a:t>KPIs per Tactics:</a:t>
            </a:r>
          </a:p>
          <a:p>
            <a:pPr lvl="1"/>
            <a:r>
              <a:rPr lang="en-US" dirty="0"/>
              <a:t>Search advertising – number of search referrals</a:t>
            </a:r>
          </a:p>
          <a:p>
            <a:pPr lvl="1"/>
            <a:r>
              <a:rPr lang="en-US" dirty="0"/>
              <a:t>Facebook brand page – number of comments and shares on campaign-specific posts</a:t>
            </a:r>
          </a:p>
          <a:p>
            <a:r>
              <a:rPr lang="en-US" dirty="0">
                <a:solidFill>
                  <a:srgbClr val="0070C0"/>
                </a:solidFill>
              </a:rPr>
              <a:t>Targets per KPI:</a:t>
            </a:r>
          </a:p>
          <a:p>
            <a:pPr lvl="1"/>
            <a:r>
              <a:rPr lang="en-US" dirty="0"/>
              <a:t>Search advertising – 1000 search referrals after first month, with a 10% month-on-month increase after that</a:t>
            </a:r>
          </a:p>
          <a:p>
            <a:pPr lvl="1"/>
            <a:r>
              <a:rPr lang="en-US" dirty="0"/>
              <a:t>Facebook brand page – 50 comments and 10 shares on campaign-specific posts per week</a:t>
            </a:r>
          </a:p>
        </p:txBody>
      </p:sp>
    </p:spTree>
    <p:extLst>
      <p:ext uri="{BB962C8B-B14F-4D97-AF65-F5344CB8AC3E}">
        <p14:creationId xmlns:p14="http://schemas.microsoft.com/office/powerpoint/2010/main" val="2259044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4 – Tactics and Evaluation</a:t>
            </a:r>
          </a:p>
        </p:txBody>
      </p:sp>
      <p:graphicFrame>
        <p:nvGraphicFramePr>
          <p:cNvPr id="4" name="Table 3"/>
          <p:cNvGraphicFramePr>
            <a:graphicFrameLocks noGrp="1"/>
          </p:cNvGraphicFramePr>
          <p:nvPr>
            <p:extLst>
              <p:ext uri="{D42A27DB-BD31-4B8C-83A1-F6EECF244321}">
                <p14:modId xmlns:p14="http://schemas.microsoft.com/office/powerpoint/2010/main" val="2273165307"/>
              </p:ext>
            </p:extLst>
          </p:nvPr>
        </p:nvGraphicFramePr>
        <p:xfrm>
          <a:off x="609600" y="1536699"/>
          <a:ext cx="7924799" cy="4196334"/>
        </p:xfrm>
        <a:graphic>
          <a:graphicData uri="http://schemas.openxmlformats.org/drawingml/2006/table">
            <a:tbl>
              <a:tblPr firstRow="1" firstCol="1" bandRow="1">
                <a:tableStyleId>{5C22544A-7EE6-4342-B048-85BDC9FD1C3A}</a:tableStyleId>
              </a:tblPr>
              <a:tblGrid>
                <a:gridCol w="3959398">
                  <a:extLst>
                    <a:ext uri="{9D8B030D-6E8A-4147-A177-3AD203B41FA5}">
                      <a16:colId xmlns:a16="http://schemas.microsoft.com/office/drawing/2014/main" val="20000"/>
                    </a:ext>
                  </a:extLst>
                </a:gridCol>
                <a:gridCol w="3965401">
                  <a:extLst>
                    <a:ext uri="{9D8B030D-6E8A-4147-A177-3AD203B41FA5}">
                      <a16:colId xmlns:a16="http://schemas.microsoft.com/office/drawing/2014/main" val="20001"/>
                    </a:ext>
                  </a:extLst>
                </a:gridCol>
              </a:tblGrid>
              <a:tr h="239876">
                <a:tc>
                  <a:txBody>
                    <a:bodyPr/>
                    <a:lstStyle/>
                    <a:p>
                      <a:pPr>
                        <a:lnSpc>
                          <a:spcPct val="107000"/>
                        </a:lnSpc>
                        <a:spcAft>
                          <a:spcPts val="0"/>
                        </a:spcAft>
                      </a:pPr>
                      <a:r>
                        <a:rPr lang="en-US" sz="2000" dirty="0">
                          <a:effectLst/>
                        </a:rPr>
                        <a:t>Tactic</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Outcome</a:t>
                      </a:r>
                      <a:endParaRPr lang="en-SG"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39876">
                <a:tc>
                  <a:txBody>
                    <a:bodyPr/>
                    <a:lstStyle/>
                    <a:p>
                      <a:pPr>
                        <a:lnSpc>
                          <a:spcPct val="107000"/>
                        </a:lnSpc>
                        <a:spcAft>
                          <a:spcPts val="0"/>
                        </a:spcAft>
                      </a:pPr>
                      <a:r>
                        <a:rPr lang="en-US" sz="2000">
                          <a:effectLst/>
                        </a:rPr>
                        <a:t>SEO</a:t>
                      </a:r>
                      <a:endParaRPr lang="en-SG"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Customer retention and acquisition </a:t>
                      </a:r>
                      <a:endParaRPr lang="en-SG"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996748">
                <a:tc>
                  <a:txBody>
                    <a:bodyPr/>
                    <a:lstStyle/>
                    <a:p>
                      <a:pPr>
                        <a:lnSpc>
                          <a:spcPct val="107000"/>
                        </a:lnSpc>
                        <a:spcAft>
                          <a:spcPts val="0"/>
                        </a:spcAft>
                      </a:pPr>
                      <a:r>
                        <a:rPr lang="en-US" sz="2000" dirty="0">
                          <a:effectLst/>
                        </a:rPr>
                        <a:t>This is the practice of optimizing a website to rank higher on the search engine results pages for relevant search terms. SEO involves creating relevant, fresh and user-friendly content that search engines index and serve when people enter a search term that is relevant to your product or service.</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SEO has a key role to play in acquisition, as it ensures your organization’s offering will appear in the search results, allowing you to reach potential customers. A site that is optimized for search engines is also a site that is clear, relevant and well designed. These elements ensure a great user experience, meaning that SEO also plays a role in retention.</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58002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4 – Tactics and Evaluation</a:t>
            </a:r>
          </a:p>
        </p:txBody>
      </p:sp>
      <p:graphicFrame>
        <p:nvGraphicFramePr>
          <p:cNvPr id="4" name="Table 3"/>
          <p:cNvGraphicFramePr>
            <a:graphicFrameLocks noGrp="1"/>
          </p:cNvGraphicFramePr>
          <p:nvPr>
            <p:extLst>
              <p:ext uri="{D42A27DB-BD31-4B8C-83A1-F6EECF244321}">
                <p14:modId xmlns:p14="http://schemas.microsoft.com/office/powerpoint/2010/main" val="2190931240"/>
              </p:ext>
            </p:extLst>
          </p:nvPr>
        </p:nvGraphicFramePr>
        <p:xfrm>
          <a:off x="609600" y="1536699"/>
          <a:ext cx="7924799" cy="4196334"/>
        </p:xfrm>
        <a:graphic>
          <a:graphicData uri="http://schemas.openxmlformats.org/drawingml/2006/table">
            <a:tbl>
              <a:tblPr firstRow="1" firstCol="1" bandRow="1">
                <a:tableStyleId>{5C22544A-7EE6-4342-B048-85BDC9FD1C3A}</a:tableStyleId>
              </a:tblPr>
              <a:tblGrid>
                <a:gridCol w="3959398">
                  <a:extLst>
                    <a:ext uri="{9D8B030D-6E8A-4147-A177-3AD203B41FA5}">
                      <a16:colId xmlns:a16="http://schemas.microsoft.com/office/drawing/2014/main" val="20000"/>
                    </a:ext>
                  </a:extLst>
                </a:gridCol>
                <a:gridCol w="3965401">
                  <a:extLst>
                    <a:ext uri="{9D8B030D-6E8A-4147-A177-3AD203B41FA5}">
                      <a16:colId xmlns:a16="http://schemas.microsoft.com/office/drawing/2014/main" val="20001"/>
                    </a:ext>
                  </a:extLst>
                </a:gridCol>
              </a:tblGrid>
              <a:tr h="239876">
                <a:tc>
                  <a:txBody>
                    <a:bodyPr/>
                    <a:lstStyle/>
                    <a:p>
                      <a:pPr>
                        <a:lnSpc>
                          <a:spcPct val="107000"/>
                        </a:lnSpc>
                        <a:spcAft>
                          <a:spcPts val="0"/>
                        </a:spcAft>
                      </a:pPr>
                      <a:r>
                        <a:rPr lang="en-US" sz="2000" dirty="0">
                          <a:effectLst/>
                        </a:rPr>
                        <a:t>Tactic</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Outcome</a:t>
                      </a:r>
                      <a:endParaRPr lang="en-SG"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39876">
                <a:tc>
                  <a:txBody>
                    <a:bodyPr/>
                    <a:lstStyle/>
                    <a:p>
                      <a:pPr>
                        <a:lnSpc>
                          <a:spcPct val="107000"/>
                        </a:lnSpc>
                        <a:spcAft>
                          <a:spcPts val="0"/>
                        </a:spcAft>
                      </a:pPr>
                      <a:r>
                        <a:rPr lang="en-US" sz="2000" dirty="0">
                          <a:effectLst/>
                        </a:rPr>
                        <a:t>Search advertising</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Sales, customer retention and acquisition</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996748">
                <a:tc>
                  <a:txBody>
                    <a:bodyPr/>
                    <a:lstStyle/>
                    <a:p>
                      <a:pPr>
                        <a:lnSpc>
                          <a:spcPct val="107000"/>
                        </a:lnSpc>
                        <a:spcAft>
                          <a:spcPts val="0"/>
                        </a:spcAft>
                      </a:pPr>
                      <a:r>
                        <a:rPr lang="en-US" sz="2000" dirty="0">
                          <a:effectLst/>
                        </a:rPr>
                        <a:t>In pay-per-click or search advertising, the advertiser pays only when someone clicks on their ad. The ads appear on search engine results pages.</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The beauty of search advertising is that it is keyword based. This means an ad will come up in response to the search terms entered by the consumer. It therefore plays a role in sales, acquisition and retention. It allows the advertiser to reach people who are already in the buying cycle or are expressing interest in what they have to offer.</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7011064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sz="2800" dirty="0">
                <a:solidFill>
                  <a:schemeClr val="accent6"/>
                </a:solidFill>
              </a:rPr>
              <a:t>Step 4 – Tactics and Evaluation</a:t>
            </a:r>
          </a:p>
        </p:txBody>
      </p:sp>
      <p:graphicFrame>
        <p:nvGraphicFramePr>
          <p:cNvPr id="5" name="Table 4"/>
          <p:cNvGraphicFramePr>
            <a:graphicFrameLocks noGrp="1"/>
          </p:cNvGraphicFramePr>
          <p:nvPr>
            <p:extLst>
              <p:ext uri="{D42A27DB-BD31-4B8C-83A1-F6EECF244321}">
                <p14:modId xmlns:p14="http://schemas.microsoft.com/office/powerpoint/2010/main" val="2794257558"/>
              </p:ext>
            </p:extLst>
          </p:nvPr>
        </p:nvGraphicFramePr>
        <p:xfrm>
          <a:off x="533400" y="1600200"/>
          <a:ext cx="8001000" cy="5029200"/>
        </p:xfrm>
        <a:graphic>
          <a:graphicData uri="http://schemas.openxmlformats.org/drawingml/2006/table">
            <a:tbl>
              <a:tblPr firstRow="1" firstCol="1" bandRow="1">
                <a:tableStyleId>{5C22544A-7EE6-4342-B048-85BDC9FD1C3A}</a:tableStyleId>
              </a:tblPr>
              <a:tblGrid>
                <a:gridCol w="3997470">
                  <a:extLst>
                    <a:ext uri="{9D8B030D-6E8A-4147-A177-3AD203B41FA5}">
                      <a16:colId xmlns:a16="http://schemas.microsoft.com/office/drawing/2014/main" val="20000"/>
                    </a:ext>
                  </a:extLst>
                </a:gridCol>
                <a:gridCol w="4003530">
                  <a:extLst>
                    <a:ext uri="{9D8B030D-6E8A-4147-A177-3AD203B41FA5}">
                      <a16:colId xmlns:a16="http://schemas.microsoft.com/office/drawing/2014/main" val="20001"/>
                    </a:ext>
                  </a:extLst>
                </a:gridCol>
              </a:tblGrid>
              <a:tr h="345485">
                <a:tc>
                  <a:txBody>
                    <a:bodyPr/>
                    <a:lstStyle/>
                    <a:p>
                      <a:pPr>
                        <a:lnSpc>
                          <a:spcPct val="107000"/>
                        </a:lnSpc>
                        <a:spcAft>
                          <a:spcPts val="0"/>
                        </a:spcAft>
                      </a:pPr>
                      <a:r>
                        <a:rPr lang="en-US" sz="2200" dirty="0">
                          <a:effectLst/>
                        </a:rPr>
                        <a:t>Online advertising </a:t>
                      </a:r>
                      <a:endParaRPr lang="en-SG"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200">
                          <a:effectLst/>
                        </a:rPr>
                        <a:t>Branding and acquisition</a:t>
                      </a:r>
                      <a:endParaRPr lang="en-SG"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683715">
                <a:tc>
                  <a:txBody>
                    <a:bodyPr/>
                    <a:lstStyle/>
                    <a:p>
                      <a:pPr>
                        <a:lnSpc>
                          <a:spcPct val="107000"/>
                        </a:lnSpc>
                        <a:spcAft>
                          <a:spcPts val="0"/>
                        </a:spcAft>
                      </a:pPr>
                      <a:r>
                        <a:rPr lang="en-US" sz="2200" dirty="0">
                          <a:effectLst/>
                        </a:rPr>
                        <a:t>Online advertising covers advertising in all areas of the Internet – ads in emails, ads on social networks and mobile devices, and display ads on normal websites.</a:t>
                      </a:r>
                      <a:endParaRPr lang="en-SG"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200" dirty="0">
                          <a:effectLst/>
                        </a:rPr>
                        <a:t>The main objective of display advertising is to raise brand awareness online. It can also be more interactive and therefore less disruptive than traditional or static online advertising, as users can choose to engage with the ad or not. Online advertising can be targeted to physical locations, subject areas, past user behaviors, and much more.</a:t>
                      </a:r>
                      <a:endParaRPr lang="en-SG"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02804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4 – Tactics and Evaluation</a:t>
            </a:r>
          </a:p>
        </p:txBody>
      </p:sp>
      <p:graphicFrame>
        <p:nvGraphicFramePr>
          <p:cNvPr id="5" name="Table 4"/>
          <p:cNvGraphicFramePr>
            <a:graphicFrameLocks noGrp="1"/>
          </p:cNvGraphicFramePr>
          <p:nvPr>
            <p:extLst>
              <p:ext uri="{D42A27DB-BD31-4B8C-83A1-F6EECF244321}">
                <p14:modId xmlns:p14="http://schemas.microsoft.com/office/powerpoint/2010/main" val="1581347826"/>
              </p:ext>
            </p:extLst>
          </p:nvPr>
        </p:nvGraphicFramePr>
        <p:xfrm>
          <a:off x="533400" y="1600200"/>
          <a:ext cx="8001000" cy="4876800"/>
        </p:xfrm>
        <a:graphic>
          <a:graphicData uri="http://schemas.openxmlformats.org/drawingml/2006/table">
            <a:tbl>
              <a:tblPr firstRow="1" firstCol="1" bandRow="1">
                <a:tableStyleId>{5C22544A-7EE6-4342-B048-85BDC9FD1C3A}</a:tableStyleId>
              </a:tblPr>
              <a:tblGrid>
                <a:gridCol w="3997470">
                  <a:extLst>
                    <a:ext uri="{9D8B030D-6E8A-4147-A177-3AD203B41FA5}">
                      <a16:colId xmlns:a16="http://schemas.microsoft.com/office/drawing/2014/main" val="20000"/>
                    </a:ext>
                  </a:extLst>
                </a:gridCol>
                <a:gridCol w="4003530">
                  <a:extLst>
                    <a:ext uri="{9D8B030D-6E8A-4147-A177-3AD203B41FA5}">
                      <a16:colId xmlns:a16="http://schemas.microsoft.com/office/drawing/2014/main" val="20001"/>
                    </a:ext>
                  </a:extLst>
                </a:gridCol>
              </a:tblGrid>
              <a:tr h="427112">
                <a:tc>
                  <a:txBody>
                    <a:bodyPr/>
                    <a:lstStyle/>
                    <a:p>
                      <a:pPr>
                        <a:lnSpc>
                          <a:spcPct val="107000"/>
                        </a:lnSpc>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Affiliate marketing</a:t>
                      </a:r>
                      <a:endParaRPr lang="en-SG"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400">
                          <a:effectLst/>
                          <a:latin typeface="Calibri" panose="020F0502020204030204" pitchFamily="34" charset="0"/>
                          <a:ea typeface="Calibri" panose="020F0502020204030204" pitchFamily="34" charset="0"/>
                          <a:cs typeface="Times New Roman" panose="02020603050405020304" pitchFamily="18" charset="0"/>
                        </a:rPr>
                        <a:t>Sales and branding</a:t>
                      </a:r>
                      <a:endParaRPr lang="en-SG"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449688">
                <a:tc>
                  <a:txBody>
                    <a:bodyPr/>
                    <a:lstStyle/>
                    <a:p>
                      <a:pPr>
                        <a:lnSpc>
                          <a:spcPct val="107000"/>
                        </a:lnSpc>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Affiliate marketing is a system of reward whereby referrers are given a ‘finder’s fee’ for every referral they give.</a:t>
                      </a:r>
                      <a:endParaRPr lang="en-SG"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Online affiliate marketing is widely used to promote e-commerce websites, with the referrers being rewarded for every visitor, subscriber or customer provided through their efforts. It is a useful tactic for brand building and acquisition.</a:t>
                      </a:r>
                      <a:endParaRPr lang="en-SG"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30411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4 – Tactics and Evaluation</a:t>
            </a:r>
          </a:p>
        </p:txBody>
      </p:sp>
      <p:graphicFrame>
        <p:nvGraphicFramePr>
          <p:cNvPr id="4" name="Table 3"/>
          <p:cNvGraphicFramePr>
            <a:graphicFrameLocks noGrp="1"/>
          </p:cNvGraphicFramePr>
          <p:nvPr>
            <p:extLst>
              <p:ext uri="{D42A27DB-BD31-4B8C-83A1-F6EECF244321}">
                <p14:modId xmlns:p14="http://schemas.microsoft.com/office/powerpoint/2010/main" val="3010739930"/>
              </p:ext>
            </p:extLst>
          </p:nvPr>
        </p:nvGraphicFramePr>
        <p:xfrm>
          <a:off x="533400" y="1600200"/>
          <a:ext cx="8153400" cy="4876800"/>
        </p:xfrm>
        <a:graphic>
          <a:graphicData uri="http://schemas.openxmlformats.org/drawingml/2006/table">
            <a:tbl>
              <a:tblPr firstRow="1" firstCol="1" bandRow="1">
                <a:tableStyleId>{5C22544A-7EE6-4342-B048-85BDC9FD1C3A}</a:tableStyleId>
              </a:tblPr>
              <a:tblGrid>
                <a:gridCol w="4073613">
                  <a:extLst>
                    <a:ext uri="{9D8B030D-6E8A-4147-A177-3AD203B41FA5}">
                      <a16:colId xmlns:a16="http://schemas.microsoft.com/office/drawing/2014/main" val="20000"/>
                    </a:ext>
                  </a:extLst>
                </a:gridCol>
                <a:gridCol w="4079787">
                  <a:extLst>
                    <a:ext uri="{9D8B030D-6E8A-4147-A177-3AD203B41FA5}">
                      <a16:colId xmlns:a16="http://schemas.microsoft.com/office/drawing/2014/main" val="20001"/>
                    </a:ext>
                  </a:extLst>
                </a:gridCol>
              </a:tblGrid>
              <a:tr h="966649">
                <a:tc>
                  <a:txBody>
                    <a:bodyPr/>
                    <a:lstStyle/>
                    <a:p>
                      <a:pPr>
                        <a:lnSpc>
                          <a:spcPct val="107000"/>
                        </a:lnSpc>
                        <a:spcAft>
                          <a:spcPts val="0"/>
                        </a:spcAft>
                      </a:pPr>
                      <a:r>
                        <a:rPr lang="en-US" sz="2400" dirty="0">
                          <a:effectLst/>
                        </a:rPr>
                        <a:t>Video marketing</a:t>
                      </a:r>
                      <a:endParaRPr lang="en-SG"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400">
                          <a:effectLst/>
                        </a:rPr>
                        <a:t>Branding, customer retention and value creation</a:t>
                      </a:r>
                      <a:endParaRPr lang="en-SG"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910151">
                <a:tc>
                  <a:txBody>
                    <a:bodyPr/>
                    <a:lstStyle/>
                    <a:p>
                      <a:pPr>
                        <a:lnSpc>
                          <a:spcPct val="107000"/>
                        </a:lnSpc>
                        <a:spcAft>
                          <a:spcPts val="0"/>
                        </a:spcAft>
                      </a:pPr>
                      <a:r>
                        <a:rPr lang="en-US" sz="2400" dirty="0">
                          <a:effectLst/>
                        </a:rPr>
                        <a:t>Video marketing involves creating video content. This can either be outright video advertising, or can be valuable, useful, content marketing.</a:t>
                      </a:r>
                      <a:endParaRPr lang="en-SG"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400" dirty="0">
                          <a:effectLst/>
                        </a:rPr>
                        <a:t>Since it is so interactive and engaging, video marketing is excellent for capturing and retaining customer attention. Done correctly, it provides tangible value – in the form of information, entertainment or inspiration – and boosts a brand’s image in the eyes of the public.</a:t>
                      </a:r>
                      <a:endParaRPr lang="en-SG"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757875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Step 4 – Tactics and Evaluation</a:t>
            </a:r>
          </a:p>
        </p:txBody>
      </p:sp>
      <p:graphicFrame>
        <p:nvGraphicFramePr>
          <p:cNvPr id="5" name="Table 4"/>
          <p:cNvGraphicFramePr>
            <a:graphicFrameLocks noGrp="1"/>
          </p:cNvGraphicFramePr>
          <p:nvPr>
            <p:extLst>
              <p:ext uri="{D42A27DB-BD31-4B8C-83A1-F6EECF244321}">
                <p14:modId xmlns:p14="http://schemas.microsoft.com/office/powerpoint/2010/main" val="2328166875"/>
              </p:ext>
            </p:extLst>
          </p:nvPr>
        </p:nvGraphicFramePr>
        <p:xfrm>
          <a:off x="685800" y="1604772"/>
          <a:ext cx="8000999" cy="4536948"/>
        </p:xfrm>
        <a:graphic>
          <a:graphicData uri="http://schemas.openxmlformats.org/drawingml/2006/table">
            <a:tbl>
              <a:tblPr firstRow="1" firstCol="1" bandRow="1">
                <a:tableStyleId>{5C22544A-7EE6-4342-B048-85BDC9FD1C3A}</a:tableStyleId>
              </a:tblPr>
              <a:tblGrid>
                <a:gridCol w="3997470">
                  <a:extLst>
                    <a:ext uri="{9D8B030D-6E8A-4147-A177-3AD203B41FA5}">
                      <a16:colId xmlns:a16="http://schemas.microsoft.com/office/drawing/2014/main" val="20000"/>
                    </a:ext>
                  </a:extLst>
                </a:gridCol>
                <a:gridCol w="4003529">
                  <a:extLst>
                    <a:ext uri="{9D8B030D-6E8A-4147-A177-3AD203B41FA5}">
                      <a16:colId xmlns:a16="http://schemas.microsoft.com/office/drawing/2014/main" val="20001"/>
                    </a:ext>
                  </a:extLst>
                </a:gridCol>
              </a:tblGrid>
              <a:tr h="0">
                <a:tc>
                  <a:txBody>
                    <a:bodyPr/>
                    <a:lstStyle/>
                    <a:p>
                      <a:pPr>
                        <a:lnSpc>
                          <a:spcPct val="107000"/>
                        </a:lnSpc>
                        <a:spcAft>
                          <a:spcPts val="0"/>
                        </a:spcAft>
                      </a:pPr>
                      <a:r>
                        <a:rPr lang="en-US" sz="2000">
                          <a:effectLst/>
                        </a:rPr>
                        <a:t>Social media</a:t>
                      </a:r>
                      <a:endParaRPr lang="en-SG"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Branding, value creation and participation</a:t>
                      </a:r>
                      <a:endParaRPr lang="en-SG"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a:lnSpc>
                          <a:spcPct val="107000"/>
                        </a:lnSpc>
                        <a:spcAft>
                          <a:spcPts val="0"/>
                        </a:spcAft>
                      </a:pPr>
                      <a:r>
                        <a:rPr lang="en-US" sz="2000" dirty="0">
                          <a:effectLst/>
                        </a:rPr>
                        <a:t>Social media, also known as consumer-generated media, is media (in the form of text, visuals and audio) created to be shared. It has changed the face of marketing by allowing collaboration and connection in a way that no other channel has been able to offer.</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From a strategic perspective, social media is useful for brand building, raising awareness of the brand story and allowing the consumer to become involved in the story through collaboration. Social media platforms also play a role in building awareness, due to their shareable, viral nature. They can also provide crowd-sourced feedback and allow brands to share valuable content directly with their fans.</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56761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sz="2800" dirty="0">
                <a:solidFill>
                  <a:schemeClr val="accent6"/>
                </a:solidFill>
              </a:rPr>
              <a:t>Step 4 – Tactics and Evaluation</a:t>
            </a:r>
          </a:p>
        </p:txBody>
      </p:sp>
      <p:graphicFrame>
        <p:nvGraphicFramePr>
          <p:cNvPr id="4" name="Table 3"/>
          <p:cNvGraphicFramePr>
            <a:graphicFrameLocks noGrp="1"/>
          </p:cNvGraphicFramePr>
          <p:nvPr>
            <p:extLst>
              <p:ext uri="{D42A27DB-BD31-4B8C-83A1-F6EECF244321}">
                <p14:modId xmlns:p14="http://schemas.microsoft.com/office/powerpoint/2010/main" val="2194900732"/>
              </p:ext>
            </p:extLst>
          </p:nvPr>
        </p:nvGraphicFramePr>
        <p:xfrm>
          <a:off x="609600" y="1752600"/>
          <a:ext cx="7924800" cy="4863084"/>
        </p:xfrm>
        <a:graphic>
          <a:graphicData uri="http://schemas.openxmlformats.org/drawingml/2006/table">
            <a:tbl>
              <a:tblPr firstRow="1" firstCol="1" bandRow="1">
                <a:tableStyleId>{5C22544A-7EE6-4342-B048-85BDC9FD1C3A}</a:tableStyleId>
              </a:tblPr>
              <a:tblGrid>
                <a:gridCol w="3959399">
                  <a:extLst>
                    <a:ext uri="{9D8B030D-6E8A-4147-A177-3AD203B41FA5}">
                      <a16:colId xmlns:a16="http://schemas.microsoft.com/office/drawing/2014/main" val="20000"/>
                    </a:ext>
                  </a:extLst>
                </a:gridCol>
                <a:gridCol w="3965401">
                  <a:extLst>
                    <a:ext uri="{9D8B030D-6E8A-4147-A177-3AD203B41FA5}">
                      <a16:colId xmlns:a16="http://schemas.microsoft.com/office/drawing/2014/main" val="20001"/>
                    </a:ext>
                  </a:extLst>
                </a:gridCol>
              </a:tblGrid>
              <a:tr h="0">
                <a:tc>
                  <a:txBody>
                    <a:bodyPr/>
                    <a:lstStyle/>
                    <a:p>
                      <a:pPr>
                        <a:lnSpc>
                          <a:spcPct val="107000"/>
                        </a:lnSpc>
                        <a:spcAft>
                          <a:spcPts val="0"/>
                        </a:spcAft>
                      </a:pPr>
                      <a:r>
                        <a:rPr lang="en-US" sz="2000" dirty="0">
                          <a:effectLst/>
                        </a:rPr>
                        <a:t>Email marketing</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a:effectLst/>
                        </a:rPr>
                        <a:t>Customer retention and value creation</a:t>
                      </a:r>
                      <a:endParaRPr lang="en-SG"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a:lnSpc>
                          <a:spcPct val="107000"/>
                        </a:lnSpc>
                        <a:spcAft>
                          <a:spcPts val="0"/>
                        </a:spcAft>
                      </a:pPr>
                      <a:r>
                        <a:rPr lang="en-US" sz="2000" dirty="0">
                          <a:effectLst/>
                        </a:rPr>
                        <a:t>Email marketing is a form of direct marketing that delivers commercial and content-based messages to an audience. It is extremely cost effective, highly targeted, customizable on a mass scale and completely measurable – all of which make it one of the most powerful digital marketing tactics.</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2000" dirty="0">
                          <a:effectLst/>
                        </a:rPr>
                        <a:t>Email marketing is a tool for building relationships with potential and existing customers through valuable content and promotional messages. It should maximize the retention and value of these customers, ultimately leading to greater profitability for the </a:t>
                      </a:r>
                      <a:r>
                        <a:rPr lang="en-US" sz="2000" dirty="0" err="1">
                          <a:effectLst/>
                        </a:rPr>
                        <a:t>organisation</a:t>
                      </a:r>
                      <a:r>
                        <a:rPr lang="en-US" sz="2000" dirty="0">
                          <a:effectLst/>
                        </a:rPr>
                        <a:t> as a whole. A targeted, segmented email database means that a brand can direct messages at certain sectors of their customer base in order to achieve the best results.</a:t>
                      </a:r>
                      <a:endParaRPr lang="en-SG"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390781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5</a:t>
            </a:r>
          </a:p>
        </p:txBody>
      </p:sp>
      <p:sp>
        <p:nvSpPr>
          <p:cNvPr id="3" name="Content Placeholder 2"/>
          <p:cNvSpPr>
            <a:spLocks noGrp="1"/>
          </p:cNvSpPr>
          <p:nvPr>
            <p:ph idx="1"/>
          </p:nvPr>
        </p:nvSpPr>
        <p:spPr/>
        <p:txBody>
          <a:bodyPr/>
          <a:lstStyle/>
          <a:p>
            <a:r>
              <a:rPr lang="en-US" dirty="0"/>
              <a:t>You are working for a travel and tours company on digital marketing project. The boss of the company said “I want to increase bookings by our existing customers, so, you do digital marketing plan and present it to me.”</a:t>
            </a:r>
            <a:endParaRPr lang="en-SG" dirty="0"/>
          </a:p>
          <a:p>
            <a:pPr marL="0" indent="0">
              <a:buNone/>
            </a:pPr>
            <a:endParaRPr lang="en-SG" dirty="0"/>
          </a:p>
          <a:p>
            <a:r>
              <a:rPr lang="en-US" dirty="0"/>
              <a:t>With above scenario, list down your SMART objective, tactic(s), KPI(s) and target(s) for your plan.</a:t>
            </a:r>
          </a:p>
        </p:txBody>
      </p:sp>
    </p:spTree>
    <p:extLst>
      <p:ext uri="{BB962C8B-B14F-4D97-AF65-F5344CB8AC3E}">
        <p14:creationId xmlns:p14="http://schemas.microsoft.com/office/powerpoint/2010/main" val="992051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bg1">
                    <a:lumMod val="85000"/>
                  </a:schemeClr>
                </a:solidFill>
              </a:rPr>
              <a:t>Steps in Developing Digital Marketing Strategy</a:t>
            </a:r>
          </a:p>
        </p:txBody>
      </p:sp>
      <p:sp>
        <p:nvSpPr>
          <p:cNvPr id="3" name="Content Placeholder 2"/>
          <p:cNvSpPr>
            <a:spLocks noGrp="1"/>
          </p:cNvSpPr>
          <p:nvPr>
            <p:ph idx="1"/>
          </p:nvPr>
        </p:nvSpPr>
        <p:spPr/>
        <p:txBody>
          <a:bodyPr>
            <a:normAutofit/>
          </a:bodyPr>
          <a:lstStyle/>
          <a:p>
            <a:pPr marL="0" indent="0">
              <a:buNone/>
            </a:pPr>
            <a:r>
              <a:rPr lang="en-US" sz="2800" dirty="0">
                <a:solidFill>
                  <a:schemeClr val="accent6"/>
                </a:solidFill>
              </a:rPr>
              <a:t>Step 5 – Ongoing optimization</a:t>
            </a:r>
          </a:p>
          <a:p>
            <a:r>
              <a:rPr lang="en-US" sz="2800" dirty="0"/>
              <a:t>Measure and optimize your campaign</a:t>
            </a:r>
          </a:p>
          <a:p>
            <a:r>
              <a:rPr lang="en-US" sz="2800" dirty="0"/>
              <a:t>New tactics and platforms emerge every week</a:t>
            </a:r>
          </a:p>
          <a:p>
            <a:r>
              <a:rPr lang="en-US" sz="2800" dirty="0"/>
              <a:t>Constant change should be considered in the early stage of your strategy</a:t>
            </a:r>
          </a:p>
        </p:txBody>
      </p:sp>
    </p:spTree>
    <p:extLst>
      <p:ext uri="{BB962C8B-B14F-4D97-AF65-F5344CB8AC3E}">
        <p14:creationId xmlns:p14="http://schemas.microsoft.com/office/powerpoint/2010/main" val="1411822488"/>
      </p:ext>
    </p:extLst>
  </p:cSld>
  <p:clrMapOvr>
    <a:masterClrMapping/>
  </p:clrMapOvr>
</p:sld>
</file>

<file path=ppt/theme/theme1.xml><?xml version="1.0" encoding="utf-8"?>
<a:theme xmlns:a="http://schemas.openxmlformats.org/drawingml/2006/main" name="Coursewa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Courseware</Template>
  <TotalTime>3720</TotalTime>
  <Words>2724</Words>
  <Application>Microsoft Office PowerPoint</Application>
  <PresentationFormat>On-screen Show (4:3)</PresentationFormat>
  <Paragraphs>251</Paragraphs>
  <Slides>44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Courseware</vt:lpstr>
      <vt:lpstr>Digital Marketing Essentials</vt:lpstr>
      <vt:lpstr>Learning Objectives</vt:lpstr>
      <vt:lpstr>Digital Marketing</vt:lpstr>
      <vt:lpstr>What is Digital Marketing?</vt:lpstr>
      <vt:lpstr>Activity 2</vt:lpstr>
      <vt:lpstr>What is Digital Marketing?</vt:lpstr>
      <vt:lpstr>Activity 3</vt:lpstr>
      <vt:lpstr>Understanding Marketing Strategy</vt:lpstr>
      <vt:lpstr>Marketing Strategy</vt:lpstr>
      <vt:lpstr>Marketing Strategy</vt:lpstr>
      <vt:lpstr>Marketing Strategy</vt:lpstr>
      <vt:lpstr>Marketing Strategy</vt:lpstr>
      <vt:lpstr>Marketing Strategy</vt:lpstr>
      <vt:lpstr>Marketing Strategy</vt:lpstr>
      <vt:lpstr>Digital Marketing Strategy</vt:lpstr>
      <vt:lpstr>Building Blocks of Marketing Strategy</vt:lpstr>
      <vt:lpstr>Building Blocks of Marketing Strategy</vt:lpstr>
      <vt:lpstr>Building Blocks of Marketing Strategy</vt:lpstr>
      <vt:lpstr>Building Blocks of Marketing Strategy</vt:lpstr>
      <vt:lpstr>Building Blocks of Marketing Strategy</vt:lpstr>
      <vt:lpstr>Building Blocks of Marketing Strategy</vt:lpstr>
      <vt:lpstr>Building Blocks of Marketing Strategy</vt:lpstr>
      <vt:lpstr>Building Blocks of Marketing Strategy</vt:lpstr>
      <vt:lpstr>Crafting a digital marketing strategy</vt:lpstr>
      <vt:lpstr>Steps in Developing Digital Marketing Strategy</vt:lpstr>
      <vt:lpstr>Steps in Developing Digital Marketing Strategy</vt:lpstr>
      <vt:lpstr>Steps in Developing Digital Marketing Strategy</vt:lpstr>
      <vt:lpstr>Steps in Developing Digital Marketing Strategy</vt:lpstr>
      <vt:lpstr>Activity 4</vt:lpstr>
      <vt:lpstr>Steps in Developing Digital Marketing Strategy</vt:lpstr>
      <vt:lpstr>Steps in Developing Digital Marketing Strategy</vt:lpstr>
      <vt:lpstr>Steps in Developing Digital Marketing Strategy</vt:lpstr>
      <vt:lpstr>Steps in Developing Digital Marketing Strategy</vt:lpstr>
      <vt:lpstr>Steps in Developing Digital Marketing Strategy</vt:lpstr>
      <vt:lpstr>Steps in Developing Digital Marketing Strategy</vt:lpstr>
      <vt:lpstr>Steps in Developing Digital Marketing Strategy</vt:lpstr>
      <vt:lpstr>Steps in Developing Digital Marketing Strategy</vt:lpstr>
      <vt:lpstr>Steps in Developing Digital Marketing Strategy</vt:lpstr>
      <vt:lpstr>Steps in Developing Digital Marketing Strategy</vt:lpstr>
      <vt:lpstr>Steps in Developing Digital Marketing Strategy</vt:lpstr>
      <vt:lpstr>Steps in Developing Digital Marketing Strategy</vt:lpstr>
      <vt:lpstr>Steps in Developing Digital Marketing Strategy</vt:lpstr>
      <vt:lpstr>Activity 5</vt:lpstr>
      <vt:lpstr>Steps in Developing Digital Marketing Strategy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Digital Marketing</dc:title>
  <dc:creator>Tony Toe</dc:creator>
  <cp:lastModifiedBy>Marie Chris Soque</cp:lastModifiedBy>
  <cp:revision>188</cp:revision>
  <dcterms:created xsi:type="dcterms:W3CDTF">2015-05-11T10:12:52Z</dcterms:created>
  <dcterms:modified xsi:type="dcterms:W3CDTF">2026-06-04T13:00:53Z</dcterms:modified>
</cp:coreProperties>
</file>