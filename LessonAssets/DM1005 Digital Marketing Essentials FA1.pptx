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9" r:id="rId2"/>
    <p:sldId id="352" r:id="rId3"/>
    <p:sldId id="354" r:id="rId4"/>
    <p:sldId id="353" r:id="rId5"/>
    <p:sldId id="355" r:id="rId6"/>
    <p:sldId id="356" r:id="rId7"/>
    <p:sldId id="358" r:id="rId8"/>
    <p:sldId id="359" r:id="rId9"/>
    <p:sldId id="360" r:id="rId10"/>
    <p:sldId id="361" r:id="rId11"/>
    <p:sldId id="362" r:id="rId12"/>
    <p:sldId id="377" r:id="rId13"/>
    <p:sldId id="378" r:id="rId14"/>
    <p:sldId id="363" r:id="rId15"/>
    <p:sldId id="368" r:id="rId16"/>
    <p:sldId id="364" r:id="rId17"/>
    <p:sldId id="365" r:id="rId18"/>
    <p:sldId id="366" r:id="rId19"/>
    <p:sldId id="367" r:id="rId20"/>
    <p:sldId id="369" r:id="rId21"/>
    <p:sldId id="370" r:id="rId22"/>
    <p:sldId id="375" r:id="rId23"/>
    <p:sldId id="376" r:id="rId24"/>
    <p:sldId id="381" r:id="rId25"/>
    <p:sldId id="382" r:id="rId26"/>
    <p:sldId id="371" r:id="rId27"/>
    <p:sldId id="373" r:id="rId28"/>
    <p:sldId id="372" r:id="rId29"/>
    <p:sldId id="374" r:id="rId30"/>
    <p:sldId id="379" r:id="rId31"/>
    <p:sldId id="380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5" autoAdjust="0"/>
    <p:restoredTop sz="94660"/>
  </p:normalViewPr>
  <p:slideViewPr>
    <p:cSldViewPr snapToGrid="0">
      <p:cViewPr varScale="1">
        <p:scale>
          <a:sx n="63" d="100"/>
          <a:sy n="63" d="100"/>
        </p:scale>
        <p:origin x="6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9933D-76A3-4713-BA17-0ACC5F61C70A}" type="datetimeFigureOut">
              <a:rPr lang="en-SG" smtClean="0"/>
              <a:t>11/6/2026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B8D8D-F2A5-47A4-8DF0-653802A2F3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82614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1447-B444-43F2-8A34-98132DC1DF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4CD788-F5A3-4B0E-82BA-20FE133FD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F5B45-3AD3-44F8-9D20-193D07010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11/6/2026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B1800-E834-4A71-8E48-403701734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E7BA7-2F2E-4BAB-A9DF-8B72384EE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5AC3CB-FC01-4B16-A955-28BD71ED9F43}"/>
              </a:ext>
            </a:extLst>
          </p:cNvPr>
          <p:cNvCxnSpPr/>
          <p:nvPr userDrawn="1"/>
        </p:nvCxnSpPr>
        <p:spPr>
          <a:xfrm>
            <a:off x="11968120" y="-1"/>
            <a:ext cx="0" cy="6858001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806B02D-6E28-4CA2-A598-3992331417F2}"/>
              </a:ext>
            </a:extLst>
          </p:cNvPr>
          <p:cNvSpPr/>
          <p:nvPr userDrawn="1"/>
        </p:nvSpPr>
        <p:spPr>
          <a:xfrm rot="16200000">
            <a:off x="8708043" y="3359882"/>
            <a:ext cx="6858000" cy="138235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12" name="Picture 11" descr="A picture containing clipart&#10;&#10;Description automatically generated">
            <a:extLst>
              <a:ext uri="{FF2B5EF4-FFF2-40B4-BE49-F238E27FC236}">
                <a16:creationId xmlns:a16="http://schemas.microsoft.com/office/drawing/2014/main" id="{D67A5063-F5F0-4E17-9B04-31DD5E5398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3459" y="136525"/>
            <a:ext cx="1364857" cy="73789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A0CB65-A850-98EA-80AB-E55152CC042D}"/>
              </a:ext>
            </a:extLst>
          </p:cNvPr>
          <p:cNvSpPr/>
          <p:nvPr userDrawn="1"/>
        </p:nvSpPr>
        <p:spPr>
          <a:xfrm rot="16200000">
            <a:off x="-3149825" y="3149825"/>
            <a:ext cx="6858000" cy="55835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DM1005: Digital Marketing Essentials</a:t>
            </a:r>
          </a:p>
        </p:txBody>
      </p:sp>
    </p:spTree>
    <p:extLst>
      <p:ext uri="{BB962C8B-B14F-4D97-AF65-F5344CB8AC3E}">
        <p14:creationId xmlns:p14="http://schemas.microsoft.com/office/powerpoint/2010/main" val="3376594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4B487-4B8D-49A9-8575-6AC3A18C2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D7219-D296-48DE-B18E-BF594AFA1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40184-BACC-4792-A4D6-566AB6683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11/6/2026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3E331-50B5-4DF3-8C16-6E997FD47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BA7F0-6146-412C-A9DA-8FDD776CC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73F560-53E8-44BC-9DA6-264598EBB9A2}"/>
              </a:ext>
            </a:extLst>
          </p:cNvPr>
          <p:cNvCxnSpPr/>
          <p:nvPr userDrawn="1"/>
        </p:nvCxnSpPr>
        <p:spPr>
          <a:xfrm>
            <a:off x="11968120" y="-1"/>
            <a:ext cx="0" cy="6858001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F418F93-90E8-45FD-8BCB-10503F7AB85E}"/>
              </a:ext>
            </a:extLst>
          </p:cNvPr>
          <p:cNvSpPr/>
          <p:nvPr userDrawn="1"/>
        </p:nvSpPr>
        <p:spPr>
          <a:xfrm rot="16200000">
            <a:off x="8708043" y="3359882"/>
            <a:ext cx="6858000" cy="138235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12" name="Picture 11" descr="A picture containing clipart&#10;&#10;Description automatically generated">
            <a:extLst>
              <a:ext uri="{FF2B5EF4-FFF2-40B4-BE49-F238E27FC236}">
                <a16:creationId xmlns:a16="http://schemas.microsoft.com/office/drawing/2014/main" id="{E5E6404B-CF19-4AB8-9483-677E4EEE8D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3459" y="136525"/>
            <a:ext cx="1364857" cy="73789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696B559-D481-F72B-F0AE-E662796769D2}"/>
              </a:ext>
            </a:extLst>
          </p:cNvPr>
          <p:cNvSpPr/>
          <p:nvPr userDrawn="1"/>
        </p:nvSpPr>
        <p:spPr>
          <a:xfrm rot="16200000">
            <a:off x="-3149825" y="3149825"/>
            <a:ext cx="6858000" cy="55835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DM1005: Digital Marketing Essentials</a:t>
            </a:r>
          </a:p>
        </p:txBody>
      </p:sp>
    </p:spTree>
    <p:extLst>
      <p:ext uri="{BB962C8B-B14F-4D97-AF65-F5344CB8AC3E}">
        <p14:creationId xmlns:p14="http://schemas.microsoft.com/office/powerpoint/2010/main" val="255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485DE-BB38-4E44-888F-48814BF00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C9B50-38D2-454E-8097-D70E24E45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A6819-75AA-4A3F-948B-028820A95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11/6/2026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C1A4A-AF03-450B-AD38-B477F1066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55ABD-AF51-4647-8FA3-E340481ED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18736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7A4A-957C-41A9-BE31-6D1B6FF1C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CE808-E60C-4E5A-873C-F9609D8BD7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F0EE9D-59D5-480F-A286-46042DF58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8D38E-499E-4C14-9ED4-2E06586FC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11/6/2026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72310-4C55-4AE1-9C76-BECAD983E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075886-47C7-4251-9EEA-2123E113B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58134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733F-638B-434C-BF67-6B16A4504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6F2B5-5B3D-4CE3-AC67-A3DD53931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8CA23-6F63-4D05-8887-9B9CBEE6F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8E8A94-387D-40D4-9E69-4219F3417A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54DA84-F08A-4892-95CE-A0AC8D6BC9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77C99E-797D-4811-B63F-0429F70EE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11/6/2026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750CEE-B2EF-4F99-B896-DB732E77B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FF745A-65EC-4BBE-AD47-73CAC76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9006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61067-ADF9-4E36-B131-80F716AD3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E715DA-4EA0-4D0C-A7B1-75AFA4A38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11/6/2026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228E58-6F09-4B44-B8C9-69E45557B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DA3E0-100C-4DB4-AD03-05F92985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45631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F7DA86-BA46-4A94-8030-50BDD53EE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11/6/2026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074C45-BB22-4C8F-A26F-C1EE854E6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D6BE8-06C1-440A-B72F-6C629F6BF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00212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CD596-A316-42CB-8EBA-E289BDC54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EB968-F3A1-42E8-A8E4-FB4C96C85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F77055-738F-46AB-9126-EF45B09C1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447E6-8CA0-45CB-ABE3-54EA36544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11/6/2026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3B57A-D30B-4DA3-B95B-DCC500654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9A50B-8E51-4645-BE3C-1DEFC177F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24755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73606-95D2-461E-ADAD-836665DF2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EA5F61-B4E3-4F3B-902F-13D04B757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57F163-4B1B-4953-B1B7-C3E889662A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1455C-8DDC-4E8E-A83C-A72DB3587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11/6/2026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71FB97-AD0C-4A5B-9CAE-34C733B92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FBF65-B6AE-4D61-9FD4-3D0B919BC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3805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CBDE3-9398-4121-815A-62743BE6C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8A5190-EBC8-4DA8-9B67-B67D5E154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1FE5C-D662-422F-8382-2EE4E0464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11/6/2026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DB556-D37D-434D-9628-C9BAE6DB3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BEF01-B45B-4E54-B05B-0C8CBB7C6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58773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802E40-32E7-44A9-8BF4-32FAA9B0E5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28C05C-1D3E-4B3B-B223-73852A065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8AB1E-D84D-4F78-8205-57C5D2DD9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11/6/2026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2A0C2-0682-47E6-8D2C-F7BE53C4C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952B5-E37F-43A3-ABCA-B9AC2F22D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0388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4A05A8-9416-4EBF-A6D3-BA5F7EB9B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107F0-23DF-474F-A9D0-3A4FBBE41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78A3E-85E8-40F5-8B21-FBF4E3855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CCEB45-63C5-425B-8D13-3F29452E1276}" type="datetimeFigureOut">
              <a:rPr lang="en-SG" smtClean="0"/>
              <a:t>11/6/2026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8D8C3-7CC6-4473-8575-91E3FF4FD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EEC86-BE78-4779-ABFD-99BC06C523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82186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FCE3D-499A-49AB-ADD8-785D0A08B3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10588"/>
            <a:ext cx="9144000" cy="2387600"/>
          </a:xfrm>
        </p:spPr>
        <p:txBody>
          <a:bodyPr>
            <a:normAutofit/>
          </a:bodyPr>
          <a:lstStyle/>
          <a:p>
            <a:r>
              <a:rPr lang="en-US" b="1" dirty="0"/>
              <a:t>DM1005 – Digital Marketing Essentials</a:t>
            </a:r>
            <a:endParaRPr lang="en-SG" b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CE6FD10-A894-4A74-B2A3-FB6AAED31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67012"/>
              </p:ext>
            </p:extLst>
          </p:nvPr>
        </p:nvGraphicFramePr>
        <p:xfrm>
          <a:off x="1313542" y="3263318"/>
          <a:ext cx="9929845" cy="1057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9845">
                  <a:extLst>
                    <a:ext uri="{9D8B030D-6E8A-4147-A177-3AD203B41FA5}">
                      <a16:colId xmlns:a16="http://schemas.microsoft.com/office/drawing/2014/main" val="2563540020"/>
                    </a:ext>
                  </a:extLst>
                </a:gridCol>
              </a:tblGrid>
              <a:tr h="1057012">
                <a:tc>
                  <a:txBody>
                    <a:bodyPr/>
                    <a:lstStyle/>
                    <a:p>
                      <a:pPr algn="ctr"/>
                      <a:r>
                        <a:rPr lang="en-SG" sz="3600" b="0" dirty="0"/>
                        <a:t>First Formative Assessment (3 Hours and 10 Mins)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198376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C499F40-ED94-4A54-A6C0-2660AE997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765837"/>
              </p:ext>
            </p:extLst>
          </p:nvPr>
        </p:nvGraphicFramePr>
        <p:xfrm>
          <a:off x="1313541" y="4657740"/>
          <a:ext cx="992984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4883">
                  <a:extLst>
                    <a:ext uri="{9D8B030D-6E8A-4147-A177-3AD203B41FA5}">
                      <a16:colId xmlns:a16="http://schemas.microsoft.com/office/drawing/2014/main" val="776233894"/>
                    </a:ext>
                  </a:extLst>
                </a:gridCol>
                <a:gridCol w="3554963">
                  <a:extLst>
                    <a:ext uri="{9D8B030D-6E8A-4147-A177-3AD203B41FA5}">
                      <a16:colId xmlns:a16="http://schemas.microsoft.com/office/drawing/2014/main" val="34218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SG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Learner Name: </a:t>
                      </a:r>
                    </a:p>
                    <a:p>
                      <a:endParaRPr lang="en-SG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Learner NRIC / FIN No.: [last 3 digits and letter]</a:t>
                      </a:r>
                    </a:p>
                    <a:p>
                      <a:endParaRPr lang="en-SG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Date: June 12, 2026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501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372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D5739-AAC4-9E93-92C2-2BBCF45B7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>
                <a:solidFill>
                  <a:srgbClr val="FF0000"/>
                </a:solidFill>
              </a:rPr>
              <a:t>Important : Read the Instructions Carefully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FEB56-795B-AE26-7557-0B76D20DA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157"/>
            <a:ext cx="10515600" cy="4602806"/>
          </a:xfrm>
        </p:spPr>
        <p:txBody>
          <a:bodyPr>
            <a:normAutofit/>
          </a:bodyPr>
          <a:lstStyle/>
          <a:p>
            <a:r>
              <a:rPr lang="en-SG" dirty="0"/>
              <a:t>Each question may need you to write the answers in the slide or take a screenshot and paste in the slide.  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endParaRPr lang="en-SG" dirty="0"/>
          </a:p>
          <a:p>
            <a:r>
              <a:rPr lang="en-SG" dirty="0"/>
              <a:t>Don’t forget to review each answer and/or screenshot before submission.</a:t>
            </a:r>
          </a:p>
          <a:p>
            <a:endParaRPr lang="en-SG" dirty="0"/>
          </a:p>
          <a:p>
            <a:endParaRPr lang="en-SG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374148-048D-0B86-C451-01FE10ADE953}"/>
              </a:ext>
            </a:extLst>
          </p:cNvPr>
          <p:cNvGrpSpPr/>
          <p:nvPr/>
        </p:nvGrpSpPr>
        <p:grpSpPr>
          <a:xfrm>
            <a:off x="1148843" y="2614620"/>
            <a:ext cx="6512004" cy="1628760"/>
            <a:chOff x="1264590" y="4218915"/>
            <a:chExt cx="5505325" cy="162876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164AF81-8B6A-F866-B722-03D75D2FE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4590" y="4218915"/>
              <a:ext cx="653143" cy="6531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033A8F8-BEE8-11B7-82BE-B4FC7C356567}"/>
                </a:ext>
              </a:extLst>
            </p:cNvPr>
            <p:cNvSpPr txBox="1"/>
            <p:nvPr/>
          </p:nvSpPr>
          <p:spPr>
            <a:xfrm>
              <a:off x="2344123" y="4311940"/>
              <a:ext cx="40147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Question for you to type in the answer.</a:t>
              </a:r>
              <a:endParaRPr lang="en-SG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BD868C6-14C9-CE13-412C-070ACF5297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441" t="21126" r="5209" b="8571"/>
            <a:stretch/>
          </p:blipFill>
          <p:spPr>
            <a:xfrm>
              <a:off x="1264590" y="5267557"/>
              <a:ext cx="653142" cy="513906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B258FCB-9C6E-818D-E03A-F4019558BB5E}"/>
                </a:ext>
              </a:extLst>
            </p:cNvPr>
            <p:cNvSpPr txBox="1"/>
            <p:nvPr/>
          </p:nvSpPr>
          <p:spPr>
            <a:xfrm>
              <a:off x="2344122" y="5201344"/>
              <a:ext cx="44257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Question for you to perform a task and screenshot your result and paste it in your Portfolio Slide.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2848101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05E9A-1B94-5BD7-A7F0-0BBD9D6F0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97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SG" sz="5300" dirty="0"/>
              <a:t>Part I. Multiple Choice Questions (MCQ)</a:t>
            </a:r>
            <a:br>
              <a:rPr lang="en-SG" dirty="0"/>
            </a:br>
            <a:br>
              <a:rPr lang="en-SG" dirty="0"/>
            </a:br>
            <a:r>
              <a:rPr lang="en-SG" sz="3600" dirty="0"/>
              <a:t>Underline the letter of the correct answer</a:t>
            </a:r>
            <a:br>
              <a:rPr lang="en-SG" sz="3600" dirty="0"/>
            </a:br>
            <a:br>
              <a:rPr lang="en-SG" sz="3600" dirty="0"/>
            </a:br>
            <a:r>
              <a:rPr lang="en-SG" sz="3600" dirty="0"/>
              <a:t>2 Marks each Question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68355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79AED-718D-6F88-E1EA-43B71A4F9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/>
              <a:t>Question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E4E32-A56D-616F-FFFD-D28BE546A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sz="3200" b="1" dirty="0"/>
              <a:t>Which category of digital marketing includes channels that a business has complete control over, such as its own website or email list?</a:t>
            </a:r>
          </a:p>
          <a:p>
            <a:pPr marL="514350" indent="-514350">
              <a:buAutoNum type="alphaUcPeriod"/>
            </a:pPr>
            <a:r>
              <a:rPr lang="en-SG" sz="3200" dirty="0"/>
              <a:t>Owned Media</a:t>
            </a:r>
          </a:p>
          <a:p>
            <a:pPr marL="514350" indent="-514350">
              <a:buAutoNum type="alphaUcPeriod"/>
            </a:pPr>
            <a:r>
              <a:rPr lang="en-SG" sz="3200" dirty="0"/>
              <a:t>Paid Media</a:t>
            </a:r>
          </a:p>
          <a:p>
            <a:pPr marL="514350" indent="-514350">
              <a:buAutoNum type="alphaUcPeriod"/>
            </a:pPr>
            <a:r>
              <a:rPr lang="en-SG" sz="3200" dirty="0"/>
              <a:t>Organic Media</a:t>
            </a:r>
          </a:p>
          <a:p>
            <a:pPr marL="514350" indent="-514350">
              <a:buAutoNum type="alphaUcPeriod"/>
            </a:pPr>
            <a:r>
              <a:rPr lang="en-SG" sz="3200" dirty="0"/>
              <a:t>Earned Medi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85631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4E50B-5665-BFF1-87F7-B81BA53F3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7D363-196D-451E-29DF-F8E6B1D68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/>
              <a:t>Question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DA77E-A13A-B1F7-269F-C3F3DB42E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b="1" dirty="0"/>
              <a:t>In the comparison between digital and traditional marketing, which attribute is considered a primary strength of traditional channels like TV and print?</a:t>
            </a:r>
          </a:p>
          <a:p>
            <a:pPr marL="514350" indent="-514350">
              <a:buAutoNum type="alphaUcPeriod"/>
            </a:pPr>
            <a:r>
              <a:rPr lang="en-SG" sz="3200" dirty="0"/>
              <a:t>Established trust and credibility</a:t>
            </a:r>
          </a:p>
          <a:p>
            <a:pPr marL="514350" indent="-514350">
              <a:buAutoNum type="alphaUcPeriod"/>
            </a:pPr>
            <a:r>
              <a:rPr lang="en-SG" sz="3200" dirty="0"/>
              <a:t>Real-time measurability</a:t>
            </a:r>
          </a:p>
          <a:p>
            <a:pPr marL="514350" indent="-514350">
              <a:buAutoNum type="alphaUcPeriod"/>
            </a:pPr>
            <a:r>
              <a:rPr lang="en-SG" sz="3200" dirty="0"/>
              <a:t>Hyper-targeting capabilities</a:t>
            </a:r>
          </a:p>
          <a:p>
            <a:pPr marL="514350" indent="-514350">
              <a:buAutoNum type="alphaUcPeriod"/>
            </a:pPr>
            <a:r>
              <a:rPr lang="en-SG" sz="3200" dirty="0"/>
              <a:t>Low fixed entry cost </a:t>
            </a:r>
          </a:p>
          <a:p>
            <a:pPr marL="514350" indent="-514350">
              <a:buAutoNum type="alphaUcPeriod"/>
            </a:pPr>
            <a:endParaRPr lang="en-SG" sz="3200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76644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98BBB-131D-BFFC-ED84-7417039E7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55B15-DCB2-67BC-4052-CDA43F705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/>
              <a:t>Question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BE8EE-CC18-7BF7-6D02-52D25880D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b="1" dirty="0"/>
              <a:t>Which digital marketing component is cited as having an exceptionally high average return on investment (ROI) of approximately £42 for every £1 spent?</a:t>
            </a:r>
          </a:p>
          <a:p>
            <a:pPr marL="514350" indent="-514350">
              <a:buAutoNum type="alphaUcPeriod"/>
            </a:pPr>
            <a:r>
              <a:rPr lang="en-SG" sz="3200" dirty="0"/>
              <a:t>Pay-per-Click (PPC)</a:t>
            </a:r>
          </a:p>
          <a:p>
            <a:pPr marL="514350" indent="-514350">
              <a:buAutoNum type="alphaUcPeriod"/>
            </a:pPr>
            <a:r>
              <a:rPr lang="en-SG" sz="3200" dirty="0"/>
              <a:t>Social Media Marketing (SMM)</a:t>
            </a:r>
          </a:p>
          <a:p>
            <a:pPr marL="514350" indent="-514350">
              <a:buAutoNum type="alphaUcPeriod"/>
            </a:pPr>
            <a:r>
              <a:rPr lang="en-SG" sz="3200" dirty="0"/>
              <a:t>E-mail Marketing</a:t>
            </a:r>
          </a:p>
          <a:p>
            <a:pPr marL="514350" indent="-514350">
              <a:buAutoNum type="alphaUcPeriod"/>
            </a:pPr>
            <a:r>
              <a:rPr lang="en-SG" sz="3200" dirty="0"/>
              <a:t>Search Engine Optimization (SEO)</a:t>
            </a:r>
          </a:p>
          <a:p>
            <a:pPr marL="514350" indent="-514350">
              <a:buAutoNum type="alphaUcPeriod"/>
            </a:pPr>
            <a:endParaRPr lang="en-SG" sz="3200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4897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E6264-9E18-0433-ABEA-59DFC6AF1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BC734-DF3B-CC54-1230-851E7A5AB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/>
              <a:t>Question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5B6C6-DB15-5754-364F-130109D86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b="1" dirty="0"/>
              <a:t>A business wants to increase its 'Brand Awareness'. Which of the following Key Performance Indicators (KPIs) would be most relevant to this goal?</a:t>
            </a:r>
          </a:p>
          <a:p>
            <a:pPr marL="514350" indent="-514350">
              <a:buAutoNum type="alphaUcPeriod"/>
            </a:pPr>
            <a:r>
              <a:rPr lang="en-SG" sz="3200" dirty="0"/>
              <a:t>Cost-Per-Lead (CPL)</a:t>
            </a:r>
          </a:p>
          <a:p>
            <a:pPr marL="514350" indent="-514350">
              <a:buAutoNum type="alphaUcPeriod"/>
            </a:pPr>
            <a:r>
              <a:rPr lang="en-SG" sz="3200" dirty="0"/>
              <a:t>Ad Impressions</a:t>
            </a:r>
          </a:p>
          <a:p>
            <a:pPr marL="514350" indent="-514350">
              <a:buAutoNum type="alphaUcPeriod"/>
            </a:pPr>
            <a:r>
              <a:rPr lang="en-SG" sz="3200" dirty="0"/>
              <a:t>Customer Lifetime Value </a:t>
            </a:r>
          </a:p>
          <a:p>
            <a:pPr marL="514350" indent="-514350">
              <a:buAutoNum type="alphaUcPeriod"/>
            </a:pPr>
            <a:r>
              <a:rPr lang="en-SG" sz="3200" dirty="0"/>
              <a:t>Repeat Purchase Rate </a:t>
            </a:r>
          </a:p>
          <a:p>
            <a:pPr marL="514350" indent="-514350">
              <a:buAutoNum type="alphaUcPeriod"/>
            </a:pPr>
            <a:endParaRPr lang="en-SG" sz="3200" dirty="0"/>
          </a:p>
          <a:p>
            <a:pPr marL="514350" indent="-514350">
              <a:buAutoNum type="alphaUcPeriod"/>
            </a:pPr>
            <a:endParaRPr lang="en-SG" sz="3200" dirty="0"/>
          </a:p>
          <a:p>
            <a:pPr marL="514350" indent="-514350">
              <a:buAutoNum type="alphaUcPeriod"/>
            </a:pPr>
            <a:endParaRPr lang="en-SG" sz="3200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48216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BD3F-040C-6C0B-85DE-807F96C7B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9E5CD-6CA3-D8E6-2FD0-54961DE47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/>
              <a:t>Question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CC34C-6838-5D0F-16C7-1832D376D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b="1" dirty="0"/>
              <a:t>According to the channel selection principles, what is the recommended starting point for a business with a limited budget?</a:t>
            </a:r>
          </a:p>
          <a:p>
            <a:pPr marL="514350" indent="-514350">
              <a:buAutoNum type="alphaUcPeriod"/>
            </a:pPr>
            <a:r>
              <a:rPr lang="en-SG" sz="3200" dirty="0"/>
              <a:t>Programmatic Ads + SMS Marketing</a:t>
            </a:r>
          </a:p>
          <a:p>
            <a:pPr marL="514350" indent="-514350">
              <a:buAutoNum type="alphaUcPeriod"/>
            </a:pPr>
            <a:r>
              <a:rPr lang="en-SG" sz="3200" dirty="0"/>
              <a:t>SEO + Email + Organic Social</a:t>
            </a:r>
          </a:p>
          <a:p>
            <a:pPr marL="514350" indent="-514350">
              <a:buAutoNum type="alphaUcPeriod"/>
            </a:pPr>
            <a:r>
              <a:rPr lang="en-SG" sz="3200" dirty="0"/>
              <a:t>Video Marketing + Podcasts</a:t>
            </a:r>
          </a:p>
          <a:p>
            <a:pPr marL="514350" indent="-514350">
              <a:buAutoNum type="alphaUcPeriod"/>
            </a:pPr>
            <a:r>
              <a:rPr lang="en-SG" sz="3200" dirty="0"/>
              <a:t>PPC + Display Ads + </a:t>
            </a:r>
            <a:r>
              <a:rPr lang="en-SG" sz="3200" dirty="0" err="1"/>
              <a:t>Influncers</a:t>
            </a:r>
            <a:endParaRPr lang="en-SG" sz="3200" dirty="0"/>
          </a:p>
          <a:p>
            <a:pPr marL="514350" indent="-514350">
              <a:buAutoNum type="alphaUcPeriod"/>
            </a:pPr>
            <a:endParaRPr lang="en-SG" sz="3200" dirty="0"/>
          </a:p>
          <a:p>
            <a:pPr marL="514350" indent="-514350">
              <a:buAutoNum type="alphaUcPeriod"/>
            </a:pPr>
            <a:endParaRPr lang="en-SG" sz="3200" dirty="0"/>
          </a:p>
          <a:p>
            <a:pPr marL="514350" indent="-514350">
              <a:buAutoNum type="alphaUcPeriod"/>
            </a:pPr>
            <a:endParaRPr lang="en-SG" sz="3200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99544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6A909-AC9C-5110-9B10-DA2A50895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93325-6A5F-806F-AC22-A97BC36F4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/>
              <a:t>Question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B4151-D4AA-E5E8-233B-C4644A9FC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b="1" dirty="0"/>
              <a:t>When defining a target audience, which dimension involves researching a customer's values, beliefs, and aspirations?</a:t>
            </a:r>
          </a:p>
          <a:p>
            <a:pPr marL="514350" indent="-514350">
              <a:buAutoNum type="alphaUcPeriod"/>
            </a:pPr>
            <a:r>
              <a:rPr lang="en-SG" sz="3200" dirty="0"/>
              <a:t>Demographics</a:t>
            </a:r>
          </a:p>
          <a:p>
            <a:pPr marL="514350" indent="-514350">
              <a:buAutoNum type="alphaUcPeriod"/>
            </a:pPr>
            <a:r>
              <a:rPr lang="en-SG" sz="3200" dirty="0"/>
              <a:t>Psychographics</a:t>
            </a:r>
          </a:p>
          <a:p>
            <a:pPr marL="514350" indent="-514350">
              <a:buAutoNum type="alphaUcPeriod"/>
            </a:pPr>
            <a:r>
              <a:rPr lang="en-SG" sz="3200" dirty="0"/>
              <a:t>Geographics</a:t>
            </a:r>
          </a:p>
          <a:p>
            <a:pPr marL="514350" indent="-514350">
              <a:buAutoNum type="alphaUcPeriod"/>
            </a:pPr>
            <a:r>
              <a:rPr lang="en-SG" sz="3200" dirty="0"/>
              <a:t>Behavioral</a:t>
            </a:r>
          </a:p>
          <a:p>
            <a:pPr marL="514350" indent="-514350">
              <a:buAutoNum type="alphaUcPeriod"/>
            </a:pPr>
            <a:endParaRPr lang="en-SG" sz="3200" dirty="0"/>
          </a:p>
          <a:p>
            <a:pPr marL="514350" indent="-514350">
              <a:buAutoNum type="alphaUcPeriod"/>
            </a:pPr>
            <a:endParaRPr lang="en-SG" sz="3200" dirty="0"/>
          </a:p>
          <a:p>
            <a:pPr marL="514350" indent="-514350">
              <a:buAutoNum type="alphaUcPeriod"/>
            </a:pPr>
            <a:endParaRPr lang="en-SG" sz="3200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63929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B5AE0-4999-2CA7-9514-100DFFFCB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B3AB0-1662-52DE-96EE-6F4992FE8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/>
              <a:t>Question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37BE4-A41C-1E81-8FC4-5239ACDFB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b="1" dirty="0"/>
              <a:t>In the customer funnel, at which stage would 'Comparison Guides' and 'Webinars' be most effective for moving a prospect forward?</a:t>
            </a:r>
          </a:p>
          <a:p>
            <a:pPr marL="514350" indent="-514350">
              <a:buAutoNum type="alphaUcPeriod"/>
            </a:pPr>
            <a:r>
              <a:rPr lang="en-SG" sz="3200" dirty="0"/>
              <a:t>Awareness</a:t>
            </a:r>
          </a:p>
          <a:p>
            <a:pPr marL="514350" indent="-514350">
              <a:buAutoNum type="alphaUcPeriod"/>
            </a:pPr>
            <a:r>
              <a:rPr lang="en-SG" sz="3200" dirty="0"/>
              <a:t>Considerations</a:t>
            </a:r>
          </a:p>
          <a:p>
            <a:pPr marL="514350" indent="-514350">
              <a:buAutoNum type="alphaUcPeriod"/>
            </a:pPr>
            <a:r>
              <a:rPr lang="en-SG" sz="3200" dirty="0"/>
              <a:t>Conversions</a:t>
            </a:r>
          </a:p>
          <a:p>
            <a:pPr marL="514350" indent="-514350">
              <a:buAutoNum type="alphaUcPeriod"/>
            </a:pPr>
            <a:r>
              <a:rPr lang="en-SG" sz="3200" dirty="0"/>
              <a:t>Advocacy </a:t>
            </a:r>
          </a:p>
          <a:p>
            <a:pPr marL="514350" indent="-514350">
              <a:buAutoNum type="alphaUcPeriod"/>
            </a:pPr>
            <a:endParaRPr lang="en-SG" sz="3200" dirty="0"/>
          </a:p>
          <a:p>
            <a:pPr marL="514350" indent="-514350">
              <a:buAutoNum type="alphaUcPeriod"/>
            </a:pPr>
            <a:endParaRPr lang="en-SG" sz="3200" dirty="0"/>
          </a:p>
          <a:p>
            <a:pPr marL="514350" indent="-514350">
              <a:buAutoNum type="alphaUcPeriod"/>
            </a:pPr>
            <a:endParaRPr lang="en-SG" sz="3200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80908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5BB66-3370-A6C4-3416-0579E865C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8866D-694F-16FF-2B1D-2364FC90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/>
              <a:t>Question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B36DA-3CFB-D14B-2ED2-96F6873D9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b="1" dirty="0"/>
              <a:t>What is the primary disadvantage of using Paid Search (PPC) as a marketing channel?</a:t>
            </a:r>
          </a:p>
          <a:p>
            <a:pPr marL="514350" indent="-514350">
              <a:buAutoNum type="alphaUcPeriod"/>
            </a:pPr>
            <a:r>
              <a:rPr lang="en-SG" sz="3200" dirty="0"/>
              <a:t>Visibility Stops when the budget ends</a:t>
            </a:r>
          </a:p>
          <a:p>
            <a:pPr marL="514350" indent="-514350">
              <a:buAutoNum type="alphaUcPeriod"/>
            </a:pPr>
            <a:r>
              <a:rPr lang="en-SG" sz="3200" dirty="0"/>
              <a:t>It is difficult to target specific keywords</a:t>
            </a:r>
          </a:p>
          <a:p>
            <a:pPr marL="514350" indent="-514350">
              <a:buAutoNum type="alphaUcPeriod"/>
            </a:pPr>
            <a:r>
              <a:rPr lang="en-SG" sz="3200" dirty="0"/>
              <a:t>It takes 3-6 months to see the results</a:t>
            </a:r>
          </a:p>
          <a:p>
            <a:pPr marL="514350" indent="-514350">
              <a:buAutoNum type="alphaUcPeriod"/>
            </a:pPr>
            <a:r>
              <a:rPr lang="en-SG" sz="3200" dirty="0"/>
              <a:t>It requires technical knowledge to manage</a:t>
            </a:r>
          </a:p>
          <a:p>
            <a:pPr marL="514350" indent="-514350">
              <a:buAutoNum type="alphaUcPeriod"/>
            </a:pPr>
            <a:endParaRPr lang="en-SG" sz="3200" dirty="0"/>
          </a:p>
          <a:p>
            <a:pPr marL="514350" indent="-514350">
              <a:buAutoNum type="alphaUcPeriod"/>
            </a:pPr>
            <a:endParaRPr lang="en-SG" sz="3200" dirty="0"/>
          </a:p>
          <a:p>
            <a:pPr marL="514350" indent="-514350">
              <a:buAutoNum type="alphaUcPeriod"/>
            </a:pPr>
            <a:endParaRPr lang="en-SG" sz="3200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42908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703FB-4FB1-A00F-6E7B-3811DD6BA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74AC2-C7EA-92D6-328C-0B8D10B9D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/>
              <a:t>Question 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AA521-0E89-6A4F-D4B9-3AA8A21D3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b="1" dirty="0"/>
              <a:t>True or False, You can have unlimited Ad Accounts in Facebook Business Portfolio/Business Account</a:t>
            </a:r>
          </a:p>
          <a:p>
            <a:pPr marL="514350" indent="-514350">
              <a:buAutoNum type="alphaUcPeriod"/>
            </a:pPr>
            <a:r>
              <a:rPr lang="en-SG" sz="3200" dirty="0"/>
              <a:t>True</a:t>
            </a:r>
          </a:p>
          <a:p>
            <a:pPr marL="514350" indent="-514350">
              <a:buAutoNum type="alphaUcPeriod"/>
            </a:pPr>
            <a:r>
              <a:rPr lang="en-SG" sz="3200" dirty="0"/>
              <a:t>False</a:t>
            </a:r>
          </a:p>
          <a:p>
            <a:pPr marL="0" indent="0">
              <a:buNone/>
            </a:pPr>
            <a:endParaRPr lang="en-SG" sz="3200" dirty="0"/>
          </a:p>
          <a:p>
            <a:pPr marL="514350" indent="-514350">
              <a:buAutoNum type="alphaUcPeriod"/>
            </a:pPr>
            <a:endParaRPr lang="en-SG" sz="3200" dirty="0"/>
          </a:p>
          <a:p>
            <a:pPr marL="514350" indent="-514350">
              <a:buAutoNum type="alphaUcPeriod"/>
            </a:pPr>
            <a:endParaRPr lang="en-SG" sz="3200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76127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8B39C-D33D-5D16-4568-F1AF4C263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66AB-A136-062B-CDFF-6D26CEBB0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b="1" dirty="0"/>
              <a:t>Question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068DE-D39F-6B9E-D8C4-433D29B05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b="1" dirty="0"/>
              <a:t>True or False, you can manage your Facebook Page, Users and other assets in your Facebook Business Portfolio/Business Account.</a:t>
            </a:r>
          </a:p>
          <a:p>
            <a:pPr marL="514350" indent="-514350">
              <a:buAutoNum type="alphaUcPeriod"/>
            </a:pPr>
            <a:r>
              <a:rPr lang="en-SG" sz="3200" dirty="0"/>
              <a:t>True</a:t>
            </a:r>
          </a:p>
          <a:p>
            <a:pPr marL="514350" indent="-514350">
              <a:buAutoNum type="alphaUcPeriod"/>
            </a:pPr>
            <a:r>
              <a:rPr lang="en-SG" sz="3200" dirty="0"/>
              <a:t>False</a:t>
            </a:r>
          </a:p>
          <a:p>
            <a:pPr marL="0" indent="0">
              <a:buNone/>
            </a:pPr>
            <a:endParaRPr lang="en-SG" sz="3200" dirty="0"/>
          </a:p>
          <a:p>
            <a:pPr marL="514350" indent="-514350">
              <a:buAutoNum type="alphaUcPeriod"/>
            </a:pPr>
            <a:endParaRPr lang="en-SG" sz="3200" dirty="0"/>
          </a:p>
          <a:p>
            <a:pPr marL="514350" indent="-514350">
              <a:buAutoNum type="alphaUcPeriod"/>
            </a:pPr>
            <a:endParaRPr lang="en-SG" sz="3200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9152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33EC9-70A1-517A-5FE3-A28E1B9AA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FD1F1-F483-82AD-A86C-AC46AA2BD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97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SG" sz="5300" dirty="0"/>
              <a:t>Part II. Open-Ended Questions</a:t>
            </a:r>
            <a:br>
              <a:rPr lang="en-SG" dirty="0"/>
            </a:br>
            <a:r>
              <a:rPr lang="en-SG" sz="3600" dirty="0"/>
              <a:t>Answer the given questions briefly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13213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A4E4564-D652-A93E-7432-14D4A23FA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904" y="40730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SG" dirty="0"/>
              <a:t>Learning Unit 1 </a:t>
            </a:r>
            <a:br>
              <a:rPr lang="en-SG" dirty="0"/>
            </a:br>
            <a:r>
              <a:rPr lang="en-SG" dirty="0"/>
              <a:t>Fundamentals of Digital Marketing</a:t>
            </a:r>
            <a:br>
              <a:rPr lang="en-SG" dirty="0"/>
            </a:br>
            <a:r>
              <a:rPr lang="en-SG" dirty="0"/>
              <a:t> (50 Marks)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3AA54A3-7A82-251F-22F5-3F134A4E4AEA}"/>
              </a:ext>
            </a:extLst>
          </p:cNvPr>
          <p:cNvSpPr txBox="1">
            <a:spLocks/>
          </p:cNvSpPr>
          <p:nvPr/>
        </p:nvSpPr>
        <p:spPr>
          <a:xfrm>
            <a:off x="838200" y="162869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200" dirty="0"/>
              <a:t>Marking Rubrics: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FC88811-42F8-C3AB-88A3-A07A6A1150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574905"/>
              </p:ext>
            </p:extLst>
          </p:nvPr>
        </p:nvGraphicFramePr>
        <p:xfrm>
          <a:off x="838200" y="2703979"/>
          <a:ext cx="11002700" cy="37467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00540">
                  <a:extLst>
                    <a:ext uri="{9D8B030D-6E8A-4147-A177-3AD203B41FA5}">
                      <a16:colId xmlns:a16="http://schemas.microsoft.com/office/drawing/2014/main" val="3908363000"/>
                    </a:ext>
                  </a:extLst>
                </a:gridCol>
                <a:gridCol w="2200540">
                  <a:extLst>
                    <a:ext uri="{9D8B030D-6E8A-4147-A177-3AD203B41FA5}">
                      <a16:colId xmlns:a16="http://schemas.microsoft.com/office/drawing/2014/main" val="806618520"/>
                    </a:ext>
                  </a:extLst>
                </a:gridCol>
                <a:gridCol w="2200540">
                  <a:extLst>
                    <a:ext uri="{9D8B030D-6E8A-4147-A177-3AD203B41FA5}">
                      <a16:colId xmlns:a16="http://schemas.microsoft.com/office/drawing/2014/main" val="1405884563"/>
                    </a:ext>
                  </a:extLst>
                </a:gridCol>
                <a:gridCol w="2200540">
                  <a:extLst>
                    <a:ext uri="{9D8B030D-6E8A-4147-A177-3AD203B41FA5}">
                      <a16:colId xmlns:a16="http://schemas.microsoft.com/office/drawing/2014/main" val="328068485"/>
                    </a:ext>
                  </a:extLst>
                </a:gridCol>
                <a:gridCol w="2200540">
                  <a:extLst>
                    <a:ext uri="{9D8B030D-6E8A-4147-A177-3AD203B41FA5}">
                      <a16:colId xmlns:a16="http://schemas.microsoft.com/office/drawing/2014/main" val="1405064348"/>
                    </a:ext>
                  </a:extLst>
                </a:gridCol>
              </a:tblGrid>
              <a:tr h="3599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Criteria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Excellent (4–5 marks)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Good (3 marks)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Basic (2 marks)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Limited (0–1 mark)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22359075"/>
                  </a:ext>
                </a:extLst>
              </a:tr>
              <a:tr h="7064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Understanding of Case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Accurate and complete interpretation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Mostly accurate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Basic understanding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Misinterpreted case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06995458"/>
                  </a:ext>
                </a:extLst>
              </a:tr>
              <a:tr h="7064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Application of Concepts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Strong, relevant application to case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Some relevant application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Limited application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No clear application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52222499"/>
                  </a:ext>
                </a:extLst>
              </a:tr>
              <a:tr h="7064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Analysis &amp; Evaluation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Insightful, well-justified arguments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Some analysis present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Minimal reasoning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No critical thinking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61281499"/>
                  </a:ext>
                </a:extLst>
              </a:tr>
              <a:tr h="3599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Creativity &amp; Problem Solving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Innovative and realistic solutions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Some creativity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Limited ideas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No practical solutions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90406254"/>
                  </a:ext>
                </a:extLst>
              </a:tr>
              <a:tr h="3599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Clarity &amp; Structure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Well-organized and clear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Generally clear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Somewhat unclear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Disorganized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08563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0867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1DE81-7A4F-6FEF-3303-915549BD6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1 (5 Marks)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09AC1F-3AC0-600F-9653-C29C42F7B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1668" y="478683"/>
            <a:ext cx="653143" cy="653143"/>
          </a:xfrm>
          <a:prstGeom prst="rect">
            <a:avLst/>
          </a:prstGeom>
        </p:spPr>
      </p:pic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4F257272-146B-3F25-74C3-3C0CCDBF7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583789"/>
              </p:ext>
            </p:extLst>
          </p:nvPr>
        </p:nvGraphicFramePr>
        <p:xfrm>
          <a:off x="838200" y="1690688"/>
          <a:ext cx="10246360" cy="448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6360">
                  <a:extLst>
                    <a:ext uri="{9D8B030D-6E8A-4147-A177-3AD203B41FA5}">
                      <a16:colId xmlns:a16="http://schemas.microsoft.com/office/drawing/2014/main" val="1142797428"/>
                    </a:ext>
                  </a:extLst>
                </a:gridCol>
              </a:tblGrid>
              <a:tr h="1053669">
                <a:tc>
                  <a:txBody>
                    <a:bodyPr/>
                    <a:lstStyle/>
                    <a:p>
                      <a:r>
                        <a:rPr lang="en-SG" sz="2800" dirty="0"/>
                        <a:t>Write an example of a SMART objective for a Digital Marketing Campaign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49498"/>
                  </a:ext>
                </a:extLst>
              </a:tr>
              <a:tr h="3432923">
                <a:tc>
                  <a:txBody>
                    <a:bodyPr/>
                    <a:lstStyle/>
                    <a:p>
                      <a:r>
                        <a:rPr lang="en-SG" sz="2800" dirty="0"/>
                        <a:t>Answer:</a:t>
                      </a:r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05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2417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02477-1701-50A0-E680-75B855C93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78F58-DF53-3CA0-F427-DD9D7971F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2 (5 Marks)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2C9E29-B865-D094-A169-0BE03BDB2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5508" y="608443"/>
            <a:ext cx="653143" cy="653143"/>
          </a:xfrm>
          <a:prstGeom prst="rect">
            <a:avLst/>
          </a:prstGeom>
        </p:spPr>
      </p:pic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F5B233BF-3233-972D-6C33-42B136EF31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432372"/>
              </p:ext>
            </p:extLst>
          </p:nvPr>
        </p:nvGraphicFramePr>
        <p:xfrm>
          <a:off x="838200" y="1690688"/>
          <a:ext cx="10246360" cy="4558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6360">
                  <a:extLst>
                    <a:ext uri="{9D8B030D-6E8A-4147-A177-3AD203B41FA5}">
                      <a16:colId xmlns:a16="http://schemas.microsoft.com/office/drawing/2014/main" val="1142797428"/>
                    </a:ext>
                  </a:extLst>
                </a:gridCol>
              </a:tblGrid>
              <a:tr h="1053669">
                <a:tc>
                  <a:txBody>
                    <a:bodyPr/>
                    <a:lstStyle/>
                    <a:p>
                      <a:r>
                        <a:rPr lang="en-SG" sz="2800" dirty="0"/>
                        <a:t>Write two Tactics for the given campaign objective – “ To get 1000 quality leads every month for the next three months”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49498"/>
                  </a:ext>
                </a:extLst>
              </a:tr>
              <a:tr h="3432923">
                <a:tc>
                  <a:txBody>
                    <a:bodyPr/>
                    <a:lstStyle/>
                    <a:p>
                      <a:r>
                        <a:rPr lang="en-SG" sz="2800" dirty="0"/>
                        <a:t>Answer:</a:t>
                      </a:r>
                    </a:p>
                    <a:p>
                      <a:r>
                        <a:rPr lang="en-SG" sz="2800" dirty="0"/>
                        <a:t>1. </a:t>
                      </a:r>
                    </a:p>
                    <a:p>
                      <a:r>
                        <a:rPr lang="en-SG" sz="2800" dirty="0"/>
                        <a:t>2. </a:t>
                      </a:r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05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3373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92695-FD98-5E09-1667-854E62389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5DC0B-6536-7930-7B81-14C056FA2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3 (5 Marks)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F507ED-4869-53BB-72AD-2BDF1AF95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5028" y="529483"/>
            <a:ext cx="653143" cy="653143"/>
          </a:xfrm>
          <a:prstGeom prst="rect">
            <a:avLst/>
          </a:prstGeom>
        </p:spPr>
      </p:pic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786CC15A-A712-4339-B4D6-18C4E33FD0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893239"/>
              </p:ext>
            </p:extLst>
          </p:nvPr>
        </p:nvGraphicFramePr>
        <p:xfrm>
          <a:off x="838200" y="1690688"/>
          <a:ext cx="10246360" cy="448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6360">
                  <a:extLst>
                    <a:ext uri="{9D8B030D-6E8A-4147-A177-3AD203B41FA5}">
                      <a16:colId xmlns:a16="http://schemas.microsoft.com/office/drawing/2014/main" val="1142797428"/>
                    </a:ext>
                  </a:extLst>
                </a:gridCol>
              </a:tblGrid>
              <a:tr h="1053669">
                <a:tc>
                  <a:txBody>
                    <a:bodyPr/>
                    <a:lstStyle/>
                    <a:p>
                      <a:r>
                        <a:rPr lang="en-SG" sz="2800" dirty="0"/>
                        <a:t>In your own words, differentiate digital marketing from traditional marketing.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49498"/>
                  </a:ext>
                </a:extLst>
              </a:tr>
              <a:tr h="3432923">
                <a:tc>
                  <a:txBody>
                    <a:bodyPr/>
                    <a:lstStyle/>
                    <a:p>
                      <a:r>
                        <a:rPr lang="en-SG" sz="2800" dirty="0"/>
                        <a:t>Answer:</a:t>
                      </a:r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05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502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169D3-3FDA-610A-9A25-C0CCD17EB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27B93-B261-A928-AC8C-2CD427751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4 (5 Marks)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142F8F-ACAA-7685-645D-38C52F8D5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0948" y="570123"/>
            <a:ext cx="653143" cy="653143"/>
          </a:xfrm>
          <a:prstGeom prst="rect">
            <a:avLst/>
          </a:prstGeom>
        </p:spPr>
      </p:pic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A9ECBAB6-E8BB-DBB4-A8DC-E84285FFF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799119"/>
              </p:ext>
            </p:extLst>
          </p:nvPr>
        </p:nvGraphicFramePr>
        <p:xfrm>
          <a:off x="972820" y="1589088"/>
          <a:ext cx="10246360" cy="48045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6360">
                  <a:extLst>
                    <a:ext uri="{9D8B030D-6E8A-4147-A177-3AD203B41FA5}">
                      <a16:colId xmlns:a16="http://schemas.microsoft.com/office/drawing/2014/main" val="1142797428"/>
                    </a:ext>
                  </a:extLst>
                </a:gridCol>
              </a:tblGrid>
              <a:tr h="1053669">
                <a:tc>
                  <a:txBody>
                    <a:bodyPr/>
                    <a:lstStyle/>
                    <a:p>
                      <a:r>
                        <a:rPr lang="en-SG" sz="2800" dirty="0"/>
                        <a:t>Given the tactic “Search Engine Marketing (SEM)/Pay-Per-Click (PPC)” provide 1 Key Performance Indicator (KPI) and the corresponding tactic.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49498"/>
                  </a:ext>
                </a:extLst>
              </a:tr>
              <a:tr h="3432923">
                <a:tc>
                  <a:txBody>
                    <a:bodyPr/>
                    <a:lstStyle/>
                    <a:p>
                      <a:r>
                        <a:rPr lang="en-SG" sz="2800" dirty="0"/>
                        <a:t>Answer:</a:t>
                      </a:r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05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339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71167-F7F4-0A94-5DC4-0FA3D9D74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3E16B-71B2-3D06-B736-C6151E494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5 (5 Marks)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266224-3CCE-1B3D-4924-7A278BAAA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9508" y="529483"/>
            <a:ext cx="653143" cy="653143"/>
          </a:xfrm>
          <a:prstGeom prst="rect">
            <a:avLst/>
          </a:prstGeom>
        </p:spPr>
      </p:pic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7F31E078-AB56-0F78-D8E1-6E0E30EDD9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417296"/>
              </p:ext>
            </p:extLst>
          </p:nvPr>
        </p:nvGraphicFramePr>
        <p:xfrm>
          <a:off x="972820" y="1589088"/>
          <a:ext cx="10246360" cy="448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6360">
                  <a:extLst>
                    <a:ext uri="{9D8B030D-6E8A-4147-A177-3AD203B41FA5}">
                      <a16:colId xmlns:a16="http://schemas.microsoft.com/office/drawing/2014/main" val="1142797428"/>
                    </a:ext>
                  </a:extLst>
                </a:gridCol>
              </a:tblGrid>
              <a:tr h="1053669">
                <a:tc>
                  <a:txBody>
                    <a:bodyPr/>
                    <a:lstStyle/>
                    <a:p>
                      <a:r>
                        <a:rPr lang="en-SG" sz="2800" dirty="0"/>
                        <a:t>Provide five (5) examples of social media platforms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49498"/>
                  </a:ext>
                </a:extLst>
              </a:tr>
              <a:tr h="3432923">
                <a:tc>
                  <a:txBody>
                    <a:bodyPr/>
                    <a:lstStyle/>
                    <a:p>
                      <a:r>
                        <a:rPr lang="en-SG" sz="2800" dirty="0"/>
                        <a:t>Answer:</a:t>
                      </a:r>
                    </a:p>
                    <a:p>
                      <a:r>
                        <a:rPr lang="en-SG" sz="2800" dirty="0"/>
                        <a:t>1. </a:t>
                      </a:r>
                    </a:p>
                    <a:p>
                      <a:r>
                        <a:rPr lang="en-SG" sz="2800" dirty="0"/>
                        <a:t>2. </a:t>
                      </a:r>
                    </a:p>
                    <a:p>
                      <a:r>
                        <a:rPr lang="en-SG" sz="2800" dirty="0"/>
                        <a:t>3.</a:t>
                      </a:r>
                    </a:p>
                    <a:p>
                      <a:r>
                        <a:rPr lang="en-SG" sz="2800" dirty="0"/>
                        <a:t>4.</a:t>
                      </a:r>
                    </a:p>
                    <a:p>
                      <a:r>
                        <a:rPr lang="en-SG" sz="2800" dirty="0"/>
                        <a:t>5.</a:t>
                      </a:r>
                    </a:p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05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64246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2B35E-3C8C-892C-FBA8-A9950BB25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D3BF7-1C4B-AA84-146C-320998123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6 (5 Marks)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E56C56-AB01-CF59-04FB-FE2DA7E63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0788" y="559963"/>
            <a:ext cx="653143" cy="653143"/>
          </a:xfrm>
          <a:prstGeom prst="rect">
            <a:avLst/>
          </a:prstGeom>
        </p:spPr>
      </p:pic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AAF6DD67-A183-E2F9-866C-D7C9B73990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630034"/>
              </p:ext>
            </p:extLst>
          </p:nvPr>
        </p:nvGraphicFramePr>
        <p:xfrm>
          <a:off x="972820" y="1589088"/>
          <a:ext cx="10246360" cy="448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6360">
                  <a:extLst>
                    <a:ext uri="{9D8B030D-6E8A-4147-A177-3AD203B41FA5}">
                      <a16:colId xmlns:a16="http://schemas.microsoft.com/office/drawing/2014/main" val="1142797428"/>
                    </a:ext>
                  </a:extLst>
                </a:gridCol>
              </a:tblGrid>
              <a:tr h="1053669">
                <a:tc>
                  <a:txBody>
                    <a:bodyPr/>
                    <a:lstStyle/>
                    <a:p>
                      <a:r>
                        <a:rPr lang="en-SG" sz="2800" dirty="0"/>
                        <a:t>Provide one advantage and disadvantage of Email Marketing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49498"/>
                  </a:ext>
                </a:extLst>
              </a:tr>
              <a:tr h="3432923">
                <a:tc>
                  <a:txBody>
                    <a:bodyPr/>
                    <a:lstStyle/>
                    <a:p>
                      <a:r>
                        <a:rPr lang="en-SG" sz="2800" dirty="0"/>
                        <a:t>(Advantage)</a:t>
                      </a:r>
                    </a:p>
                    <a:p>
                      <a:r>
                        <a:rPr lang="en-SG" sz="2800" dirty="0"/>
                        <a:t>Answer:</a:t>
                      </a:r>
                    </a:p>
                    <a:p>
                      <a:endParaRPr lang="en-SG" sz="2800" dirty="0"/>
                    </a:p>
                    <a:p>
                      <a:r>
                        <a:rPr lang="en-SG" sz="2800" dirty="0"/>
                        <a:t>(Disadvantage)</a:t>
                      </a:r>
                    </a:p>
                    <a:p>
                      <a:r>
                        <a:rPr lang="en-SG" sz="2800" dirty="0"/>
                        <a:t>Answer: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05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06792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263C1-C378-2C5C-AFCE-1D8750B02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07703-C600-11ED-2364-C15F5058D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7 (5 Marks)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D44028-AC5E-6695-F49C-97527F59F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0788" y="559963"/>
            <a:ext cx="653143" cy="653143"/>
          </a:xfrm>
          <a:prstGeom prst="rect">
            <a:avLst/>
          </a:prstGeom>
        </p:spPr>
      </p:pic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11450E30-DFCE-826B-2433-A380F38A3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083885"/>
              </p:ext>
            </p:extLst>
          </p:nvPr>
        </p:nvGraphicFramePr>
        <p:xfrm>
          <a:off x="972820" y="1589088"/>
          <a:ext cx="10246360" cy="448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6360">
                  <a:extLst>
                    <a:ext uri="{9D8B030D-6E8A-4147-A177-3AD203B41FA5}">
                      <a16:colId xmlns:a16="http://schemas.microsoft.com/office/drawing/2014/main" val="1142797428"/>
                    </a:ext>
                  </a:extLst>
                </a:gridCol>
              </a:tblGrid>
              <a:tr h="1053669">
                <a:tc>
                  <a:txBody>
                    <a:bodyPr/>
                    <a:lstStyle/>
                    <a:p>
                      <a:r>
                        <a:rPr lang="en-SG" sz="2800" dirty="0"/>
                        <a:t>Discuss the difference between Search Engine Optimization (SEO) and Search Engine Marketing (SEM)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49498"/>
                  </a:ext>
                </a:extLst>
              </a:tr>
              <a:tr h="3432923">
                <a:tc>
                  <a:txBody>
                    <a:bodyPr/>
                    <a:lstStyle/>
                    <a:p>
                      <a:r>
                        <a:rPr lang="en-SG" sz="2800" dirty="0"/>
                        <a:t>Answer: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05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6320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52F50-6753-700F-E61C-757974E36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F1561-707B-FA1E-F8BD-49B268CFC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8 (5 Marks)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2545EB-98AB-A099-0D88-33E77445F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0788" y="559963"/>
            <a:ext cx="653143" cy="653143"/>
          </a:xfrm>
          <a:prstGeom prst="rect">
            <a:avLst/>
          </a:prstGeom>
        </p:spPr>
      </p:pic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758509AA-2EBA-3FE3-D905-674E8781D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024067"/>
              </p:ext>
            </p:extLst>
          </p:nvPr>
        </p:nvGraphicFramePr>
        <p:xfrm>
          <a:off x="972820" y="1589088"/>
          <a:ext cx="10246360" cy="448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6360">
                  <a:extLst>
                    <a:ext uri="{9D8B030D-6E8A-4147-A177-3AD203B41FA5}">
                      <a16:colId xmlns:a16="http://schemas.microsoft.com/office/drawing/2014/main" val="1142797428"/>
                    </a:ext>
                  </a:extLst>
                </a:gridCol>
              </a:tblGrid>
              <a:tr h="1053669">
                <a:tc>
                  <a:txBody>
                    <a:bodyPr/>
                    <a:lstStyle/>
                    <a:p>
                      <a:r>
                        <a:rPr lang="en-SG" sz="2800" dirty="0"/>
                        <a:t>What does SMART stands for?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49498"/>
                  </a:ext>
                </a:extLst>
              </a:tr>
              <a:tr h="3432923">
                <a:tc>
                  <a:txBody>
                    <a:bodyPr/>
                    <a:lstStyle/>
                    <a:p>
                      <a:r>
                        <a:rPr lang="en-SG" sz="2800" dirty="0"/>
                        <a:t>Answer:</a:t>
                      </a:r>
                    </a:p>
                    <a:p>
                      <a:r>
                        <a:rPr lang="en-SG" sz="2800" dirty="0"/>
                        <a:t>S – </a:t>
                      </a:r>
                    </a:p>
                    <a:p>
                      <a:r>
                        <a:rPr lang="en-SG" sz="2800" dirty="0"/>
                        <a:t>M – </a:t>
                      </a:r>
                    </a:p>
                    <a:p>
                      <a:r>
                        <a:rPr lang="en-SG" sz="2800" dirty="0"/>
                        <a:t>A – </a:t>
                      </a:r>
                    </a:p>
                    <a:p>
                      <a:r>
                        <a:rPr lang="en-SG" sz="2800" dirty="0"/>
                        <a:t>R – </a:t>
                      </a:r>
                    </a:p>
                    <a:p>
                      <a:r>
                        <a:rPr lang="en-SG" sz="2800" dirty="0"/>
                        <a:t>T – </a:t>
                      </a:r>
                    </a:p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05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85461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5BB03-927A-EB93-B478-E38AA5554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0556B-85DE-B2B6-B67D-F84A81620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9 (5 Marks)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9EB434-6A5F-5FAD-B1F9-5B19EC2DA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0788" y="559963"/>
            <a:ext cx="653143" cy="653143"/>
          </a:xfrm>
          <a:prstGeom prst="rect">
            <a:avLst/>
          </a:prstGeom>
        </p:spPr>
      </p:pic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6E2319E6-767C-85E0-B54B-2D3D195E9C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007324"/>
              </p:ext>
            </p:extLst>
          </p:nvPr>
        </p:nvGraphicFramePr>
        <p:xfrm>
          <a:off x="972820" y="1589088"/>
          <a:ext cx="10246360" cy="448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6360">
                  <a:extLst>
                    <a:ext uri="{9D8B030D-6E8A-4147-A177-3AD203B41FA5}">
                      <a16:colId xmlns:a16="http://schemas.microsoft.com/office/drawing/2014/main" val="1142797428"/>
                    </a:ext>
                  </a:extLst>
                </a:gridCol>
              </a:tblGrid>
              <a:tr h="1053669">
                <a:tc>
                  <a:txBody>
                    <a:bodyPr/>
                    <a:lstStyle/>
                    <a:p>
                      <a:r>
                        <a:rPr lang="en-SG" sz="2800" dirty="0"/>
                        <a:t>Identify the potential audience settings for a printing company that wants to advertise through its Facebook Page.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49498"/>
                  </a:ext>
                </a:extLst>
              </a:tr>
              <a:tr h="3432923">
                <a:tc>
                  <a:txBody>
                    <a:bodyPr/>
                    <a:lstStyle/>
                    <a:p>
                      <a:r>
                        <a:rPr lang="en-SG" sz="2800" dirty="0"/>
                        <a:t>Answer:</a:t>
                      </a:r>
                    </a:p>
                    <a:p>
                      <a:r>
                        <a:rPr lang="en-SG" sz="2800" dirty="0"/>
                        <a:t>Demographics – </a:t>
                      </a:r>
                    </a:p>
                    <a:p>
                      <a:r>
                        <a:rPr lang="en-SG" sz="2800" dirty="0"/>
                        <a:t>Geographics – </a:t>
                      </a:r>
                    </a:p>
                    <a:p>
                      <a:r>
                        <a:rPr lang="en-SG" sz="2800" dirty="0"/>
                        <a:t>Psychographics – </a:t>
                      </a:r>
                    </a:p>
                    <a:p>
                      <a:endParaRPr lang="en-SG" sz="2800" dirty="0"/>
                    </a:p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05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3562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E5B4A-D7B0-FD15-0D42-3070863C3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734DD-D95A-68AF-A44B-81DE93846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Question 10 (5 Marks)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27894D-8ED2-FCD1-BE0D-CC4442617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0788" y="559963"/>
            <a:ext cx="653143" cy="653143"/>
          </a:xfrm>
          <a:prstGeom prst="rect">
            <a:avLst/>
          </a:prstGeom>
        </p:spPr>
      </p:pic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8A16F300-997D-E5E4-5770-C709B56B83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898044"/>
              </p:ext>
            </p:extLst>
          </p:nvPr>
        </p:nvGraphicFramePr>
        <p:xfrm>
          <a:off x="6675120" y="1396808"/>
          <a:ext cx="5120640" cy="50281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>
                  <a:extLst>
                    <a:ext uri="{9D8B030D-6E8A-4147-A177-3AD203B41FA5}">
                      <a16:colId xmlns:a16="http://schemas.microsoft.com/office/drawing/2014/main" val="1142797428"/>
                    </a:ext>
                  </a:extLst>
                </a:gridCol>
              </a:tblGrid>
              <a:tr h="708095">
                <a:tc>
                  <a:txBody>
                    <a:bodyPr/>
                    <a:lstStyle/>
                    <a:p>
                      <a:r>
                        <a:rPr lang="en-SG" sz="2800" dirty="0"/>
                        <a:t>What do you understand in the given diagram? Explain.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49498"/>
                  </a:ext>
                </a:extLst>
              </a:tr>
              <a:tr h="4083297">
                <a:tc>
                  <a:txBody>
                    <a:bodyPr/>
                    <a:lstStyle/>
                    <a:p>
                      <a:r>
                        <a:rPr lang="en-SG" sz="2800" dirty="0"/>
                        <a:t>Answer:</a:t>
                      </a:r>
                    </a:p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05293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3318A68-3B90-F0AF-5940-B612E3F56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798" y="1547550"/>
            <a:ext cx="5193202" cy="432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690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2E708-A7AD-E3BE-245D-13C1013A6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449A0-C68B-7CEA-6624-0465EE987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97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SG" sz="5300" dirty="0"/>
              <a:t>Part III. Hands-On/Practical Activity</a:t>
            </a:r>
            <a:br>
              <a:rPr lang="en-SG" dirty="0"/>
            </a:br>
            <a:r>
              <a:rPr lang="en-SG" dirty="0"/>
              <a:t>Take a screenshot of the Interface as evidence</a:t>
            </a:r>
          </a:p>
        </p:txBody>
      </p:sp>
    </p:spTree>
    <p:extLst>
      <p:ext uri="{BB962C8B-B14F-4D97-AF65-F5344CB8AC3E}">
        <p14:creationId xmlns:p14="http://schemas.microsoft.com/office/powerpoint/2010/main" val="17564669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4CC4F-86D1-71D3-CF1E-468C3A99F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1FA5C77-4E10-FB5D-CA08-A192D3446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904" y="40730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SG" dirty="0"/>
              <a:t>Learning Unit 1 </a:t>
            </a:r>
            <a:br>
              <a:rPr lang="en-SG" dirty="0"/>
            </a:br>
            <a:r>
              <a:rPr lang="en-SG" dirty="0"/>
              <a:t>Fundamentals of Digital Marketing</a:t>
            </a:r>
            <a:br>
              <a:rPr lang="en-SG" dirty="0"/>
            </a:br>
            <a:r>
              <a:rPr lang="en-SG" dirty="0"/>
              <a:t> (30 Marks)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FD61250-69AF-24C7-81C4-5D224B9AB54C}"/>
              </a:ext>
            </a:extLst>
          </p:cNvPr>
          <p:cNvSpPr txBox="1">
            <a:spLocks/>
          </p:cNvSpPr>
          <p:nvPr/>
        </p:nvSpPr>
        <p:spPr>
          <a:xfrm>
            <a:off x="838200" y="162869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200" dirty="0"/>
              <a:t>Marking Rubrics: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9ADD3B-C44B-9EDB-B111-F1EC12581F9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703979"/>
          <a:ext cx="11002700" cy="37467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00540">
                  <a:extLst>
                    <a:ext uri="{9D8B030D-6E8A-4147-A177-3AD203B41FA5}">
                      <a16:colId xmlns:a16="http://schemas.microsoft.com/office/drawing/2014/main" val="3908363000"/>
                    </a:ext>
                  </a:extLst>
                </a:gridCol>
                <a:gridCol w="2200540">
                  <a:extLst>
                    <a:ext uri="{9D8B030D-6E8A-4147-A177-3AD203B41FA5}">
                      <a16:colId xmlns:a16="http://schemas.microsoft.com/office/drawing/2014/main" val="806618520"/>
                    </a:ext>
                  </a:extLst>
                </a:gridCol>
                <a:gridCol w="2200540">
                  <a:extLst>
                    <a:ext uri="{9D8B030D-6E8A-4147-A177-3AD203B41FA5}">
                      <a16:colId xmlns:a16="http://schemas.microsoft.com/office/drawing/2014/main" val="1405884563"/>
                    </a:ext>
                  </a:extLst>
                </a:gridCol>
                <a:gridCol w="2200540">
                  <a:extLst>
                    <a:ext uri="{9D8B030D-6E8A-4147-A177-3AD203B41FA5}">
                      <a16:colId xmlns:a16="http://schemas.microsoft.com/office/drawing/2014/main" val="328068485"/>
                    </a:ext>
                  </a:extLst>
                </a:gridCol>
                <a:gridCol w="2200540">
                  <a:extLst>
                    <a:ext uri="{9D8B030D-6E8A-4147-A177-3AD203B41FA5}">
                      <a16:colId xmlns:a16="http://schemas.microsoft.com/office/drawing/2014/main" val="1405064348"/>
                    </a:ext>
                  </a:extLst>
                </a:gridCol>
              </a:tblGrid>
              <a:tr h="3599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Criteria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Excellent (4–5 marks)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Good (3 marks)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Basic (2 marks)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Limited (0–1 mark)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22359075"/>
                  </a:ext>
                </a:extLst>
              </a:tr>
              <a:tr h="7064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Understanding of Case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Accurate and complete interpretation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Mostly accurate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Basic understanding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Misinterpreted case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06995458"/>
                  </a:ext>
                </a:extLst>
              </a:tr>
              <a:tr h="7064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Application of Concepts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Strong, relevant application to case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Some relevant application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Limited application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No clear application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52222499"/>
                  </a:ext>
                </a:extLst>
              </a:tr>
              <a:tr h="7064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Analysis &amp; Evaluation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Insightful, well-justified arguments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Some analysis present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Minimal reasoning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No critical thinking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61281499"/>
                  </a:ext>
                </a:extLst>
              </a:tr>
              <a:tr h="3599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Creativity &amp; Problem Solving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Innovative and realistic solutions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Some creativity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Limited ideas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No practical solutions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90406254"/>
                  </a:ext>
                </a:extLst>
              </a:tr>
              <a:tr h="3599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Clarity &amp; Structure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Well-organized and clear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>
                          <a:effectLst/>
                        </a:rPr>
                        <a:t>Generally clear</a:t>
                      </a:r>
                      <a:endParaRPr lang="en-SG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Somewhat unclear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800" kern="100" dirty="0">
                          <a:effectLst/>
                        </a:rPr>
                        <a:t>Disorganized</a:t>
                      </a:r>
                      <a:endParaRPr lang="en-SG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08563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86779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15B57-1F6E-E7C0-4904-1510C6BD8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079B3-E4C5-D11D-111C-CF2BBE5D1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/>
              <a:t>Screenshot and paste here the Facebook Page you had set up for your business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B51202-B6DA-C775-6D2C-D4B82D79B6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41" t="21126" r="5209" b="8571"/>
          <a:stretch/>
        </p:blipFill>
        <p:spPr>
          <a:xfrm>
            <a:off x="4816603" y="770953"/>
            <a:ext cx="772573" cy="51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2572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8FE57-926A-A8FD-7C57-5C382F76E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8E2A5-5AE8-1086-9220-D816E7468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Question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11A83-D1C9-771D-3829-45ABFABDC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/>
              <a:t>In your Meta Business Suite account, create a new Business Portfolio Account. Screenshot your Business Portfolio Account name and paste here.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C970B9-7402-FBDC-7E18-1CCDD99EA1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41" t="21126" r="5209" b="8571"/>
          <a:stretch/>
        </p:blipFill>
        <p:spPr>
          <a:xfrm>
            <a:off x="4816603" y="770953"/>
            <a:ext cx="772573" cy="51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8694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032D6-C27C-5C2C-DA0B-630CB9124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F5A70-E4C0-14DA-CC71-7434D2EA9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Question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23E17-4C14-0BA0-53BA-4432487CE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/>
              <a:t>Screenshot the section of your Facebook account where you can switch from your personal profile to your Facebook Page. Paste the screenshot here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FD91C-487A-0B09-B95A-5097B1FEDE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41" t="21126" r="5209" b="8571"/>
          <a:stretch/>
        </p:blipFill>
        <p:spPr>
          <a:xfrm>
            <a:off x="4816603" y="770953"/>
            <a:ext cx="772573" cy="51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0543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05E49-4857-FD8E-B38A-D036F9783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A5D37-503C-8ABC-5064-3B84AE6A9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Question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33D68-FEF7-3146-7901-2F6F54A9B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04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SG" dirty="0"/>
              <a:t>In your Facebook Page, create a post with text and images regarding the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240AD8-4E71-A9D4-6186-829ED6B246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41" t="21126" r="5209" b="8571"/>
          <a:stretch/>
        </p:blipFill>
        <p:spPr>
          <a:xfrm>
            <a:off x="4816603" y="770953"/>
            <a:ext cx="772573" cy="51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30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M Template.potx" id="{EE2E57E3-6100-46CB-8CA4-89786D31FC37}" vid="{8440CCFB-D5BC-4FBA-BEDA-04DEB9D061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Genetic PowerPoint Template</Template>
  <TotalTime>4065</TotalTime>
  <Words>1076</Words>
  <Application>Microsoft Office PowerPoint</Application>
  <PresentationFormat>Widescreen</PresentationFormat>
  <Paragraphs>225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Arial</vt:lpstr>
      <vt:lpstr>Calibri</vt:lpstr>
      <vt:lpstr>Calibri Light</vt:lpstr>
      <vt:lpstr>Office Theme</vt:lpstr>
      <vt:lpstr>DM1005 – Digital Marketing Essentials</vt:lpstr>
      <vt:lpstr>Important : Read the Instructions Carefully </vt:lpstr>
      <vt:lpstr>Part I. Multiple Choice Questions (MCQ)  Underline the letter of the correct answer  2 Marks each Question</vt:lpstr>
      <vt:lpstr>Question 1 </vt:lpstr>
      <vt:lpstr>Question 2</vt:lpstr>
      <vt:lpstr>Question 3</vt:lpstr>
      <vt:lpstr>Question 4</vt:lpstr>
      <vt:lpstr>Question 5</vt:lpstr>
      <vt:lpstr>Question 6</vt:lpstr>
      <vt:lpstr>Question 7</vt:lpstr>
      <vt:lpstr>Question 8</vt:lpstr>
      <vt:lpstr>Question 9</vt:lpstr>
      <vt:lpstr>Question 10</vt:lpstr>
      <vt:lpstr>Part II. Open-Ended Questions Answer the given questions briefly</vt:lpstr>
      <vt:lpstr>Learning Unit 1  Fundamentals of Digital Marketing  (50 Marks)</vt:lpstr>
      <vt:lpstr>Question 1 (5 Marks)</vt:lpstr>
      <vt:lpstr>Question 2 (5 Marks)</vt:lpstr>
      <vt:lpstr>Question 3 (5 Marks)</vt:lpstr>
      <vt:lpstr>Question 4 (5 Marks)</vt:lpstr>
      <vt:lpstr>Question 5 (5 Marks)</vt:lpstr>
      <vt:lpstr>Question 6 (5 Marks)</vt:lpstr>
      <vt:lpstr>Question 7 (5 Marks)</vt:lpstr>
      <vt:lpstr>Question 8 (5 Marks)</vt:lpstr>
      <vt:lpstr>Question 9 (5 Marks)</vt:lpstr>
      <vt:lpstr>Question 10 (5 Marks)</vt:lpstr>
      <vt:lpstr>Part III. Hands-On/Practical Activity Take a screenshot of the Interface as evidence</vt:lpstr>
      <vt:lpstr>Learning Unit 1  Fundamentals of Digital Marketing  (30 Marks)</vt:lpstr>
      <vt:lpstr>Question 1</vt:lpstr>
      <vt:lpstr>Question 2</vt:lpstr>
      <vt:lpstr>Question 3</vt:lpstr>
      <vt:lpstr>Question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and Marketing</dc:title>
  <dc:creator>Mikey</dc:creator>
  <cp:lastModifiedBy>Marie Chris Soque</cp:lastModifiedBy>
  <cp:revision>488</cp:revision>
  <dcterms:created xsi:type="dcterms:W3CDTF">2020-05-13T02:52:06Z</dcterms:created>
  <dcterms:modified xsi:type="dcterms:W3CDTF">2026-06-11T11:16:43Z</dcterms:modified>
</cp:coreProperties>
</file>